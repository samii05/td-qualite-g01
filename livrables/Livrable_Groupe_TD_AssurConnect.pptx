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C29220-F6F8-4D02-9CC4-2003451A8B0F}" v="318" dt="2026-10-21T18:22:06.1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2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 Ramzi Rezig" userId="572d1711-ff67-49fd-9a5d-76c488e55421" providerId="ADAL" clId="{F0B34570-08E3-456C-A539-DC5BE340AC6A}"/>
    <pc:docChg chg="undo custSel modSld">
      <pc:chgData name="Sami Ramzi Rezig" userId="572d1711-ff67-49fd-9a5d-76c488e55421" providerId="ADAL" clId="{F0B34570-08E3-456C-A539-DC5BE340AC6A}" dt="2026-10-21T18:24:38.223" v="1671" actId="1076"/>
      <pc:docMkLst>
        <pc:docMk/>
      </pc:docMkLst>
      <pc:sldChg chg="modSp mod">
        <pc:chgData name="Sami Ramzi Rezig" userId="572d1711-ff67-49fd-9a5d-76c488e55421" providerId="ADAL" clId="{F0B34570-08E3-456C-A539-DC5BE340AC6A}" dt="2026-10-14T15:00:37.216" v="315" actId="20577"/>
        <pc:sldMkLst>
          <pc:docMk/>
          <pc:sldMk cId="0" sldId="264"/>
        </pc:sldMkLst>
        <pc:spChg chg="mod">
          <ac:chgData name="Sami Ramzi Rezig" userId="572d1711-ff67-49fd-9a5d-76c488e55421" providerId="ADAL" clId="{F0B34570-08E3-456C-A539-DC5BE340AC6A}" dt="2026-10-14T15:00:37.216" v="315" actId="20577"/>
          <ac:spMkLst>
            <pc:docMk/>
            <pc:sldMk cId="0" sldId="264"/>
            <ac:spMk id="4" creationId="{00000000-0000-0000-0000-000000000000}"/>
          </ac:spMkLst>
        </pc:spChg>
      </pc:sldChg>
      <pc:sldChg chg="modSp mod">
        <pc:chgData name="Sami Ramzi Rezig" userId="572d1711-ff67-49fd-9a5d-76c488e55421" providerId="ADAL" clId="{F0B34570-08E3-456C-A539-DC5BE340AC6A}" dt="2026-10-14T14:53:20.494" v="261" actId="20577"/>
        <pc:sldMkLst>
          <pc:docMk/>
          <pc:sldMk cId="0" sldId="267"/>
        </pc:sldMkLst>
        <pc:graphicFrameChg chg="modGraphic">
          <ac:chgData name="Sami Ramzi Rezig" userId="572d1711-ff67-49fd-9a5d-76c488e55421" providerId="ADAL" clId="{F0B34570-08E3-456C-A539-DC5BE340AC6A}" dt="2026-10-14T14:53:20.494" v="261" actId="20577"/>
          <ac:graphicFrameMkLst>
            <pc:docMk/>
            <pc:sldMk cId="0" sldId="267"/>
            <ac:graphicFrameMk id="32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10:51.824" v="720" actId="20577"/>
        <pc:sldMkLst>
          <pc:docMk/>
          <pc:sldMk cId="0" sldId="270"/>
        </pc:sldMkLst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7:54:35.895" v="533" actId="1076"/>
          <ac:spMkLst>
            <pc:docMk/>
            <pc:sldMk cId="0" sldId="270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10:51.824" v="720" actId="20577"/>
          <ac:spMkLst>
            <pc:docMk/>
            <pc:sldMk cId="0" sldId="270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7:54:59.622" v="534" actId="1076"/>
          <ac:graphicFrameMkLst>
            <pc:docMk/>
            <pc:sldMk cId="0" sldId="270"/>
            <ac:graphicFrameMk id="33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7:54:35.895" v="533" actId="1076"/>
          <ac:picMkLst>
            <pc:docMk/>
            <pc:sldMk cId="0" sldId="270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15T19:13:08.192" v="626" actId="20577"/>
        <pc:sldMkLst>
          <pc:docMk/>
          <pc:sldMk cId="0" sldId="271"/>
        </pc:sldMkLst>
        <pc:spChg chg="mod">
          <ac:chgData name="Sami Ramzi Rezig" userId="572d1711-ff67-49fd-9a5d-76c488e55421" providerId="ADAL" clId="{F0B34570-08E3-456C-A539-DC5BE340AC6A}" dt="2026-10-15T19:13:08.192" v="626" actId="20577"/>
          <ac:spMkLst>
            <pc:docMk/>
            <pc:sldMk cId="0" sldId="271"/>
            <ac:spMk id="34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09:35:54.172" v="436" actId="20577"/>
          <ac:graphicFrameMkLst>
            <pc:docMk/>
            <pc:sldMk cId="0" sldId="271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5T19:13:14.768" v="627" actId="20577"/>
        <pc:sldMkLst>
          <pc:docMk/>
          <pc:sldMk cId="0" sldId="272"/>
        </pc:sldMkLst>
        <pc:spChg chg="mod">
          <ac:chgData name="Sami Ramzi Rezig" userId="572d1711-ff67-49fd-9a5d-76c488e55421" providerId="ADAL" clId="{F0B34570-08E3-456C-A539-DC5BE340AC6A}" dt="2026-10-15T10:04:31.124" v="514" actId="1076"/>
          <ac:spMkLst>
            <pc:docMk/>
            <pc:sldMk cId="0" sldId="272"/>
            <ac:spMk id="34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0:06:39.986" v="525" actId="113"/>
          <ac:spMkLst>
            <pc:docMk/>
            <pc:sldMk cId="0" sldId="272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3:14.768" v="627" actId="20577"/>
          <ac:graphicFrameMkLst>
            <pc:docMk/>
            <pc:sldMk cId="0" sldId="272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16T09:09:48.073" v="719" actId="20577"/>
        <pc:sldMkLst>
          <pc:docMk/>
          <pc:sldMk cId="0" sldId="273"/>
        </pc:sldMkLst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8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29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1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5T19:10:26.569" v="587" actId="1076"/>
          <ac:spMkLst>
            <pc:docMk/>
            <pc:sldMk cId="0" sldId="273"/>
            <ac:spMk id="32" creationId="{00000000-0000-0000-0000-000000000000}"/>
          </ac:spMkLst>
        </pc:spChg>
        <pc:spChg chg="mod">
          <ac:chgData name="Sami Ramzi Rezig" userId="572d1711-ff67-49fd-9a5d-76c488e55421" providerId="ADAL" clId="{F0B34570-08E3-456C-A539-DC5BE340AC6A}" dt="2026-10-16T09:09:48.073" v="719" actId="20577"/>
          <ac:spMkLst>
            <pc:docMk/>
            <pc:sldMk cId="0" sldId="273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15T19:12:16.190" v="619"/>
          <ac:graphicFrameMkLst>
            <pc:docMk/>
            <pc:sldMk cId="0" sldId="273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16T09:09:23.471" v="708" actId="1076"/>
          <ac:graphicFrameMkLst>
            <pc:docMk/>
            <pc:sldMk cId="0" sldId="273"/>
            <ac:graphicFrameMk id="34" creationId="{00000000-0000-0000-0000-000000000000}"/>
          </ac:graphicFrameMkLst>
        </pc:graphicFrameChg>
        <pc:picChg chg="mod">
          <ac:chgData name="Sami Ramzi Rezig" userId="572d1711-ff67-49fd-9a5d-76c488e55421" providerId="ADAL" clId="{F0B34570-08E3-456C-A539-DC5BE340AC6A}" dt="2026-10-15T19:10:26.569" v="587" actId="1076"/>
          <ac:picMkLst>
            <pc:docMk/>
            <pc:sldMk cId="0" sldId="273"/>
            <ac:picMk id="30" creationId="{00000000-0000-0000-0000-000000000000}"/>
          </ac:picMkLst>
        </pc:picChg>
      </pc:sldChg>
      <pc:sldChg chg="modSp mod">
        <pc:chgData name="Sami Ramzi Rezig" userId="572d1711-ff67-49fd-9a5d-76c488e55421" providerId="ADAL" clId="{F0B34570-08E3-456C-A539-DC5BE340AC6A}" dt="2026-10-21T12:31:51.397" v="1269" actId="20577"/>
        <pc:sldMkLst>
          <pc:docMk/>
          <pc:sldMk cId="0" sldId="274"/>
        </pc:sldMkLst>
        <pc:graphicFrameChg chg="mod modGraphic">
          <ac:chgData name="Sami Ramzi Rezig" userId="572d1711-ff67-49fd-9a5d-76c488e55421" providerId="ADAL" clId="{F0B34570-08E3-456C-A539-DC5BE340AC6A}" dt="2026-10-21T12:31:51.397" v="1269" actId="20577"/>
          <ac:graphicFrameMkLst>
            <pc:docMk/>
            <pc:sldMk cId="0" sldId="274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08:08:51.197" v="1266"/>
        <pc:sldMkLst>
          <pc:docMk/>
          <pc:sldMk cId="0" sldId="275"/>
        </pc:sldMkLst>
        <pc:spChg chg="mod">
          <ac:chgData name="Sami Ramzi Rezig" userId="572d1711-ff67-49fd-9a5d-76c488e55421" providerId="ADAL" clId="{F0B34570-08E3-456C-A539-DC5BE340AC6A}" dt="2026-10-21T08:08:51.197" v="1266"/>
          <ac:spMkLst>
            <pc:docMk/>
            <pc:sldMk cId="0" sldId="275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08:04:58.430" v="1251"/>
          <ac:graphicFrameMkLst>
            <pc:docMk/>
            <pc:sldMk cId="0" sldId="275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17:52:57.173" v="1327" actId="20577"/>
        <pc:sldMkLst>
          <pc:docMk/>
          <pc:sldMk cId="0" sldId="278"/>
        </pc:sldMkLst>
        <pc:graphicFrameChg chg="mod modGraphic">
          <ac:chgData name="Sami Ramzi Rezig" userId="572d1711-ff67-49fd-9a5d-76c488e55421" providerId="ADAL" clId="{F0B34570-08E3-456C-A539-DC5BE340AC6A}" dt="2026-10-21T17:52:57.173" v="1327" actId="20577"/>
          <ac:graphicFrameMkLst>
            <pc:docMk/>
            <pc:sldMk cId="0" sldId="278"/>
            <ac:graphicFrameMk id="33" creationId="{00000000-0000-0000-0000-000000000000}"/>
          </ac:graphicFrameMkLst>
        </pc:graphicFrameChg>
      </pc:sldChg>
      <pc:sldChg chg="modSp mod">
        <pc:chgData name="Sami Ramzi Rezig" userId="572d1711-ff67-49fd-9a5d-76c488e55421" providerId="ADAL" clId="{F0B34570-08E3-456C-A539-DC5BE340AC6A}" dt="2026-10-21T18:24:38.223" v="1671" actId="1076"/>
        <pc:sldMkLst>
          <pc:docMk/>
          <pc:sldMk cId="0" sldId="279"/>
        </pc:sldMkLst>
        <pc:spChg chg="mod">
          <ac:chgData name="Sami Ramzi Rezig" userId="572d1711-ff67-49fd-9a5d-76c488e55421" providerId="ADAL" clId="{F0B34570-08E3-456C-A539-DC5BE340AC6A}" dt="2026-10-21T18:24:38.223" v="1671" actId="1076"/>
          <ac:spMkLst>
            <pc:docMk/>
            <pc:sldMk cId="0" sldId="279"/>
            <ac:spMk id="35" creationId="{00000000-0000-0000-0000-000000000000}"/>
          </ac:spMkLst>
        </pc:spChg>
        <pc:graphicFrameChg chg="mod modGraphic">
          <ac:chgData name="Sami Ramzi Rezig" userId="572d1711-ff67-49fd-9a5d-76c488e55421" providerId="ADAL" clId="{F0B34570-08E3-456C-A539-DC5BE340AC6A}" dt="2026-10-21T18:02:58.708" v="1488" actId="108"/>
          <ac:graphicFrameMkLst>
            <pc:docMk/>
            <pc:sldMk cId="0" sldId="279"/>
            <ac:graphicFrameMk id="33" creationId="{00000000-0000-0000-0000-000000000000}"/>
          </ac:graphicFrameMkLst>
        </pc:graphicFrameChg>
        <pc:graphicFrameChg chg="mod modGraphic">
          <ac:chgData name="Sami Ramzi Rezig" userId="572d1711-ff67-49fd-9a5d-76c488e55421" providerId="ADAL" clId="{F0B34570-08E3-456C-A539-DC5BE340AC6A}" dt="2026-10-21T18:22:06.121" v="1670"/>
          <ac:graphicFrameMkLst>
            <pc:docMk/>
            <pc:sldMk cId="0" sldId="279"/>
            <ac:graphicFrameMk id="34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15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Modèle à compléter par chaque groupe. Remplacez les crochets de la couverture. Ne supprimez aucun encadré « Attendu » : la grille de notation s'y réfère.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218555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Lisez cette page avant de rédiger. Les chiffres que vous reportez viennent de vos mesures (dq.dq_history, scans Soda, requêtes du notebook), jamais d'un autre groupe ni d'un tutoriel.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286739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grille est celle du dossier go/no-go. Le livrable de séance et le dossier final sont évalués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21818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Renseignez cette page dès la fin de l'ouverture de S1, puis mettez-la à jour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76592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Cinq lignes par zone. Pas de copier-coller de l'énoncé : reformulez.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228310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8116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comptez avec une requête, pas à l'œil. Indiquez le notebook qui contient la requête.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3346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porte B juge la fidélité de la copie, pas la qualité des valeurs. Un écart nul est un résultat à documenter.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511570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l'épreuve de l'écart volontaire prouve que votre porte détecte quelque chose. Sans elle, une porte toujours verte ne prouve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7372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distinguez NULL, vide et blanc. Un constat sans valeur mesurée n'en est pas 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44401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justification est un chiffre (taux de valeurs au format X, nombre de distincts, plage), pas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22494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trois chiffres sont vrais pour trois questions différentes. Le problème est la définition.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2226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012339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2201429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sans nombre de lignes testées est ininterprétable. Reportez les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084268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nommez la famille d'erreur. « Valeurs incorrectes » n'est pas une famille.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692128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phrase de synthèse doit contenir un chiffre et la couche concernée.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6043902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85445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90898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si Soda et Great Expectations donnent des chiffres différents pour la même règle, expliquez pourquoi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7403749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taux élevé de lignes en échec sur une clé étrangère est un indice de valeur sentinelle avant d'être une anomalie.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095837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de correction proposée sans rôle destinataire n'est pas une décision.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75143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759057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841050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rien n'est supprimé en silence. Chaque ligne absente de silver est dans dq.rejets avec le code de sa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682677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une règle qui baisse de bronze à silver n'est pas forcément un bug. Cherchez d'abord un effet de la quarantaine (lignes devenues orphelines).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697203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seuils se défendent par la précision et le rappel mesurés, pas par un ressenti. Reportez-les dans le journal des décisions.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43274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règle de survie est une décision de gouvernance, pas un détail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456284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constat expliqué (un contrat orphelin parce que son client a été mis en quarantaine) est un résultat, pas une erreur.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289579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trois lignes par cas suffisent : gold, silver, bronze, source. Un identifiant de lot est obligatoire.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564280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134397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958981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insérez l'image des courbes dans la zone. Une courbe sans légende ni axe nommé n'est pas lisible par un non-technicien.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717247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certificat qui ne mentionne pas ce qu'il ne couvre pas est trompeur. Listez les règles non mesurées.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302784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preuve d'un refus est le message du script, pas une capture du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447681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lineage lisible va des sources à la table gold sans saut.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6982208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cochez uniquement ce que vous pouvez montrer. Une case non cochée et expliquée vaut mieux qu'une case cochée sans preuve.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03021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215021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ne présentez pas un GO que le certificat contredit. Un NO-GO bien argumenté vaut un GO bien argumenté.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7613517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les chiffres de cette page sont ceux de S5, sans retouche.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638570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un écart non chiffré n'est pas un écart, c'est une impression.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2054347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Consigne : la décision est attribuée à un rôle, pas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1324419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4375665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 journal doit être identique à celui du dépôt (livrables/JOURNAL_DECISIONS.md).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7492450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Reprenez les totaux de AVANCEMENT.md.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7518678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Les étiquettes fixent l'état rendu à la fin de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1052473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Cochez en remplaçant [ ] par [x].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37682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uver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097280"/>
            <a:ext cx="4754880" cy="475488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251960"/>
            <a:ext cx="6400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5577840"/>
            <a:ext cx="6400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828800"/>
            <a:ext cx="4206240" cy="4206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82880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640080" y="201168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72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7200" dirty="0"/>
          </a:p>
        </p:txBody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3200400"/>
            <a:ext cx="65836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200" dirty="0"/>
          </a:p>
        </p:txBody>
      </p:sp>
      <p:pic>
        <p:nvPicPr>
          <p:cNvPr id="6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pic>
        <p:nvPicPr>
          <p:cNvPr id="3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contenu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1091153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4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ux colonn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309360" y="1737360"/>
            <a:ext cx="5212080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tx1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  <p:pic>
        <p:nvPicPr>
          <p:cNvPr id="5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iffres cl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502920"/>
            <a:ext cx="1091153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3" name="Shape 0"/>
          <p:cNvSpPr/>
          <p:nvPr/>
        </p:nvSpPr>
        <p:spPr>
          <a:xfrm>
            <a:off x="64008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38912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38160" y="1828800"/>
            <a:ext cx="3383280" cy="3017520"/>
          </a:xfrm>
          <a:prstGeom prst="rect">
            <a:avLst/>
          </a:prstGeom>
          <a:solidFill>
            <a:schemeClr val="bg2"/>
          </a:solidFill>
          <a:ln w="9525">
            <a:solidFill>
              <a:srgbClr val="2A415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6012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7" name="Shape 4"/>
          <p:cNvSpPr/>
          <p:nvPr/>
        </p:nvSpPr>
        <p:spPr>
          <a:xfrm>
            <a:off x="470916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8" name="Shape 5"/>
          <p:cNvSpPr/>
          <p:nvPr/>
        </p:nvSpPr>
        <p:spPr>
          <a:xfrm>
            <a:off x="8458200" y="1828800"/>
            <a:ext cx="64008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9" name="Text 6"/>
          <p:cNvSpPr>
            <a:spLocks noGrp="1"/>
          </p:cNvSpPr>
          <p:nvPr>
            <p:ph type="body" idx="107" hasCustomPrompt="1"/>
          </p:nvPr>
        </p:nvSpPr>
        <p:spPr>
          <a:xfrm>
            <a:off x="96012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0" name="Text 6"/>
          <p:cNvSpPr>
            <a:spLocks noGrp="1"/>
          </p:cNvSpPr>
          <p:nvPr>
            <p:ph type="body" idx="108" hasCustomPrompt="1"/>
          </p:nvPr>
        </p:nvSpPr>
        <p:spPr>
          <a:xfrm>
            <a:off x="470916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1" name="Text 6"/>
          <p:cNvSpPr>
            <a:spLocks noGrp="1"/>
          </p:cNvSpPr>
          <p:nvPr>
            <p:ph type="body" idx="109" hasCustomPrompt="1"/>
          </p:nvPr>
        </p:nvSpPr>
        <p:spPr>
          <a:xfrm>
            <a:off x="8458200" y="2148840"/>
            <a:ext cx="2743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dirty="0">
                <a:solidFill>
                  <a:schemeClr val="accent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6000" dirty="0"/>
          </a:p>
        </p:txBody>
      </p:sp>
      <p:sp>
        <p:nvSpPr>
          <p:cNvPr id="12" name="Text 6"/>
          <p:cNvSpPr>
            <a:spLocks noGrp="1"/>
          </p:cNvSpPr>
          <p:nvPr>
            <p:ph type="body" idx="110" hasCustomPrompt="1"/>
          </p:nvPr>
        </p:nvSpPr>
        <p:spPr>
          <a:xfrm>
            <a:off x="96012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6"/>
          <p:cNvSpPr>
            <a:spLocks noGrp="1"/>
          </p:cNvSpPr>
          <p:nvPr>
            <p:ph type="body" idx="111" hasCustomPrompt="1"/>
          </p:nvPr>
        </p:nvSpPr>
        <p:spPr>
          <a:xfrm>
            <a:off x="470916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4" name="Text 6"/>
          <p:cNvSpPr>
            <a:spLocks noGrp="1"/>
          </p:cNvSpPr>
          <p:nvPr>
            <p:ph type="body" idx="112" hasCustomPrompt="1"/>
          </p:nvPr>
        </p:nvSpPr>
        <p:spPr>
          <a:xfrm>
            <a:off x="8458200" y="3474720"/>
            <a:ext cx="2743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5" name="Text 6"/>
          <p:cNvSpPr>
            <a:spLocks noGrp="1"/>
          </p:cNvSpPr>
          <p:nvPr>
            <p:ph type="body" idx="113" hasCustomPrompt="1"/>
          </p:nvPr>
        </p:nvSpPr>
        <p:spPr>
          <a:xfrm>
            <a:off x="640080" y="5257800"/>
            <a:ext cx="1091153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16" name="Image 0" descr="img/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48640"/>
            <a:ext cx="1920240" cy="192024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1005840" y="1737360"/>
            <a:ext cx="8229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005840" y="4754880"/>
            <a:ext cx="9144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4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400" dirty="0"/>
          </a:p>
        </p:txBody>
      </p:sp>
      <p:pic>
        <p:nvPicPr>
          <p:cNvPr id="5" name="Image 1" descr="img/mark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336792"/>
            <a:ext cx="237744" cy="23774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87552" y="6309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chemeClr val="accent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DECIMAL INSIGHTS CONSULTING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ture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dec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280160"/>
            <a:ext cx="4572000" cy="4572000"/>
          </a:xfrm>
          <a:prstGeom prst="rect">
            <a:avLst/>
          </a:prstGeom>
        </p:spPr>
      </p:pic>
      <p:pic>
        <p:nvPicPr>
          <p:cNvPr id="3" name="Image 1" descr="img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3474720" cy="7315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2148840"/>
            <a:ext cx="822960" cy="54864"/>
          </a:xfrm>
          <a:prstGeom prst="rect">
            <a:avLst/>
          </a:prstGeom>
          <a:solidFill>
            <a:srgbClr val="0F9B8E"/>
          </a:solidFill>
          <a:ln/>
        </p:spPr>
      </p:sp>
      <p:sp>
        <p:nvSpPr>
          <p:cNvPr id="5" name="Text 1"/>
          <p:cNvSpPr>
            <a:spLocks noGrp="1"/>
          </p:cNvSpPr>
          <p:nvPr>
            <p:ph type="title" idx="103" hasCustomPrompt="1"/>
          </p:nvPr>
        </p:nvSpPr>
        <p:spPr>
          <a:xfrm>
            <a:off x="640080" y="237744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600" dirty="0">
                <a:solidFill>
                  <a:schemeClr val="tx1"/>
                </a:solidFill>
                <a:latin typeface="Fraunces SemiBold" pitchFamily="34" charset="0"/>
                <a:ea typeface="Fraunces SemiBold" pitchFamily="34" charset="-122"/>
                <a:cs typeface="Fraunces SemiBold" pitchFamily="34" charset="-120"/>
              </a:defRPr>
            </a:lvl1pPr>
          </a:lstStyle>
          <a:p>
            <a:pPr marL="0" indent="0" algn="l">
              <a:buNone/>
            </a:pPr>
            <a:endParaRPr lang="en-US" sz="4600" dirty="0"/>
          </a:p>
        </p:txBody>
      </p:sp>
      <p:sp>
        <p:nvSpPr>
          <p:cNvPr id="6" name="Text 1"/>
          <p:cNvSpPr>
            <a:spLocks noGrp="1"/>
          </p:cNvSpPr>
          <p:nvPr>
            <p:ph type="body" idx="104" hasCustomPrompt="1"/>
          </p:nvPr>
        </p:nvSpPr>
        <p:spPr>
          <a:xfrm>
            <a:off x="640080" y="4023360"/>
            <a:ext cx="6400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tx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7" name="Text 1"/>
          <p:cNvSpPr>
            <a:spLocks noGrp="1"/>
          </p:cNvSpPr>
          <p:nvPr>
            <p:ph type="body" idx="105" hasCustomPrompt="1"/>
          </p:nvPr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kern="0" spc="200" dirty="0">
                <a:solidFill>
                  <a:schemeClr val="accent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Livrable de groupe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TD AssurConnect : gouvernance, profilage et qualité des données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rPr dirty="0"/>
              <a:t>GROUPE [N°01] · [NOMS DES MEMBRES]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Comment remplir ce modèle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MODE D'EMPLOI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3716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572768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63040" y="14447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Encadré ambre « Attendu 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14447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Ce qui doit apparaître sur la page. À lire avant de rédiger ; ne pas supprimer.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22860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Icône pen" descr="Icône p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487168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463040" y="23591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Cellule ou zone ambre sombre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23591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À compléter : remplacez « … » ou le texte gris entre crochets par votre contenu.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2004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Icône chart" descr="Icône 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401568"/>
            <a:ext cx="402336" cy="40233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2735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Une page prouve, elle ne raconte pas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2735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Pour chaque constat : 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 mesuré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(règle RQ, couche),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(chemin du dépôt),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conséquence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attribuée à un rôle.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1148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Icône branch" descr="Icône bran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15968"/>
            <a:ext cx="402336" cy="40233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463040" y="41879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Le dépôt Git est la preuve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1879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Chaque chemin cité existe dans votre dépôt. Étiquette </a:t>
            </a:r>
            <a:r>
              <a:rPr sz="1300" b="0" i="0">
                <a:solidFill>
                  <a:srgbClr val="F7F6F2"/>
                </a:solidFill>
                <a:latin typeface="Consolas"/>
              </a:rPr>
              <a:t>seance-N</a:t>
            </a:r>
            <a:r>
              <a:rPr sz="1300" b="0" i="0">
                <a:solidFill>
                  <a:srgbClr val="B8C0C8"/>
                </a:solidFill>
                <a:latin typeface="Inter"/>
              </a:rPr>
              <a:t> posée en fin de chaque séance.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029200"/>
            <a:ext cx="10908792" cy="80467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Icône warn" descr="Icône war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230368"/>
            <a:ext cx="402336" cy="402336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63040" y="5102352"/>
            <a:ext cx="32918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F7F6F2"/>
                </a:solidFill>
                <a:latin typeface="Inter"/>
              </a:rPr>
              <a:t>Si vous n'avez pas fini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46320" y="5102352"/>
            <a:ext cx="65836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0" i="0">
                <a:solidFill>
                  <a:srgbClr val="B8C0C8"/>
                </a:solidFill>
                <a:latin typeface="Inter"/>
              </a:rPr>
              <a:t>Laissez les zones ambre visibles : un livrable inachevé doit le rester. Ne mettez jamais un chiffre sans l'avoir mesuré.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Si le texte déborde d'une cellule, réduisez la police à 11 pt plutôt que d'étendre le tableau hors de la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Où se trouve quoi, et ce que pèse chaque critère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PLAN DU LIVRABLE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40080" y="1371600"/>
          <a:ext cx="10908792" cy="307238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Partie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Pages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Critère de la grille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 spc="60">
                          <a:solidFill>
                            <a:srgbClr val="F5A623"/>
                          </a:solidFill>
                          <a:latin typeface="Inter"/>
                        </a:rPr>
                        <a:t>Poids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Équipe et mandat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4 à 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Contribution individuelle (vérifiée dans l'historique Git)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S1 : bronze, porte B, profilage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Profilage et diagnostic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S2 : règles en tests (Great Expectations)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S3 : intégrité et portes (Soda Core)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Règles et tests (suite)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inclus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S4 : silver, gold,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Silver, gold et traçabilité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S5 : certificat, publication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Preuve et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20 %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7F6F2"/>
                          </a:solidFill>
                          <a:latin typeface="Inter"/>
                        </a:rPr>
                        <a:t>Dossier go/no-go, journal des décisions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Dossier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Gouvernance et 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F7F6F2"/>
                          </a:solidFill>
                          <a:latin typeface="Inter"/>
                        </a:rPr>
                        <a:t>15 %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40080" y="458114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Définition de « terminé » pour une story : critères démontrés avec les chiffres, règle identifiée par son RQ et la couche mesurée, décision attribuée à un rôle, aucune donnée modifiée en place.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Membres, rôles par séance et contribution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ÉQUIPE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 tournent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chaque séance et un rôle est tenu par une personne à la fois.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contribution déclarée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vérifiable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l'historique Git : une ligne par membre, deux lignes de texte.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3170306"/>
              </p:ext>
            </p:extLst>
          </p:nvPr>
        </p:nvGraphicFramePr>
        <p:xfrm>
          <a:off x="640080" y="2579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Git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Sami Rezig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Meriem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Benayache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Housni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Achbouq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Mohamed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Gourainy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40080" y="4481779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Rôles : Data Owner (décide des seuils et du GO) · Data Steward (définit les règles et leur sévérité) · Ingénieur qualité (mesure, implémente) · Rédacteur du livrable.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865827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Membre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Contribution (deux lignes)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 principales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Notre compréhension du mandat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CONTEXTE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condition posée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Direction Générale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reformulée avec vos mots.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périmètre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sources, couches du médaillon, portes B, S, G et C.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gouvernance et ce que chacun décide.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MANDAT ET CONDITION DE LA DG</a:t>
            </a:r>
          </a:p>
        </p:txBody>
      </p:sp>
      <p:sp>
        <p:nvSpPr>
          <p:cNvPr id="33" name="Zone à rédiger"/>
          <p:cNvSpPr/>
          <p:nvPr/>
        </p:nvSpPr>
        <p:spPr>
          <a:xfrm>
            <a:off x="640080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2831896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PÉRIMÈTRE ET RÔLES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245352" y="3124504"/>
            <a:ext cx="5303520" cy="30019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ici, cinq lignes au plus]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Stack, profilage,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1 · Porte B · US-01 à 09. Inventaire des sources, bronze, réconciliation, profil de crm.client, dictionnaire du CIF, client actif.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Inventaire des sources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18872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18872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29844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340485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645920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sept tables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des deux sources, avec le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nombre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lignes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mesuré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primaire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 dirty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 dirty="0">
                <a:solidFill>
                  <a:srgbClr val="F5A623"/>
                </a:solidFill>
                <a:latin typeface="Inter"/>
              </a:rPr>
              <a:t>observation </a:t>
            </a:r>
            <a:r>
              <a:rPr sz="1300" b="1" i="0" dirty="0" err="1">
                <a:solidFill>
                  <a:srgbClr val="F5A623"/>
                </a:solidFill>
                <a:latin typeface="Inter"/>
              </a:rPr>
              <a:t>chiffrée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par table (nulls,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doublons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 de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clé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 dirty="0" err="1">
                <a:solidFill>
                  <a:srgbClr val="F7F6F2"/>
                </a:solidFill>
                <a:latin typeface="Inter"/>
              </a:rPr>
              <a:t>particularités</a:t>
            </a:r>
            <a:r>
              <a:rPr sz="1300" b="1" i="0" dirty="0">
                <a:solidFill>
                  <a:srgbClr val="F7F6F2"/>
                </a:solidFill>
                <a:latin typeface="Inter"/>
              </a:rPr>
              <a:t>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262253"/>
              </p:ext>
            </p:extLst>
          </p:nvPr>
        </p:nvGraphicFramePr>
        <p:xfrm>
          <a:off x="640080" y="2309190"/>
          <a:ext cx="10908791" cy="364236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9996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Clé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primaire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Observation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Client_id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133918 nuls sur 6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(95723) ; 4277 personnes morales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renseignée, nom vide)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Contrat_id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7460 nuls sur 1 colonne(s), max sur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date_derniere_cotisation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(7460) ; 40000 contrats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assure_id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= '0' (valeur sentinelle)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Sinistre_id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 canaux de saisie, 62782 contrats distincts concernés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Code_type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12 types répartis sur 3 branches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813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26486 nuls sur 4 colonne(s), max sur column9 (18872) ; 10 colonnes aux noms anonymes (column0 à column9), sans documentation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5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45000 comptes pour 40000 identifiants CIF distincts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3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de clé ; aucun nul ; 250 pays dans le référentiel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81228" y="603533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200" dirty="0">
                <a:solidFill>
                  <a:srgbClr val="B8C0C8"/>
                </a:solidFill>
              </a:rPr>
              <a:t>Preuve (chemin du notebook, du fichier ou de la requête dans le dépôt) : notebooks/S1_01.ipynb, US-01 cellule 7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 dirty="0"/>
              <a:t>Bronze et </a:t>
            </a:r>
            <a:r>
              <a:rPr sz="2800" dirty="0" err="1"/>
              <a:t>porte</a:t>
            </a:r>
            <a:r>
              <a:rPr sz="2800" dirty="0"/>
              <a:t> B : la </a:t>
            </a:r>
            <a:r>
              <a:rPr sz="2800" dirty="0" err="1"/>
              <a:t>copie</a:t>
            </a:r>
            <a:r>
              <a:rPr sz="2800" dirty="0"/>
              <a:t> est-</a:t>
            </a:r>
            <a:r>
              <a:rPr sz="2800" dirty="0" err="1"/>
              <a:t>elle</a:t>
            </a:r>
            <a:r>
              <a:rPr sz="2800" dirty="0"/>
              <a:t> </a:t>
            </a:r>
            <a:r>
              <a:rPr sz="2800" dirty="0" err="1"/>
              <a:t>fidèle</a:t>
            </a:r>
            <a:r>
              <a:rPr sz="2800" dirty="0"/>
              <a:t> ?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 dirty="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RQ-021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(comptage)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RQ-022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(somme de contrôle) mesurées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même quand l'écart est nul.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ligne bronze porte ses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métadonnées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(lot, source, horodatage, empreinte de ligne).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66001"/>
              </p:ext>
            </p:extLst>
          </p:nvPr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comptage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de somme de contrôle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crm_sinistre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100000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crm_type_contrat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40000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cif_compte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45000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cif_pays</a:t>
                      </a:r>
                      <a:endParaRPr sz="1200" b="1" i="0" dirty="0">
                        <a:solidFill>
                          <a:srgbClr val="F7F6F2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250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0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94197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US-02 cellule 5 + US-03 cellule 3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Épreuves de la porte B et méthode d'ingestion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US-02,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épreuves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documentées, chacune avec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résultat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méthode d'ingestion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lecture, conversion, métadonnées, relance du lot.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013622"/>
              </p:ext>
            </p:extLst>
          </p:nvPr>
        </p:nvGraphicFramePr>
        <p:xfrm>
          <a:off x="640080" y="2579827"/>
          <a:ext cx="10908792" cy="2468880"/>
        </p:xfrm>
        <a:graphic>
          <a:graphicData uri="http://schemas.openxmlformats.org/drawingml/2006/table">
            <a:tbl>
              <a:tblPr/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Relance du même lot : doublons créés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doublon : 100 000 lignes dans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bronze.crm_client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avant et après relance du lot L-2026-10-01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Écart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introduit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volontairement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sur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une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copie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: la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porte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échoue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-t-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elle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MA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OUI, la porte échoue pour chaque type de modification 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US-02 cellule 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Un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problème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de conversion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rencontré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(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décimales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, NULL, accents) et </a:t>
                      </a:r>
                      <a:r>
                        <a:rPr sz="1200" b="1" i="0" dirty="0" err="1">
                          <a:solidFill>
                            <a:srgbClr val="F7F6F2"/>
                          </a:solidFill>
                          <a:latin typeface="Inter"/>
                        </a:rPr>
                        <a:t>sa</a:t>
                      </a:r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9 912 montants sur 100 000 (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prime_annuelle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) perdent leur zéro final (184.10 → 184.1). Corrigé avec </a:t>
                      </a:r>
                      <a:r>
                        <a:rPr lang="fr-FR" sz="12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coerce_float</a:t>
                      </a:r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=False : écart de somme = 0.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notebooks/S1_01.ipynb, US-03 cellule 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09442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 dirty="0">
                <a:solidFill>
                  <a:srgbClr val="F5A623"/>
                </a:solidFill>
                <a:latin typeface="Inter"/>
              </a:rPr>
              <a:t>MÉTHODE D'INGESTION EN TROIS LIGNES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350460"/>
            <a:ext cx="10908792" cy="91270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Lecture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les 7 tables sources sont lues avec le compte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reader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qui n’a que le droit de lecture, et copiées dans bronze sans aucune correction.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Conversion et métadonnées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tout est gardé en texte (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coerce_float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=False pour ne pas perdre les décimales), et chaque ligne reçoit son lot, sa source, son horodatage et son empreinte.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fr-FR" sz="1200" b="1" i="1" dirty="0">
                <a:solidFill>
                  <a:srgbClr val="8E99A4"/>
                </a:solidFill>
                <a:latin typeface="Inter"/>
              </a:rPr>
              <a:t>Relance du lot : 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on supprime d’abord les lignes du lot, puis on les réinsère, donc relancer ne crée aucun doublon.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Profil de crm.client et motifs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US-06, 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045159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9" name="Attendu barre"/>
          <p:cNvSpPr/>
          <p:nvPr/>
        </p:nvSpPr>
        <p:spPr>
          <a:xfrm>
            <a:off x="640080" y="1045159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154886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196924"/>
            <a:ext cx="7315200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502359"/>
            <a:ext cx="10360152" cy="460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Au moins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cinq constats chiffrés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: colonne, indicateur, valeur mesurée, conséquence pour la qualité.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motifs</a:t>
            </a:r>
            <a:r>
              <a:rPr sz="1300" b="1" i="0">
                <a:solidFill>
                  <a:srgbClr val="F7F6F2"/>
                </a:solidFill>
                <a:latin typeface="Inter"/>
              </a:rPr>
              <a:t> de code postal, de téléphone et de pays : lignes conformes, non conformes, un exemple.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46236"/>
              </p:ext>
            </p:extLst>
          </p:nvPr>
        </p:nvGraphicFramePr>
        <p:xfrm>
          <a:off x="640080" y="2224582"/>
          <a:ext cx="10908792" cy="231343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Indicateur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(nulls, vides,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distincts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, motif)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Valeur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mesurée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Ce que cela change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client_id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distincts, 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100 000 distincts / 100 000, 0 nul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Clé unique, fiable pour les jointures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nom /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raison_sociale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4 277 / 95 723, jamais les deux vides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Manques normaux (entreprises / particuliers)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telephone</a:t>
                      </a:r>
                      <a:endParaRPr lang="fr-FR" sz="1150" b="0" i="0" dirty="0">
                        <a:solidFill>
                          <a:srgbClr val="F5A623"/>
                        </a:solidFill>
                        <a:latin typeface="+mn-lt"/>
                      </a:endParaRP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nuls + vides + blancs</a:t>
                      </a:r>
                    </a:p>
                    <a:p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5 999 + 2 000 + 2 000 = 9 999 (10 %)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4 000 manques cachés, pas comptés comme NULL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nuls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19 365 (19,4 %)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client sur 5 sans email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type_personne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distincts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 valeurs au lieu de 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Libellés à normaliser avant silver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584863"/>
              </p:ext>
            </p:extLst>
          </p:nvPr>
        </p:nvGraphicFramePr>
        <p:xfrm>
          <a:off x="640080" y="4561002"/>
          <a:ext cx="10908792" cy="154228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791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Motif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testé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Non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Exemple</a:t>
                      </a:r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non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conforme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 dirty="0">
                          <a:solidFill>
                            <a:srgbClr val="F7F6F2"/>
                          </a:solidFill>
                          <a:latin typeface="Inter"/>
                        </a:rPr>
                        <a:t>Code postal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[0-9]{5} (adresses FR)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93 981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1 456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7110 (Ardèche, au lieu de 07110) : anomalie A01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(?:0|\+33 ?|0033 ?)[1-9](?:[ .-]?[0-9]{2}){4} ou + international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89 115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886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0362O07301 (lettre O au lieu du zéro)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Pays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Code présent dans </a:t>
                      </a:r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silver.ref_pays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96 950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3050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Frnace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11202"/>
            <a:ext cx="10908792" cy="19024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200" b="0" i="0" dirty="0" err="1">
                <a:solidFill>
                  <a:srgbClr val="B8C0C8"/>
                </a:solidFill>
                <a:latin typeface="Inter"/>
              </a:rPr>
              <a:t>Preuve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(chemin du notebook, du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fichier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ou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de la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requête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 dans le </a:t>
            </a:r>
            <a:r>
              <a:rPr sz="1200" b="0" i="0" dirty="0" err="1">
                <a:solidFill>
                  <a:srgbClr val="B8C0C8"/>
                </a:solidFill>
                <a:latin typeface="Inter"/>
              </a:rPr>
              <a:t>dépôt</a:t>
            </a:r>
            <a:r>
              <a:rPr sz="1200" b="0" i="0" dirty="0">
                <a:solidFill>
                  <a:srgbClr val="B8C0C8"/>
                </a:solidFill>
                <a:latin typeface="Inter"/>
              </a:rPr>
              <a:t>) : </a:t>
            </a:r>
            <a:r>
              <a:rPr lang="en-US" sz="1200" b="0" i="0" dirty="0">
                <a:solidFill>
                  <a:srgbClr val="B8C0C8"/>
                </a:solidFill>
                <a:latin typeface="Inter"/>
              </a:rPr>
              <a:t>notebooks/S1_01.ipynb, cellules US-06 + US-07 ; reports/ydata_profiling_client.html</a:t>
            </a:r>
            <a:endParaRPr sz="1200" b="1" i="0" dirty="0">
              <a:solidFill>
                <a:srgbClr val="F5A623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Dictionnaire du CIF : dix colonnes anonymes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dix colonnes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un nom proposé, un type et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(comment l'avez-vous déduit ?).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879362"/>
              </p:ext>
            </p:extLst>
          </p:nvPr>
        </p:nvGraphicFramePr>
        <p:xfrm>
          <a:off x="642823" y="2395423"/>
          <a:ext cx="10908792" cy="383212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22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691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Colonne d'origine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 proposé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Type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column0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id_cif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VARCHAR(7)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40 000 distincts / 40 000, 0 nul ; motif K + 6 chiffres à 100 % ; retrouvé à 100 % dans </a:t>
                      </a:r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cif_compte</a:t>
                      </a:r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 → clé primaire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column1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nom_ou_raison_sociale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nul, 731 distincts, 3 à 31 car., 100 % majuscules ; contient des SARL/SA → nom ou entreprise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column2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+mn-lt"/>
                        </a:rPr>
                        <a:t>prenom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645 nuls, sur les mêmes lignes que column3 (entreprises) ; 180 distincts, 3 à 10 car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column3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date_naissance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DATE (JJ/MM/AAAA)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motif 99/99/9999 ; 39 355 dates valides (1938 à 2026) ; 645 nuls = entreprises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column4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adresse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9 811 distincts, 11 à 31 car. ; numéro + type de voie (35 avenue des Platanes)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column5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code_postal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99,1 % au motif 99999 ; 188 </a:t>
                      </a:r>
                      <a:r>
                        <a:rPr lang="fr-FR" sz="1100" b="0" i="0">
                          <a:solidFill>
                            <a:srgbClr val="F5A623"/>
                          </a:solidFill>
                          <a:latin typeface="+mn-lt"/>
                        </a:rPr>
                        <a:t>distincts 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column6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ville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VARCHAR(80)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172 distincts, 3 à 24 car., en majuscules (LARGENTIERE, ANTIBES)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6914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column7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code_pays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CHAR(2)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2, motif AA à 100 %, 9 valeurs ; FR = 98,5 % → code ISO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641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column8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 err="1">
                          <a:solidFill>
                            <a:srgbClr val="F5A623"/>
                          </a:solidFill>
                          <a:latin typeface="Inter"/>
                        </a:rPr>
                        <a:t>telephone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VARCHAR(25)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longueur toujours 10, 0 + 9 chiffres sur 100 % des valeurs renseignées ; 6 324 nuls</a:t>
                      </a:r>
                    </a:p>
                    <a:p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758"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column9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email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Inter"/>
                        </a:rPr>
                        <a:t>VARCHAR(120)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100 % des 21 128 valeurs renseignées contiennent @ ; 18 872 nuls (47 %)</a:t>
                      </a:r>
                      <a:endParaRPr sz="11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Trois directions, trois définitions du « client actif 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US-09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de clients actifs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selon chaque direction, avec la définition utilisée.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écart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la définition de la fiche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CD-001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la conséquence pour la gouvernance.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4774884"/>
              </p:ext>
            </p:extLst>
          </p:nvPr>
        </p:nvGraphicFramePr>
        <p:xfrm>
          <a:off x="640080" y="2579827"/>
          <a:ext cx="10908792" cy="153619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utilisée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Nombre de clients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 avec CD-001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au moins un contrat en cours, ou terminé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50508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12 459 (32,7 %)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un contrat en cours au 01/10/2026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44116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6 067 (15,9 %)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contrat en cours ET cotisation payée depuis le 01/07/2026 (= CD-001)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Inter"/>
                        </a:rPr>
                        <a:t>38049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200" b="0" i="0" dirty="0">
                          <a:solidFill>
                            <a:srgbClr val="F5A623"/>
                          </a:solidFill>
                          <a:latin typeface="+mn-lt"/>
                        </a:rPr>
                        <a:t>0 (définition de référence)</a:t>
                      </a:r>
                      <a:endParaRPr sz="120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34461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CONSÉQUENCE POUR LA GOUVERNANCE, EN TROIS PHRASES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637227"/>
            <a:ext cx="10908792" cy="148925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lang="fr-FR" sz="1200" i="1" dirty="0">
                <a:solidFill>
                  <a:srgbClr val="8E99A4"/>
                </a:solidFill>
                <a:latin typeface="Inter"/>
              </a:rPr>
              <a:t>Selon la direction, le nombre de clients actifs varie de 38 049 à 50 508, soit jusqu’à 33 % d’écart pour le même indicateur. Chaque direction utilise sa propre définition, donc leurs chiffres ne peuvent pas être comparés. Il faut adopter une seule définition, celle de la fiche CD-001 validée par la Data </a:t>
            </a:r>
            <a:r>
              <a:rPr lang="fr-FR" sz="1200" i="1" dirty="0" err="1">
                <a:solidFill>
                  <a:srgbClr val="8E99A4"/>
                </a:solidFill>
                <a:latin typeface="Inter"/>
              </a:rPr>
              <a:t>Owner</a:t>
            </a:r>
            <a:r>
              <a:rPr lang="fr-FR" sz="1200" i="1" dirty="0">
                <a:solidFill>
                  <a:srgbClr val="8E99A4"/>
                </a:solidFill>
                <a:latin typeface="Inter"/>
              </a:rPr>
              <a:t>, et corriger les contrats sans date de cotisation, qui faussent le calcul.</a:t>
            </a:r>
            <a:endParaRPr sz="120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S1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S1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PROFILAGE ET DIAGNOSTIC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sept tables bronze existent et chaque ligne porte ses quatre métadonnées.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porte B ne montre aucun écart de comptage ni de somme de contrôle.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l'ingestion du même lot ne crée aucun doublon.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écart introduit volontairement fait échouer la porte.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RQ-021 est écrite dans dq.dq_history (couche BRONZE).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Règles en tests automatisés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2 · Great Expectations · US-10, 11, 13, 15. Une règle métier devient un test nommé par son identifiant RQ.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Règles en tests : une expectation par règle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RQ-001, 002, 003, 005, 009, 010 et 020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l'expectation porte son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rule_id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lignes testées, échecs, taux et sévérité.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base et la table visées sont des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suite se relance sur silver sans modification.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359057"/>
              </p:ext>
            </p:extLst>
          </p:nvPr>
        </p:nvGraphicFramePr>
        <p:xfrm>
          <a:off x="640080" y="2793796"/>
          <a:ext cx="10908792" cy="347472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94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Expectation (type)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En</a:t>
                      </a:r>
                      <a:r>
                        <a:rPr sz="110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 </a:t>
                      </a:r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échec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  <a:endParaRPr sz="110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column_pair_values_A_to_be_greater_than_B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date_fin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&gt;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date_debut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800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99,200 %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column_values_to_be_between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age_debut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≥ 18)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301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99,699 %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match_regex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\S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souscripteurs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49 898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5989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87,998 %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Avertissement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RQ-005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cif_client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column_values_to_match_regex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^\d{5}$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adresses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FR)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95437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39401</a:t>
                      </a:r>
                      <a:endParaRPr lang="en-US"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1456</a:t>
                      </a:r>
                    </a:p>
                    <a:p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98,474 %</a:t>
                      </a:r>
                    </a:p>
                    <a:p>
                      <a:r>
                        <a:rPr lang="fr-FR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100,00%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Avertissement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 dirty="0">
                          <a:solidFill>
                            <a:srgbClr val="F7F6F2"/>
                          </a:solidFill>
                          <a:latin typeface="Inter"/>
                        </a:rPr>
                        <a:t>RQ-009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(prospect,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souscripteur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assure)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99,800 %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RQ-010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column_values_to_be_in_set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(12, 24, 36, 60)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100 000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600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99,400 %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RQ-020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cif_client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crm_client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crm_contrat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crm_sinister</a:t>
                      </a:r>
                      <a:endParaRPr lang="en-US"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column_values_to_not_be_null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+ 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to_be_unique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clé</a:t>
                      </a:r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)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100000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0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100,000 %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Bloquante</a:t>
                      </a:r>
                      <a:endParaRPr sz="120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Pièges rencontrés et lignes en échec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US-10, 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pièges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(nul, vide, blanc ; adresses étrangères ; comparaisons exactes) avec le chiffre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correction.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échantillon commenté de 20 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échec : famille d'erreur, cause probable, action proposée.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313970"/>
              </p:ext>
            </p:extLst>
          </p:nvPr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Piège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Avant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Après correction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nul, vide et blanc : tester seulement NULL</a:t>
                      </a:r>
                    </a:p>
                  </a:txBody>
                  <a:tcPr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5989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US-010 cellule 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RQ-005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adresses étrangères (CRM) : filtre pays = FR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2317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1456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US-10 cellule 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RQ-009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comparaison exacte (casse) vs insensible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120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200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i="0" dirty="0">
                          <a:solidFill>
                            <a:srgbClr val="F5A623"/>
                          </a:solidFill>
                          <a:latin typeface="+mn-lt"/>
                        </a:rPr>
                        <a:t>notebooks/S2_01.ipynb, US-10 cellule 9</a:t>
                      </a:r>
                    </a:p>
                  </a:txBody>
                  <a:tcPr marL="73152" marR="73152" anchor="ctr">
                    <a:lnL w="6350" cap="flat" cmpd="sng" algn="ctr">
                      <a:solidFill>
                        <a:srgbClr val="2A415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0402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598244"/>
              </p:ext>
            </p:extLst>
          </p:nvPr>
        </p:nvGraphicFramePr>
        <p:xfrm>
          <a:off x="640080" y="4185239"/>
          <a:ext cx="10908792" cy="1848612"/>
        </p:xfrm>
        <a:graphic>
          <a:graphicData uri="http://schemas.openxmlformats.org/drawingml/2006/table">
            <a:tbl>
              <a:tblPr/>
              <a:tblGrid>
                <a:gridCol w="1045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83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 dirty="0">
                          <a:solidFill>
                            <a:srgbClr val="F5A623"/>
                          </a:solidFill>
                          <a:latin typeface="Inter"/>
                        </a:rPr>
                        <a:t>Famille </a:t>
                      </a:r>
                      <a:r>
                        <a:rPr sz="1050" b="1" i="0" spc="60" dirty="0" err="1">
                          <a:solidFill>
                            <a:srgbClr val="F5A623"/>
                          </a:solidFill>
                          <a:latin typeface="Inter"/>
                        </a:rPr>
                        <a:t>d'erreur</a:t>
                      </a:r>
                      <a:endParaRPr sz="1050" b="1" i="0" spc="6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(sur 20)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Cause probable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Action proposée (à qui ?)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Inter"/>
                        </a:rPr>
                        <a:t>RQ-001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Durée nulle (fin = début) et dates inversées (fin avant début)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4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Dates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saisies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à la main, 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sans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contrôle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de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cohérance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Équipe contrats : corriger les dates ; Data Steward : ajouter un contrôle à la saisie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fr-FR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RQ-002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Souscripteur de 16 ou 17 ans au début du contrat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Contrats jeunes conducteurs souscrits par un mineur, ou date de naissance erronée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Data </a:t>
                      </a:r>
                      <a:r>
                        <a:rPr lang="fr-FR" sz="1150" b="0" i="0" kern="1200" dirty="0" err="1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Owner</a:t>
                      </a:r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 : décider si un mineur peut souscrire (avec garant ?)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lang="en-US" sz="1150" b="0" i="0" dirty="0">
                          <a:solidFill>
                            <a:srgbClr val="F5A623"/>
                          </a:solidFill>
                          <a:latin typeface="+mn-lt"/>
                        </a:rPr>
                        <a:t>RQ-003</a:t>
                      </a:r>
                      <a:endParaRPr sz="1150" b="0" i="0" dirty="0">
                        <a:solidFill>
                          <a:srgbClr val="F5A623"/>
                        </a:solidFill>
                        <a:latin typeface="Inter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Téléphone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NULL,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chaine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vide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ou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150" b="0" i="0" kern="1200" dirty="0" err="1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espaces</a:t>
                      </a:r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 seuls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i="0" kern="1200" dirty="0">
                          <a:solidFill>
                            <a:srgbClr val="F5A623"/>
                          </a:solidFill>
                          <a:latin typeface="Inter"/>
                          <a:ea typeface="+mn-ea"/>
                          <a:cs typeface="+mn-cs"/>
                        </a:rPr>
                        <a:t>3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Champ téléphone facultatif dans le CRM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sz="1150" b="0" i="0" kern="1200" dirty="0">
                          <a:solidFill>
                            <a:srgbClr val="F5A623"/>
                          </a:solidFill>
                          <a:latin typeface="+mn-lt"/>
                          <a:ea typeface="+mn-ea"/>
                          <a:cs typeface="+mn-cs"/>
                        </a:rPr>
                        <a:t>Équipe CRM : rendre le téléphone obligatoire pour un souscripteur</a:t>
                      </a:r>
                      <a:endParaRPr sz="1150" b="0" i="0" kern="1200" dirty="0">
                        <a:solidFill>
                          <a:srgbClr val="F5A623"/>
                        </a:solidFill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89233"/>
            <a:ext cx="10908792" cy="1744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fr-FR" sz="1100" b="0" i="1" dirty="0">
                <a:solidFill>
                  <a:srgbClr val="8E99A4"/>
                </a:solidFill>
                <a:latin typeface="Inter"/>
              </a:rPr>
              <a:t>export complet reports/</a:t>
            </a:r>
            <a:r>
              <a:rPr lang="fr-FR" sz="1100" b="0" i="1" dirty="0" err="1">
                <a:solidFill>
                  <a:srgbClr val="8E99A4"/>
                </a:solidFill>
                <a:latin typeface="Inter"/>
              </a:rPr>
              <a:t>ge</a:t>
            </a:r>
            <a:r>
              <a:rPr lang="fr-FR" sz="1100" b="0" i="1" dirty="0">
                <a:solidFill>
                  <a:srgbClr val="8E99A4"/>
                </a:solidFill>
                <a:latin typeface="Inter"/>
              </a:rPr>
              <a:t>/us11_lignes_en_echec.csv ; échantillon commenté reports/</a:t>
            </a:r>
            <a:r>
              <a:rPr lang="fr-FR" sz="1100" b="0" i="1" dirty="0" err="1">
                <a:solidFill>
                  <a:srgbClr val="8E99A4"/>
                </a:solidFill>
                <a:latin typeface="Inter"/>
              </a:rPr>
              <a:t>ge</a:t>
            </a:r>
            <a:r>
              <a:rPr lang="fr-FR" sz="1100" b="0" i="1" dirty="0">
                <a:solidFill>
                  <a:srgbClr val="8E99A4"/>
                </a:solidFill>
                <a:latin typeface="Inter"/>
              </a:rPr>
              <a:t>/us11_echantillon_20_lignes_commentees.csv</a:t>
            </a:r>
            <a:endParaRPr sz="1100" b="0" i="1" dirty="0">
              <a:solidFill>
                <a:srgbClr val="8E99A4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Âge à la bonne date et mesure de référence sur bronze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US-13,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RQ-002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documentée avec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« à la date du jour » donne un autre résultat.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mesure de référence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écrite dans dq.dq_history (couche BRONZE), avec la synthèse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phrase de synthèse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 : « voici la qualité de ce qui nous est livré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0525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 de référence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Définition de l'âge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en échec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de début du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Date du jour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801160"/>
          <a:ext cx="10908792" cy="150876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535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moyen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la plus faible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Constat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419648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PHRASE DE SYNTHÈSE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712256"/>
            <a:ext cx="10908792" cy="414223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[Voici la qualité de ce qui nous est livré : …]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S2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S2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expectation porte l'identifiant de sa règle.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même suite se relance sur une autre base ou table sans modification de code.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mesure de référence est dans dq.dq_history (lot, couche, testées, échecs).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s'exécutent d'un seul geste (notebook relançable de bout en bout).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Intégrité et portes en SodaCL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3 · Soda Core · US-12, 14, 16 à 20. Mêmes contrôles en SodaCL, code retour qui peut fermer une porte, intégrité entre tables.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Checks Soda : une source de données par couche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contrôle porte l'identifiant de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code retour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scan : à quelle condition devient-il non nul ? Distinguez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échec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208483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Fichier de checks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Résultat (PASSED, WARN, FAILED)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Code retour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CODE RETOUR ET AVERTISSEMENTS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756099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COHÉRENCE AVEC GREAT EXPECTATIONS (S2)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5048707"/>
            <a:ext cx="5349240" cy="107777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[Écarts et explication]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d'intégrité et valeur sentinelle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US-16,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nombre d'orphelins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relation,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conclusion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chacune (anomalie, sentinelle, normal).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valeur sentinelle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assure_id : contrôle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avant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après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 chiffré,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convention écrite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Relation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Conclusion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contrat.souscripteur_id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contrat.assure_id → 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contrat.code_type → type_contrat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sinistre.contrat_id → 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152595"/>
          <a:ext cx="10908792" cy="905256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Contrôle sur assure_id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Orphelins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Avant traitement de la sentinelle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Après 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167579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CONVENTION (QUI TRAITE LA SENTINELLE, DANS QUELLE COUCHE) ET POURQUOI LE PREMIER CONTRÔLE EST TROMPEUR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5460187"/>
            <a:ext cx="10908792" cy="6662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Statuts, garantie et définition unique du client actif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US-18, 19, 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RQ-015, 016, 017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mesurées, avec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correction du 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proposée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(reportée au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client actif : les trois directions obtiennent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même 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13898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Couche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Testées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Échecs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RQ-017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75124"/>
          <a:ext cx="5669280" cy="138988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Direction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 avec la requête 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Commerciale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Risques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583680" y="427512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 DE CORRECTION DU STATUT PROPOSÉE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583680" y="4567732"/>
            <a:ext cx="4965192" cy="1558747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[Texte, rôle destinataire, date]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738164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Chemin de la requête du client actif et contrôle RQ-018 : à indiquer dans le dépôt.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S3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S3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RÈGLES ET TESTS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scan renvoie un code retour non nul quand une règle bloquante échoue.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contrôle porte l'identifiant de sa règle et la couche mesurée.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directions obtiennent le même chiffre avec la requête unique.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valeur sentinelle est expliquée et traitée.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Construire silver puis gold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4 · PySpark · US-21 à 28. Standardiser, mettre en quarantaine, re-mesurer, dédoublonner, construire gold, retracer.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Silver : traitements et quarantaine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US-21, 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traitement :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modifiées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garde-fou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(ce qu'il ne doit pas faire).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L'invariant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 + rejets = 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table par table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avec l'écart.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 d'idempotence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le traitement relancé deux fois donne le même résultat.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38988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Traitement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modifiées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Garde-fou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13224"/>
          <a:ext cx="10908792" cy="17373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(crm)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 (cif)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123736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Preuve d'idempotence et chemins des scripts : à indiquer dans le dépôt.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Rejets par règle et porte S : bronze contre silver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US-22, 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rejets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(dq.rejets) avec la raison métier.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chaque règle :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bronze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taux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silver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écart, et 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toute baisse.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bloquantes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la porte S : conformes sur silver, ou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pourquoi pas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987552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79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rejetées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Raison métier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3910888"/>
          <a:ext cx="10908792" cy="1975104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251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Sévérité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Taux 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 de l'écart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Dédoublonnage : paramètres et mesures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paramètres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retenus (normalisation, clés de blocage, similarité, seuils) avec leur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Précision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rappel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mesurés sur les 200 paires étiquetées ; nombre d'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identités distinctes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obtenu.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755648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Paramètre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Normalisation avant comparaison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Clé(s) de blocage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Mesure de similarité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fusion automatique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Seuil de la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399483"/>
          <a:ext cx="8229600" cy="1700784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Mesure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Groupes de doublons trouvés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fusionnées automatiquement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Paires en zone de revue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Précision / rappel sur les 200 paires étiquetées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Identités distinctes obtenues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9052560" y="4399483"/>
            <a:ext cx="249631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ZONE DE REVUE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9052560" y="4692091"/>
            <a:ext cx="2496312" cy="1434388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[Règle de décision proposée]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Golden record de la Société Meunier et règle de survie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 seul CLI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pour les quatre identifiants de la Société Meunier.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 de survie par attribut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et un cas où elle se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trompe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6949440" cy="150876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Identifiant source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Système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CLI attribué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225747"/>
          <a:ext cx="10908791" cy="16002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4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Attribut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retenue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(priorité, plus récent, non nul)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Cas où la règle se trompe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Nom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Adresse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Téléphone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Courriel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Reportez la règle de survie dans le journal des décisions, avec le rôle qui l'a décidée.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Gold : tables cohérentes et client actif unique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29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chaque table gold,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lignes écartées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la porte G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règles responsables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Aucun orphelin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gold ; client actif publié par 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vue unique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v_client_actif.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effet de la quarantaine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aval : un client écarté laisse-t-il des contrats orphelins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écartées (porte G)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Règles responsables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client_unique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xref_identifiants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sinistre_certifie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ORPHELINS ET CLIENT ACTIF PUBLIÉ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[Chiffres, écart avec CD-001]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6606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EFFET DE LA QUARANTAINE SUR L'INTÉGRITÉ EN AVAL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953304"/>
            <a:ext cx="5349240" cy="117317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Retracer trois données de gold jusqu'à la source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US-28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Pour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chacune des trois données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la valeur dans gold, les identifiants de ligne silver et bronze (avec le lot), la source (table, clé).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requête de traçabilité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dans le dépôt.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93796"/>
          <a:ext cx="10908792" cy="18288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Donnée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 (identifiants)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 (identifiants, lot)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Source (table, clé)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Société Meunier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 code postal à zéro initial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Une adresse de 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0" i="0">
                <a:solidFill>
                  <a:srgbClr val="B8C0C8"/>
                </a:solidFill>
                <a:latin typeface="Inter"/>
              </a:rPr>
              <a:t>Preuve (chemin du notebook, du fichier ou de la requête dans le dépôt) : </a:t>
            </a:r>
            <a:r>
              <a:rPr sz="1200" b="1" i="0">
                <a:solidFill>
                  <a:srgbClr val="F5A623"/>
                </a:solidFill>
                <a:latin typeface="Inter"/>
              </a:rPr>
              <a:t>…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S4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S4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SILVER, GOLD ET TRAÇABILITÉ · 25 %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Pour chaque table, silver + rejets = bronze, sans suppression silencieuse.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Relancer le traitement deux fois donne le même résultat.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règles bloquantes de la porte S sont conformes sur silver.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 gold ne contient aucun orphelin ; le client actif est publié par une seule vue.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Les trois traces remontent du gold à la source avec identifiants de ligne et de lot.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Certifier, publier, gouverner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Séance 5 · Porte C · US-29 à 35. Historique sur trois couches, certificat, publication refusée puis acceptée, catalogue.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Historique des mesures et courbes d'évolution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US-29, 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Une mesure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où la règle s'applique, pour chaque règle ; les couches non applicables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Toute règle qui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descend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d'une couche à l'autre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expliquée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(filtre, conversion, effet de la quarantaine).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courbe par dimension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(image insérée ci-dessous).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1" cy="197510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507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Évolution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Explication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89844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COURBES (INSÉREZ L'IMAGE, CHEMIN DU FICHIER DANS LE DÉPÔT)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5191048"/>
            <a:ext cx="10908792" cy="93543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ici les courbes par dimension et par couche]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Certificat de qualité : GO ou NO_GO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certificat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produit par requête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lié à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empreinte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gold.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épreuve du NO_GO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lot volontairement dégradé, décision obtenue, preuve.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règles bloquantes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 mesurées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votre pipeline, donc non couvertes.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6949440" cy="2340864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Numéro du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Lot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Décision (GO ou NO_GO)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Règles bloquantes testées / conformes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Écarts connus (avertissements)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Empreinte du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7F6F2"/>
                          </a:solidFill>
                          <a:latin typeface="Inter"/>
                        </a:rPr>
                        <a:t>Signataire (rôle)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863840" y="2786176"/>
            <a:ext cx="3685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ÉPREUVE DU NO_GO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7863840" y="3078784"/>
            <a:ext cx="3685032" cy="20848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[Comment dégradé, décision, preuve]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218480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RÈGLES NON COUVERTES PAR LE CERTIFICAT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40080" y="5511088"/>
            <a:ext cx="10908792" cy="61539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Publication vers le CRM : refus, chargement, réconciliation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quatre scénarios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avec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message obtenu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sans certificat, NO_GO, gold modifié, GO.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réconciliation RQ-025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après chargement : comptage et somme de contrôle, gold contre CRM cible.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chargement est-il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tout-ou-rien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? Comment l'avez-vous vérifié ?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86176"/>
          <a:ext cx="10908792" cy="17373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Scénario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Message obtenu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Chargement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Sans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NO_GO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Gold modifié après émission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Certificat GO, gold intact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" y="4633264"/>
          <a:ext cx="10908792" cy="1316736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Lignes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Somme CRM cible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client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contrat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sinistre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0080" y="602315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Tout-ou-rien : décrivez en une ligne comment vous l'avez vérifié, et le chemin du script de publication.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Gouvernance : catalogue, propriétaires, lineage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US-34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fiche de catalogue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: propriétaire, steward, définition, règles rattachées.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lineage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de gold.client_unique jusqu'aux sources.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9202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Propriétaire (Data Owner)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Steward (Data Steward)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Définition de « client actif » rattachée à la fiche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Règles RQ rattachées à la table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63722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LINEAGE DE GOLD.CLIENT_UNIQUE (LISTE OU SCHÉMA)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929835"/>
            <a:ext cx="10908792" cy="119664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[Insérez un schéma ou une liste : sources, bronze, silver, xref, gold]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Bilan de S5 : critères de fin et difficultés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S5 · BILAN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PREUVE ET CERTIFICAT · 20 %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critère coché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démontré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une page de ce livrable ou par un fichier du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difficultés sont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chiffrées en temps perdu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; un point de reprise utilisé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579827"/>
            <a:ext cx="5120640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Icône ok" descr="Icône o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735275"/>
            <a:ext cx="310896" cy="3108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9304" y="2753563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300" b="1" i="0" spc="120">
                <a:solidFill>
                  <a:srgbClr val="F7F6F2"/>
                </a:solidFill>
                <a:latin typeface="Inter"/>
              </a:rPr>
              <a:t>CRITÈRES DE FIN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3219907"/>
            <a:ext cx="4663440" cy="28151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Un lot volontairement dégradé produit un NO_GO, le lot nominal un GO.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La publication refuse sans certificat, avec NO_GO, et quand le gold a changé.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Après chargement, comptage et somme de contrôle sont égaux entre gold et CRM cible.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25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250" b="0" i="0">
                <a:solidFill>
                  <a:srgbClr val="F7F6F2"/>
                </a:solidFill>
                <a:latin typeface="Inter"/>
              </a:rPr>
              <a:t> Chaque décision de seuil ou de sévérité est attribuée à un rôle.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52160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Remplacez [ ] par [x] une fois le critère démontré.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5798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DIFFICULTÉS RENCONTRÉES ET TEMPS PERDU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5943600" y="2872435"/>
            <a:ext cx="5605272" cy="117043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418002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POINT DE REPRISE UTILISÉ (OUI / NON, LEQUEL)</a:t>
            </a:r>
          </a:p>
        </p:txBody>
      </p:sp>
      <p:sp>
        <p:nvSpPr>
          <p:cNvPr id="41" name="Zone à rédiger"/>
          <p:cNvSpPr/>
          <p:nvPr/>
        </p:nvSpPr>
        <p:spPr>
          <a:xfrm>
            <a:off x="5943600" y="4472635"/>
            <a:ext cx="5605272" cy="6217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5231587"/>
            <a:ext cx="560527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 QUE NOUS FERIONS AUTREMENT</a:t>
            </a:r>
          </a:p>
        </p:txBody>
      </p:sp>
      <p:sp>
        <p:nvSpPr>
          <p:cNvPr id="43" name="Zone à rédiger"/>
          <p:cNvSpPr/>
          <p:nvPr/>
        </p:nvSpPr>
        <p:spPr>
          <a:xfrm>
            <a:off x="5943600" y="5524195"/>
            <a:ext cx="5605272" cy="60228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Dossier go/no-go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38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Destinataire : la Directrice Générale. Un rapport court, sans jargon, quatre pages au plus hors annexes.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Recommandation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39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1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recommandation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GO, NO-GO ou GO sous conditions, dite en une phrase.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1" i="0">
                <a:solidFill>
                  <a:srgbClr val="F5A623"/>
                </a:solidFill>
                <a:latin typeface="Inter"/>
              </a:rPr>
              <a:t>Trois raisons chiffrées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chacune avec sa preuve dans le dépôt.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Lisible par une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non-technicienne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aucun sigle sans définition.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RECOMMANDATION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10908792" cy="804671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[GO, NO-GO ou GO sous conditions : une phrase]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1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40080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7304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2</a:t>
            </a:r>
          </a:p>
        </p:txBody>
      </p:sp>
      <p:sp>
        <p:nvSpPr>
          <p:cNvPr id="38" name="Zone à rédiger"/>
          <p:cNvSpPr/>
          <p:nvPr/>
        </p:nvSpPr>
        <p:spPr>
          <a:xfrm>
            <a:off x="4337304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34527" y="4066336"/>
            <a:ext cx="3514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RAISON CHIFFRÉE 3</a:t>
            </a:r>
          </a:p>
        </p:txBody>
      </p:sp>
      <p:sp>
        <p:nvSpPr>
          <p:cNvPr id="40" name="Zone à rédiger"/>
          <p:cNvSpPr/>
          <p:nvPr/>
        </p:nvSpPr>
        <p:spPr>
          <a:xfrm>
            <a:off x="8034527" y="4358944"/>
            <a:ext cx="3514344" cy="1767535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[Chiffre, couche, preuve]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preuves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2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qualité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par dimension et par couche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face au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 visé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certificat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joint (numéro, décision, empreinte)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trois données retracées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en trois lignes.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1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5623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Dimension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Bronze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Silver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Seuil visé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Atteint ?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Unicité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Complétude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Validité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Cohérence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CERTIFICAT JOINT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[Numéro, décision, empreinte]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500067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TROIS DONNÉES RETRACÉES, EN TROIS LIGNES</a:t>
            </a:r>
          </a:p>
        </p:txBody>
      </p:sp>
      <p:sp>
        <p:nvSpPr>
          <p:cNvPr id="37" name="Zone à rédiger"/>
          <p:cNvSpPr/>
          <p:nvPr/>
        </p:nvSpPr>
        <p:spPr>
          <a:xfrm>
            <a:off x="6199632" y="4792675"/>
            <a:ext cx="5349240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Les écarts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3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anomalies résiduelles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chiffrées, les lignes en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quarantaine par règle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avertissements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restants.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hypothèses à faire valider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par le métier : listées, jamais cachées.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34107"/>
          <a:ext cx="10908792" cy="18288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Écart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Chiffre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Conséquence pour le CRM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Qui doit agir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Anomalies résiduelles dans gold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Lignes en quarantaine, par règle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Avertissements restants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7F6F2"/>
                          </a:solidFill>
                          <a:latin typeface="Inter"/>
                        </a:rPr>
                        <a:t>Règles non couvertes par le certificat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4500067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HYPOTHÈSES À FAIRE VALIDER PAR LE MÉTIER</a:t>
            </a:r>
          </a:p>
        </p:txBody>
      </p:sp>
      <p:sp>
        <p:nvSpPr>
          <p:cNvPr id="35" name="Zone à rédiger"/>
          <p:cNvSpPr/>
          <p:nvPr/>
        </p:nvSpPr>
        <p:spPr>
          <a:xfrm>
            <a:off x="640080" y="4792675"/>
            <a:ext cx="10908792" cy="1333804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[Listez-les, une par ligne]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La décision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DOSSIER · 4 SUR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3231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3231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820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seuils retenus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justifiés devant le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Data Owner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(numéros du journal des décisions).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qui décide, qui contrôle, qui exécute ;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conditions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à lever, avec échéance et responsable.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signature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du Data Owner.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SEUILS RETENUS ET JUSTIFICATION</a:t>
            </a:r>
          </a:p>
        </p:txBody>
      </p:sp>
      <p:sp>
        <p:nvSpPr>
          <p:cNvPr id="34" name="Zone à rédiger"/>
          <p:cNvSpPr/>
          <p:nvPr/>
        </p:nvSpPr>
        <p:spPr>
          <a:xfrm>
            <a:off x="640080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[Renvoi au journal, numéros]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2831896"/>
            <a:ext cx="534924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RÔLES : DÉCIDE, CONTRÔLE, EXÉCUTE</a:t>
            </a:r>
          </a:p>
        </p:txBody>
      </p:sp>
      <p:sp>
        <p:nvSpPr>
          <p:cNvPr id="36" name="Zone à rédiger"/>
          <p:cNvSpPr/>
          <p:nvPr/>
        </p:nvSpPr>
        <p:spPr>
          <a:xfrm>
            <a:off x="6199632" y="3124504"/>
            <a:ext cx="5349240" cy="1078992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[Rédigez ici]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640080" y="4340656"/>
          <a:ext cx="10908792" cy="1042416"/>
        </p:xfrm>
        <a:graphic>
          <a:graphicData uri="http://schemas.openxmlformats.org/drawingml/2006/table">
            <a:tbl>
              <a:tblPr/>
              <a:tblGrid>
                <a:gridCol w="6217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Condition à lever avant migration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Responsable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i="0" spc="60">
                          <a:solidFill>
                            <a:srgbClr val="F5A623"/>
                          </a:solidFill>
                          <a:latin typeface="Inter"/>
                        </a:rPr>
                        <a:t>Échéance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640080" y="5520232"/>
            <a:ext cx="1090879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120">
                <a:solidFill>
                  <a:srgbClr val="F5A623"/>
                </a:solidFill>
                <a:latin typeface="Inter"/>
              </a:rPr>
              <a:t>SIGNATURE DU DATA OWNER (NOM, RÔLE, DATE)</a:t>
            </a:r>
          </a:p>
        </p:txBody>
      </p:sp>
      <p:sp>
        <p:nvSpPr>
          <p:cNvPr id="39" name="Zone à rédiger"/>
          <p:cNvSpPr/>
          <p:nvPr/>
        </p:nvSpPr>
        <p:spPr>
          <a:xfrm>
            <a:off x="640080" y="5812840"/>
            <a:ext cx="10908792" cy="313639"/>
          </a:xfrm>
          <a:prstGeom prst="rect">
            <a:avLst/>
          </a:prstGeom>
          <a:solidFill>
            <a:srgbClr val="2E2916"/>
          </a:solidFill>
          <a:ln w="12700">
            <a:solidFill>
              <a:srgbClr val="F5A62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rtlCol="0" anchor="t"/>
          <a:lstStyle/>
          <a:p>
            <a:pPr algn="l"/>
            <a:r>
              <a:rPr sz="1200" i="1">
                <a:solidFill>
                  <a:srgbClr val="8E99A4"/>
                </a:solidFill>
                <a:latin typeface="Inter"/>
              </a:rPr>
              <a:t>[Nom, rôle, date]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3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B8C0C8"/>
                </a:solidFill>
                <a:latin typeface="Inter"/>
              </a:rPr>
              <a:t>Journal des décisions, avancement par story, liens vers le dépôt.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Journal des décisions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285036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28503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7821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seuil, sévérité, définition ou règle de survie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: date, séance, règle, décision,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justification chiffrée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rôle décideur</a:t>
            </a:r>
            <a:r>
              <a:rPr sz="1300" b="0" i="0">
                <a:solidFill>
                  <a:srgbClr val="F7F6F2"/>
                </a:solidFill>
                <a:latin typeface="Inter"/>
              </a:rPr>
              <a:t>, alternative écartée.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décision sans rôle ni chiffre n'est pas une décision.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748076"/>
          <a:ext cx="10908792" cy="2432304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N°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Date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Règle ou objet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Décision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Justification chiffrée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Rôle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 spc="60">
                          <a:solidFill>
                            <a:srgbClr val="F5A623"/>
                          </a:solidFill>
                          <a:latin typeface="Inter"/>
                        </a:rPr>
                        <a:t>Alternative écartée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F7F6F2"/>
                          </a:solidFill>
                          <a:latin typeface="Inter"/>
                        </a:rPr>
                        <a:t>6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253532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Ajoutez des lignes si nécessaire. Exemples : sévérité d'une règle, seuil d'avertissement, convention de la sentinelle, seuils de rapprochement, règle de survie, seuil de la porte 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Avancement par story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6872" y="256032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 spc="120">
                <a:solidFill>
                  <a:srgbClr val="0F9B8E"/>
                </a:solidFill>
                <a:latin typeface="Inter"/>
              </a:rPr>
              <a:t>CRITÈRE : GOUVERNANCE ET DÉCISION · 15 %</a:t>
            </a:r>
          </a:p>
        </p:txBody>
      </p:sp>
      <p:sp>
        <p:nvSpPr>
          <p:cNvPr id="28" name="Attendu"/>
          <p:cNvSpPr/>
          <p:nvPr/>
        </p:nvSpPr>
        <p:spPr>
          <a:xfrm>
            <a:off x="640080" y="1325880"/>
            <a:ext cx="10908792" cy="10329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Attendu barre"/>
          <p:cNvSpPr/>
          <p:nvPr/>
        </p:nvSpPr>
        <p:spPr>
          <a:xfrm>
            <a:off x="640080" y="1325880"/>
            <a:ext cx="82296" cy="10329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1783080"/>
            <a:ext cx="10360152" cy="5300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Une ligne par story :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statut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(Fait, En cours, Bloqué, À faire) et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(chemin du dépôt). Pas de preuve, pas de « Fait ».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0080" y="2541727"/>
          <a:ext cx="10908792" cy="246888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Séance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Stories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Faites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En cours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Bloquées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Preuves principales (chemins)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S1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US-01 à 04, 06, 07, 09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S2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US-10, 11, 13, 15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S3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US-12, 14, 16 à 19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S4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US-21 à 25, 27, 28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S5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7F6F2"/>
                          </a:solidFill>
                          <a:latin typeface="Inter"/>
                        </a:rPr>
                        <a:t>US-29 à 32, 34, 35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0080" y="5102047"/>
            <a:ext cx="10908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8E99A4"/>
                </a:solidFill>
                <a:latin typeface="Inter"/>
              </a:rPr>
              <a:t>Le détail story par story est dans AVANCEMENT.md à la racine du dépôt.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Dépôt Git et étiquettes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ANNEXE C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SUR CETTE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L'</a:t>
            </a:r>
            <a:r>
              <a:rPr sz="1300" b="1" i="0">
                <a:solidFill>
                  <a:srgbClr val="F5A623"/>
                </a:solidFill>
                <a:latin typeface="Inter"/>
              </a:rPr>
              <a:t>adresse du dépôt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et les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étiquettes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posées : seance-1 à seance-5 et rendu-final.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Aucun fichier interdit dans le dépôt (data/, CSV, sauvegardes, .env).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0080" y="2579827"/>
          <a:ext cx="10908792" cy="292608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85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Élément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 spc="60">
                          <a:solidFill>
                            <a:srgbClr val="F5A623"/>
                          </a:solidFill>
                          <a:latin typeface="Inter"/>
                        </a:rPr>
                        <a:t>Valeur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A41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Adresse du dépôt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seance-1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seance-2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seance-3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seance-4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seance-5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7F6F2"/>
                          </a:solidFill>
                          <a:latin typeface="Inter"/>
                        </a:rPr>
                        <a:t>Étiquette rendu-final (date)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1C2E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F5A623"/>
                          </a:solidFill>
                          <a:latin typeface="Inter"/>
                        </a:rPr>
                        <a:t>…</a:t>
                      </a:r>
                    </a:p>
                  </a:txBody>
                  <a:tcPr marL="73152" marR="73152" anchor="ctr">
                    <a:lnL w="6350">
                      <a:solidFill>
                        <a:srgbClr val="2A4156"/>
                      </a:solidFill>
                    </a:lnL>
                    <a:lnR w="6350">
                      <a:solidFill>
                        <a:srgbClr val="2A4156"/>
                      </a:solidFill>
                    </a:lnR>
                    <a:lnT w="6350">
                      <a:solidFill>
                        <a:srgbClr val="2A4156"/>
                      </a:solidFill>
                    </a:lnT>
                    <a:lnB w="6350">
                      <a:solidFill>
                        <a:srgbClr val="2A4156"/>
                      </a:solidFill>
                    </a:lnB>
                    <a:solidFill>
                      <a:srgbClr val="2E29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100"/>
          </p:nvPr>
        </p:nvSpPr>
        <p:spPr>
          <a:xfrm>
            <a:off x="640080" y="502920"/>
            <a:ext cx="10908792" cy="731520"/>
          </a:xfrm>
        </p:spPr>
        <p:txBody>
          <a:bodyPr lIns="0" tIns="0" rIns="0" bIns="0"/>
          <a:lstStyle/>
          <a:p>
            <a:r>
              <a:rPr sz="2800"/>
              <a:t>Liste de contrôle du rendu final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20095" y="6309360"/>
            <a:ext cx="73152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0"/>
              <a:t>47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0080" y="256032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00" b="1" i="0" spc="200">
                <a:solidFill>
                  <a:srgbClr val="F5A623"/>
                </a:solidFill>
                <a:latin typeface="Inter"/>
              </a:rPr>
              <a:t>AVANT DE RENDRE</a:t>
            </a:r>
          </a:p>
        </p:txBody>
      </p:sp>
      <p:sp>
        <p:nvSpPr>
          <p:cNvPr id="27" name="Attendu"/>
          <p:cNvSpPr/>
          <p:nvPr/>
        </p:nvSpPr>
        <p:spPr>
          <a:xfrm>
            <a:off x="640080" y="1325880"/>
            <a:ext cx="10908792" cy="1071067"/>
          </a:xfrm>
          <a:prstGeom prst="rect">
            <a:avLst/>
          </a:prstGeom>
          <a:solidFill>
            <a:srgbClr val="2B2616"/>
          </a:solidFill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ttendu barre"/>
          <p:cNvSpPr/>
          <p:nvPr/>
        </p:nvSpPr>
        <p:spPr>
          <a:xfrm>
            <a:off x="640080" y="1325880"/>
            <a:ext cx="82296" cy="107106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Icône target" descr="Icône targ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1435607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261872" y="1444752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200" b="1" i="0" spc="140">
                <a:solidFill>
                  <a:srgbClr val="F5A623"/>
                </a:solidFill>
                <a:latin typeface="Inter"/>
              </a:rPr>
              <a:t>ATTENDU AVANT LE DÉPÔT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1783080"/>
            <a:ext cx="10360152" cy="5681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zone ambre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est complétée, ou le manque est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déclaré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bilan de la séance.</a:t>
            </a:r>
          </a:p>
          <a:p>
            <a:pPr marL="182880" indent="-182880">
              <a:lnSpc>
                <a:spcPct val="108000"/>
              </a:lnSpc>
              <a:spcAft>
                <a:spcPts val="300"/>
              </a:spcAft>
              <a:buClr>
                <a:srgbClr val="F5A623"/>
              </a:buClr>
              <a:buChar char="•"/>
            </a:pPr>
            <a:r>
              <a:rPr sz="1300" b="0" i="0">
                <a:solidFill>
                  <a:srgbClr val="F7F6F2"/>
                </a:solidFill>
                <a:latin typeface="Inter"/>
              </a:rPr>
              <a:t>Chaque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chiffre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a sa </a:t>
            </a:r>
            <a:r>
              <a:rPr sz="1300" b="1" i="0">
                <a:solidFill>
                  <a:srgbClr val="F5A623"/>
                </a:solidFill>
                <a:latin typeface="Inter"/>
              </a:rPr>
              <a:t>preuve</a:t>
            </a:r>
            <a:r>
              <a:rPr sz="1300" b="0" i="0">
                <a:solidFill>
                  <a:srgbClr val="F7F6F2"/>
                </a:solidFill>
                <a:latin typeface="Inter"/>
              </a:rPr>
              <a:t> dans le dépôt.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2579827"/>
            <a:ext cx="10908792" cy="3546652"/>
          </a:xfrm>
          <a:prstGeom prst="rect">
            <a:avLst/>
          </a:prstGeom>
          <a:solidFill>
            <a:srgbClr val="1C2E3D"/>
          </a:solidFill>
          <a:ln w="9525">
            <a:solidFill>
              <a:srgbClr val="2A41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2762707"/>
            <a:ext cx="10332720" cy="3272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Couverture : numéro du groupe, noms, date.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Équipe : rôles par séance et contribution de chaque membre.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Chaque page de séance : chiffres mesurés, preuve citée, conséquence attribuée à un rôle.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Les cinq bilans de séance : critères cochés avec preuve, difficultés chiffrées en temps.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Journal des décisions identique à celui du dépôt.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Dossier go/no-go : recommandation, preuves, écarts, décision signée.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400" b="0" i="0">
                <a:solidFill>
                  <a:srgbClr val="F7F6F2"/>
                </a:solidFill>
                <a:latin typeface="Consolas"/>
              </a:rPr>
              <a:t>[ ]</a:t>
            </a:r>
            <a:r>
              <a:rPr sz="1400" b="0" i="0">
                <a:solidFill>
                  <a:srgbClr val="F7F6F2"/>
                </a:solidFill>
                <a:latin typeface="Inter"/>
              </a:rPr>
              <a:t> Étiquette rendu-final posée et poussée ; export PDF du livrable joint au dépôt.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imal Insights - Sombre">
  <a:themeElements>
    <a:clrScheme name="Decimal Insights - Sombre">
      <a:dk1>
        <a:srgbClr val="F7F6F2"/>
      </a:dk1>
      <a:lt1>
        <a:srgbClr val="0D1B2A"/>
      </a:lt1>
      <a:dk2>
        <a:srgbClr val="B8C0C8"/>
      </a:dk2>
      <a:lt2>
        <a:srgbClr val="1C2E3D"/>
      </a:lt2>
      <a:accent1>
        <a:srgbClr val="F5A623"/>
      </a:accent1>
      <a:accent2>
        <a:srgbClr val="F5A623"/>
      </a:accent2>
      <a:accent3>
        <a:srgbClr val="8E99A4"/>
      </a:accent3>
      <a:accent4>
        <a:srgbClr val="5E6E7C"/>
      </a:accent4>
      <a:accent5>
        <a:srgbClr val="B8C0C8"/>
      </a:accent5>
      <a:accent6>
        <a:srgbClr val="F7F6F2"/>
      </a:accent6>
      <a:hlink>
        <a:srgbClr val="F5A623"/>
      </a:hlink>
      <a:folHlink>
        <a:srgbClr val="8E99A4"/>
      </a:folHlink>
    </a:clrScheme>
    <a:fontScheme name="Decimal Insights - Sombre">
      <a:majorFont>
        <a:latin typeface="Fraunces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1489</TotalTime>
  <Words>7480</Words>
  <Application>Microsoft Office PowerPoint</Application>
  <PresentationFormat>Grand écran</PresentationFormat>
  <Paragraphs>1483</Paragraphs>
  <Slides>47</Slides>
  <Notes>47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47</vt:i4>
      </vt:variant>
    </vt:vector>
  </HeadingPairs>
  <TitlesOfParts>
    <vt:vector size="52" baseType="lpstr">
      <vt:lpstr>Arial</vt:lpstr>
      <vt:lpstr>Consolas</vt:lpstr>
      <vt:lpstr>Fraunces SemiBold</vt:lpstr>
      <vt:lpstr>Inter</vt:lpstr>
      <vt:lpstr>Decimal Insights - Sombre</vt:lpstr>
      <vt:lpstr>Livrable de groupe</vt:lpstr>
      <vt:lpstr>Comment remplir ce modèle</vt:lpstr>
      <vt:lpstr>Où se trouve quoi, et ce que pèse chaque critère</vt:lpstr>
      <vt:lpstr>Membres, rôles par séance et contribution</vt:lpstr>
      <vt:lpstr>Notre compréhension du mandat</vt:lpstr>
      <vt:lpstr>Stack, profilage, bronze</vt:lpstr>
      <vt:lpstr>Inventaire des sources</vt:lpstr>
      <vt:lpstr>Bronze et porte B : la copie est-elle fidèle ?</vt:lpstr>
      <vt:lpstr>Épreuves de la porte B et méthode d'ingestion</vt:lpstr>
      <vt:lpstr>Profil de crm.client et motifs</vt:lpstr>
      <vt:lpstr>Dictionnaire du CIF : dix colonnes anonymes</vt:lpstr>
      <vt:lpstr>Trois directions, trois définitions du « client actif »</vt:lpstr>
      <vt:lpstr>Bilan de S1 : critères de fin et difficultés</vt:lpstr>
      <vt:lpstr>Règles en tests automatisés</vt:lpstr>
      <vt:lpstr>Règles en tests : une expectation par règle</vt:lpstr>
      <vt:lpstr>Pièges rencontrés et lignes en échec</vt:lpstr>
      <vt:lpstr>Âge à la bonne date et mesure de référence sur bronze</vt:lpstr>
      <vt:lpstr>Bilan de S2 : critères de fin et difficultés</vt:lpstr>
      <vt:lpstr>Intégrité et portes en SodaCL</vt:lpstr>
      <vt:lpstr>Checks Soda : une source de données par couche</vt:lpstr>
      <vt:lpstr>Bilan d'intégrité et valeur sentinelle</vt:lpstr>
      <vt:lpstr>Statuts, garantie et définition unique du client actif</vt:lpstr>
      <vt:lpstr>Bilan de S3 : critères de fin et difficultés</vt:lpstr>
      <vt:lpstr>Construire silver puis gold</vt:lpstr>
      <vt:lpstr>Silver : traitements et quarantaine</vt:lpstr>
      <vt:lpstr>Rejets par règle et porte S : bronze contre silver</vt:lpstr>
      <vt:lpstr>Dédoublonnage : paramètres et mesures</vt:lpstr>
      <vt:lpstr>Golden record de la Société Meunier et règle de survie</vt:lpstr>
      <vt:lpstr>Gold : tables cohérentes et client actif unique</vt:lpstr>
      <vt:lpstr>Retracer trois données de gold jusqu'à la source</vt:lpstr>
      <vt:lpstr>Bilan de S4 : critères de fin et difficultés</vt:lpstr>
      <vt:lpstr>Certifier, publier, gouverner</vt:lpstr>
      <vt:lpstr>Historique des mesures et courbes d'évolution</vt:lpstr>
      <vt:lpstr>Certificat de qualité : GO ou NO_GO</vt:lpstr>
      <vt:lpstr>Publication vers le CRM : refus, chargement, réconciliation</vt:lpstr>
      <vt:lpstr>Gouvernance : catalogue, propriétaires, lineage</vt:lpstr>
      <vt:lpstr>Bilan de S5 : critères de fin et difficultés</vt:lpstr>
      <vt:lpstr>Dossier go/no-go</vt:lpstr>
      <vt:lpstr>Recommandation</vt:lpstr>
      <vt:lpstr>Les preuves</vt:lpstr>
      <vt:lpstr>Les écarts</vt:lpstr>
      <vt:lpstr>La décision</vt:lpstr>
      <vt:lpstr>Annexes</vt:lpstr>
      <vt:lpstr>Journal des décisions</vt:lpstr>
      <vt:lpstr>Avancement par story</vt:lpstr>
      <vt:lpstr>Dépôt Git et étiquettes</vt:lpstr>
      <vt:lpstr>Liste de contrôle du rendu final</vt:lpstr>
    </vt:vector>
  </TitlesOfParts>
  <Company>Decimal Insights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Livrable de groupe : TD AssurConnect</dc:title>
  <dc:subject>Gouvernance, profilage et qualité des données</dc:subject>
  <dc:creator>Decimal Insights Consulting</dc:creator>
  <cp:lastModifiedBy>Sami Ramzi Rezig</cp:lastModifiedBy>
  <cp:revision>9</cp:revision>
  <dcterms:created xsi:type="dcterms:W3CDTF">2026-10-12T11:18:29Z</dcterms:created>
  <dcterms:modified xsi:type="dcterms:W3CDTF">2026-10-21T18:24:40Z</dcterms:modified>
</cp:coreProperties>
</file>