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31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454" dt="2026-10-24T11:32:32.9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-36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4T11:32:47.826" v="2099" actId="14100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2T11:57:31.933" v="1693" actId="20577"/>
        <pc:sldMkLst>
          <pc:docMk/>
          <pc:sldMk cId="0" sldId="278"/>
        </pc:sldMkLst>
        <pc:graphicFrameChg chg="mod modGraphic">
          <ac:chgData name="Sami Ramzi Rezig" userId="572d1711-ff67-49fd-9a5d-76c488e55421" providerId="ADAL" clId="{F0B34570-08E3-456C-A539-DC5BE340AC6A}" dt="2026-10-22T11:57:31.933" v="1693" actId="20577"/>
          <ac:graphicFrameMkLst>
            <pc:docMk/>
            <pc:sldMk cId="0" sldId="278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8:24:38.223" v="1671" actId="1076"/>
        <pc:sldMkLst>
          <pc:docMk/>
          <pc:sldMk cId="0" sldId="279"/>
        </pc:sldMkLst>
        <pc:spChg chg="mod">
          <ac:chgData name="Sami Ramzi Rezig" userId="572d1711-ff67-49fd-9a5d-76c488e55421" providerId="ADAL" clId="{F0B34570-08E3-456C-A539-DC5BE340AC6A}" dt="2026-10-21T18:24:38.223" v="1671" actId="1076"/>
          <ac:spMkLst>
            <pc:docMk/>
            <pc:sldMk cId="0" sldId="279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18:02:58.708" v="1488" actId="108"/>
          <ac:graphicFrameMkLst>
            <pc:docMk/>
            <pc:sldMk cId="0" sldId="279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21T18:22:06.121" v="1670"/>
          <ac:graphicFrameMkLst>
            <pc:docMk/>
            <pc:sldMk cId="0" sldId="279"/>
            <ac:graphicFrameMk id="34" creationId="{00000000-0000-0000-0000-000000000000}"/>
          </ac:graphicFrameMkLst>
        </pc:graphicFrameChg>
      </pc:sldChg>
      <pc:sldChg chg="addSp delSp modSp mod">
        <pc:chgData name="Sami Ramzi Rezig" userId="572d1711-ff67-49fd-9a5d-76c488e55421" providerId="ADAL" clId="{F0B34570-08E3-456C-A539-DC5BE340AC6A}" dt="2026-10-22T15:53:27.490" v="1865" actId="2165"/>
        <pc:sldMkLst>
          <pc:docMk/>
          <pc:sldMk cId="0" sldId="280"/>
        </pc:sldMkLst>
        <pc:graphicFrameChg chg="mod modGraphic">
          <ac:chgData name="Sami Ramzi Rezig" userId="572d1711-ff67-49fd-9a5d-76c488e55421" providerId="ADAL" clId="{F0B34570-08E3-456C-A539-DC5BE340AC6A}" dt="2026-10-22T15:06:27.187" v="1702"/>
          <ac:graphicFrameMkLst>
            <pc:docMk/>
            <pc:sldMk cId="0" sldId="280"/>
            <ac:graphicFrameMk id="33" creationId="{00000000-0000-0000-0000-000000000000}"/>
          </ac:graphicFrameMkLst>
        </pc:graphicFrameChg>
        <pc:graphicFrameChg chg="add del mod modGraphic">
          <ac:chgData name="Sami Ramzi Rezig" userId="572d1711-ff67-49fd-9a5d-76c488e55421" providerId="ADAL" clId="{F0B34570-08E3-456C-A539-DC5BE340AC6A}" dt="2026-10-22T15:53:27.490" v="1865" actId="2165"/>
          <ac:graphicFrameMkLst>
            <pc:docMk/>
            <pc:sldMk cId="0" sldId="280"/>
            <ac:graphicFrameMk id="34" creationId="{00000000-0000-0000-0000-000000000000}"/>
          </ac:graphicFrameMkLst>
        </pc:graphicFrameChg>
      </pc:sldChg>
      <pc:sldChg chg="addSp delSp modSp mod">
        <pc:chgData name="Sami Ramzi Rezig" userId="572d1711-ff67-49fd-9a5d-76c488e55421" providerId="ADAL" clId="{F0B34570-08E3-456C-A539-DC5BE340AC6A}" dt="2026-10-24T11:32:47.826" v="2099" actId="14100"/>
        <pc:sldMkLst>
          <pc:docMk/>
          <pc:sldMk cId="0" sldId="283"/>
        </pc:sldMkLst>
        <pc:spChg chg="mod">
          <ac:chgData name="Sami Ramzi Rezig" userId="572d1711-ff67-49fd-9a5d-76c488e55421" providerId="ADAL" clId="{F0B34570-08E3-456C-A539-DC5BE340AC6A}" dt="2026-10-24T11:32:47.826" v="2099" actId="14100"/>
          <ac:spMkLst>
            <pc:docMk/>
            <pc:sldMk cId="0" sldId="283"/>
            <ac:spMk id="35" creationId="{00000000-0000-0000-0000-000000000000}"/>
          </ac:spMkLst>
        </pc:spChg>
        <pc:spChg chg="add del mod">
          <ac:chgData name="Sami Ramzi Rezig" userId="572d1711-ff67-49fd-9a5d-76c488e55421" providerId="ADAL" clId="{F0B34570-08E3-456C-A539-DC5BE340AC6A}" dt="2026-10-24T11:32:44.322" v="2098" actId="14100"/>
          <ac:spMkLst>
            <pc:docMk/>
            <pc:sldMk cId="0" sldId="283"/>
            <ac:spMk id="37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4T11:29:26.916" v="2055" actId="20577"/>
          <ac:graphicFrameMkLst>
            <pc:docMk/>
            <pc:sldMk cId="0" sldId="283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2T15:56:35.962" v="1867"/>
        <pc:sldMkLst>
          <pc:docMk/>
          <pc:sldMk cId="341390768" sldId="311"/>
        </pc:sldMkLst>
        <pc:spChg chg="mod">
          <ac:chgData name="Sami Ramzi Rezig" userId="572d1711-ff67-49fd-9a5d-76c488e55421" providerId="ADAL" clId="{F0B34570-08E3-456C-A539-DC5BE340AC6A}" dt="2026-10-22T15:56:35.962" v="1867"/>
          <ac:spMkLst>
            <pc:docMk/>
            <pc:sldMk cId="341390768" sldId="311"/>
            <ac:spMk id="36" creationId="{D1C5D678-E5FB-0BA1-4C7F-1807C009E3E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18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8673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818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76592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283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811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346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1157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737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44401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224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226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01233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2014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84268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2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0439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91DB3-8BC3-76FB-264E-2642CAF0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F7CA4-26A5-FE49-56D0-063FE334B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66D0A-A5A3-00C1-405D-342F7FDC2B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CAD60-7F77-67E9-872D-326311D97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177328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85445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0898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03749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95837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5143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5905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841050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82677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9720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32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4562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28957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64280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34397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95898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1724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2784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47681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698220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3021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50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61351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63857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05434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324419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375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49245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1867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1052473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768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78709"/>
              </p:ext>
            </p:extLst>
          </p:nvPr>
        </p:nvGraphicFramePr>
        <p:xfrm>
          <a:off x="640080" y="2793796"/>
          <a:ext cx="10908792" cy="34747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9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En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échec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column_pair_values_A_to_be_greater_than_B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date_fin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&gt;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99,200 %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column_values_to_be_between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age_debut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≥ 18)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92996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301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99,676 %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\S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49 898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87,998 %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^\d{5}$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FR)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95437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39401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98,474 %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(prospect,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assure)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99,800 %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(12, 24, 36, 60)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600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99,400 %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crm_sinister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to_be_unique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clé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100000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313970"/>
              </p:ext>
            </p:extLst>
          </p:nvPr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nul, vide et blanc : tester seulement NULL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US-010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RQ-005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 étrangères (CRM) : filtre pays = FR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2317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comparaison exacte (casse) vs insensible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120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0402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598244"/>
              </p:ext>
            </p:extLst>
          </p:nvPr>
        </p:nvGraphicFramePr>
        <p:xfrm>
          <a:off x="640080" y="4185239"/>
          <a:ext cx="10908792" cy="1848612"/>
        </p:xfrm>
        <a:graphic>
          <a:graphicData uri="http://schemas.openxmlformats.org/drawingml/2006/table">
            <a:tbl>
              <a:tblPr/>
              <a:tblGrid>
                <a:gridCol w="1045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8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Famille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d'erreur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Durée nulle (fin = début) et dates inversées (fin avant début)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saisies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à la main,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sans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contrôle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cohérance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contrats : corriger les dates ; Data Steward : ajouter un contrôle à la saisie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Souscripteur de 16 ou 17 ans au début du contrat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Contrats jeunes conducteurs souscrits par un mineur, ou date de naissance erronée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Data </a:t>
                      </a:r>
                      <a:r>
                        <a:rPr lang="fr-FR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: décider si un mineur peut souscrire (avec garant ?)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Téléphone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NULL,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chaine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vide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ou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espaces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seuls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Champ téléphone facultatif dans le CRM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CRM : rendre le téléphone obligatoire pour un souscripteur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89233"/>
            <a:ext cx="10908792" cy="174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100" b="0" i="1" dirty="0">
                <a:solidFill>
                  <a:srgbClr val="8E99A4"/>
                </a:solidFill>
                <a:latin typeface="Inter"/>
              </a:rPr>
              <a:t>export complet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/us11_lignes_en_echec.csv ; échantillon commenté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/us11_echantillon_20_lignes_commentees.csv</a:t>
            </a:r>
            <a:endParaRPr sz="1100" b="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843991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843991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5371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962863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301191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documentée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avec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sa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date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et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cas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où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« à la date du jour »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donne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autre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résultat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mesure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écrite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dans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dq.dq_history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(couche BRONZE), avec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phrase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: «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voici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qualité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qui nous est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livré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159041"/>
              </p:ext>
            </p:extLst>
          </p:nvPr>
        </p:nvGraphicFramePr>
        <p:xfrm>
          <a:off x="640080" y="2340251"/>
          <a:ext cx="10908792" cy="103022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Date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référence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Définition</a:t>
                      </a:r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l'âge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révolu du souscripteur le jour de la signature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US-13 cellule 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calculé à la date de référence de l'audit (2026-10-01) au lieu de la date d'effet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157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US-13 cellule 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3040541"/>
              </p:ext>
            </p:extLst>
          </p:nvPr>
        </p:nvGraphicFramePr>
        <p:xfrm>
          <a:off x="640080" y="3487526"/>
          <a:ext cx="10908792" cy="2478024"/>
        </p:xfrm>
        <a:graphic>
          <a:graphicData uri="http://schemas.openxmlformats.org/drawingml/2006/table">
            <a:tbl>
              <a:tblPr/>
              <a:tblGrid>
                <a:gridCol w="115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2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RQ-020 (4 tables : CRM &amp; CIF)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100,00 %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aucune (0 échec)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Les clés primaires sont uniques et jamais nulles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(+ RQ-021 réconciliation à 100 %)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88,00 % (100 % sur RQ-021)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(87,998 %) — 5 989 échecs / 49 898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12 % des souscripteurs CRM n’ont pas de téléphone exploitable (NULL, vide ou blanc)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RQ-005(format), RQ-009(domaine), RQ-010(domaine), RQ-002(métier)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format 99,24 %, domaine 99,60 %, métier 99,68 %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 (98,474 %) : 1 456 CP FR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 CP FR à 4 chiffres (zéro perdu), 600 durées hors catalogue, 200 types de personne invalides, 301 souscripteurs mineurs au début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99,20 %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 (99,200 %) : 800 contrats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800 contrats ont une date de fin égale ou antérieure à la date de début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fr-FR" sz="1100" b="1" i="0" dirty="0">
                          <a:solidFill>
                            <a:srgbClr val="F7F6F2"/>
                          </a:solidFill>
                          <a:latin typeface="+mn-lt"/>
                        </a:rPr>
                        <a:t>Intégrité référentielle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98,48 %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RQ-007 sur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crm_client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(96,950 %)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3 050 pays du CRM hors référentiel ISO ; CIF 100 % conforme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32217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8CB-25EC-72BE-F35C-23A9F0660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A0975-F1F7-F42E-2475-3768986977C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BDFBCBF-14D3-FF74-5DD5-AF622F356D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9D31F-CC8C-885A-5C37-FC2F7436E511}"/>
              </a:ext>
            </a:extLst>
          </p:cNvPr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49CE49-403A-6534-4F7A-4C9254AF5D90}"/>
              </a:ext>
            </a:extLst>
          </p:cNvPr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985784-5C1E-0EB2-2B90-1FD8C80CDF92}"/>
              </a:ext>
            </a:extLst>
          </p:cNvPr>
          <p:cNvSpPr txBox="1"/>
          <p:nvPr/>
        </p:nvSpPr>
        <p:spPr>
          <a:xfrm>
            <a:off x="640080" y="108234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>
            <a:extLst>
              <a:ext uri="{FF2B5EF4-FFF2-40B4-BE49-F238E27FC236}">
                <a16:creationId xmlns:a16="http://schemas.microsoft.com/office/drawing/2014/main" id="{D1C5D678-E5FB-0BA1-4C7F-1807C009E3E6}"/>
              </a:ext>
            </a:extLst>
          </p:cNvPr>
          <p:cNvSpPr/>
          <p:nvPr/>
        </p:nvSpPr>
        <p:spPr>
          <a:xfrm>
            <a:off x="640080" y="1521558"/>
            <a:ext cx="10908792" cy="1323136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r>
              <a:rPr lang="fr-FR" sz="1200" i="1" dirty="0">
                <a:solidFill>
                  <a:srgbClr val="8E99A4"/>
                </a:solidFill>
              </a:rPr>
              <a:t>Sur le lot L-2026-10-01, ingéré sans perte en bronze (RQ-020, RQ-021 et RQ-022 à 100 %), la donnée brute n’est pas </a:t>
            </a:r>
            <a:r>
              <a:rPr lang="fr-FR" sz="1200" i="1" dirty="0" err="1">
                <a:solidFill>
                  <a:srgbClr val="8E99A4"/>
                </a:solidFill>
              </a:rPr>
              <a:t>migrable</a:t>
            </a:r>
            <a:r>
              <a:rPr lang="fr-FR" sz="1200" i="1" dirty="0">
                <a:solidFill>
                  <a:srgbClr val="8E99A4"/>
                </a:solidFill>
              </a:rPr>
              <a:t> en l’état : 5 règles bloquantes sont sous leur seuil, avec 3 050 pays hors référentiel (RQ-007), 800 contrats aux dates incohérentes (RQ-001), 600 durées hors catalogue (RQ-010), 301 souscripteurs mineurs à la signature (RQ-002) et 200 statuts hors domaine (RQ-009). S’y ajoutent 5 989 souscripteurs sans téléphone exploitable (RQ-003, 88,0 %) et 1 456 codes postaux français tronqués (RQ-005). L’âge étant calculé à la date de début du contrat, et non à la date du jour (qui n’en trouverait que 157), le passage par la standardisation et la quarantaine en silver est indispensable.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1390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16508"/>
              </p:ext>
            </p:extLst>
          </p:nvPr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RQ-020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</a:t>
                      </a:r>
                      <a:r>
                        <a:rPr lang="en-US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PASSED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2 (fichier)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</a:t>
                      </a:r>
                      <a:r>
                        <a:rPr lang="en-US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WARN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5 989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2 (fichier)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RQ-016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</a:t>
                      </a:r>
                      <a:r>
                        <a:rPr lang="en-US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integrite_checks.yml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WARN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955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RQ-012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soda/checks/bronze/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FAILED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1 000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RQ-017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soda/checks/bronze/sinistre_checks.yml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bronze 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FAILED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1200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2149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La commande soda scan renvoie 0 si tout passe, 1 s’il n’y a que des avertissements, et 2 dès qu’un contrôle échoue. Les règles d’avertissement (RQ-003, RQ-005, RQ-016) sont écrites avec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warn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: : elles sont signalées mais ne bloquent pas. Sur bronze, 11 règles bloquantes échouent, donc le code retour vaut 2 et la porte est fermée. Preuve : notebook S3, cellules US-12 7 et 8.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6"/>
            <a:ext cx="5349240" cy="121493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Soda et Great Expectations trouvent les mêmes nombres d’échecs pour les règles communes : RQ-001 (800), RQ-003 (5 989), RQ-005 (1 456), RQ-007 (3 050), RQ-009 (200), RQ-010 (600) et RQ-020 (0). La différence : GE juge avec un pourcentage (RQ-005 est conforme à 98,47 %), alors que Soda avertit dès la première ligne en erreur. Soda ajoute les règles entre tables (RQ-011 à RQ-018), et RQ-002 (l’âge) n’est mesurée qu’avec GE.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1570</TotalTime>
  <Words>8076</Words>
  <Application>Microsoft Office PowerPoint</Application>
  <PresentationFormat>Grand écran</PresentationFormat>
  <Paragraphs>1493</Paragraphs>
  <Slides>48</Slides>
  <Notes>48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48</vt:i4>
      </vt:variant>
    </vt:vector>
  </HeadingPairs>
  <TitlesOfParts>
    <vt:vector size="53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10</cp:revision>
  <dcterms:created xsi:type="dcterms:W3CDTF">2026-10-12T11:18:29Z</dcterms:created>
  <dcterms:modified xsi:type="dcterms:W3CDTF">2026-10-24T11:32:53Z</dcterms:modified>
</cp:coreProperties>
</file>