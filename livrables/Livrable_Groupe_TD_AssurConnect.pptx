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2CA34C-66B5-4347-BECC-F1463BCDF700}" v="36" dt="2026-10-14T14:39:57.7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 Ramzi Rezig" userId="572d1711-ff67-49fd-9a5d-76c488e55421" providerId="ADAL" clId="{F0B34570-08E3-456C-A539-DC5BE340AC6A}"/>
    <pc:docChg chg="undo custSel modSld">
      <pc:chgData name="Sami Ramzi Rezig" userId="572d1711-ff67-49fd-9a5d-76c488e55421" providerId="ADAL" clId="{F0B34570-08E3-456C-A539-DC5BE340AC6A}" dt="2026-10-14T15:00:37.216" v="315" actId="20577"/>
      <pc:docMkLst>
        <pc:docMk/>
      </pc:docMkLst>
      <pc:sldChg chg="modSp mod">
        <pc:chgData name="Sami Ramzi Rezig" userId="572d1711-ff67-49fd-9a5d-76c488e55421" providerId="ADAL" clId="{F0B34570-08E3-456C-A539-DC5BE340AC6A}" dt="2026-10-14T15:00:37.216" v="315" actId="20577"/>
        <pc:sldMkLst>
          <pc:docMk/>
          <pc:sldMk cId="0" sldId="264"/>
        </pc:sldMkLst>
        <pc:spChg chg="mod">
          <ac:chgData name="Sami Ramzi Rezig" userId="572d1711-ff67-49fd-9a5d-76c488e55421" providerId="ADAL" clId="{F0B34570-08E3-456C-A539-DC5BE340AC6A}" dt="2026-10-14T15:00:37.216" v="315" actId="20577"/>
          <ac:spMkLst>
            <pc:docMk/>
            <pc:sldMk cId="0" sldId="264"/>
            <ac:spMk id="4" creationId="{00000000-0000-0000-0000-000000000000}"/>
          </ac:spMkLst>
        </pc:spChg>
      </pc:sldChg>
      <pc:sldChg chg="modSp mod">
        <pc:chgData name="Sami Ramzi Rezig" userId="572d1711-ff67-49fd-9a5d-76c488e55421" providerId="ADAL" clId="{F0B34570-08E3-456C-A539-DC5BE340AC6A}" dt="2026-10-14T14:53:20.494" v="261" actId="20577"/>
        <pc:sldMkLst>
          <pc:docMk/>
          <pc:sldMk cId="0" sldId="267"/>
        </pc:sldMkLst>
        <pc:graphicFrameChg chg="modGraphic">
          <ac:chgData name="Sami Ramzi Rezig" userId="572d1711-ff67-49fd-9a5d-76c488e55421" providerId="ADAL" clId="{F0B34570-08E3-456C-A539-DC5BE340AC6A}" dt="2026-10-14T14:53:20.494" v="261" actId="20577"/>
          <ac:graphicFrameMkLst>
            <pc:docMk/>
            <pc:sldMk cId="0" sldId="267"/>
            <ac:graphicFrameMk id="32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4T14:59:42.612" v="313" actId="1076"/>
        <pc:sldMkLst>
          <pc:docMk/>
          <pc:sldMk cId="0" sldId="270"/>
        </pc:sldMkLst>
        <pc:spChg chg="mod">
          <ac:chgData name="Sami Ramzi Rezig" userId="572d1711-ff67-49fd-9a5d-76c488e55421" providerId="ADAL" clId="{F0B34570-08E3-456C-A539-DC5BE340AC6A}" dt="2026-10-14T14:59:42.612" v="313" actId="1076"/>
          <ac:spMkLst>
            <pc:docMk/>
            <pc:sldMk cId="0" sldId="270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4T14:53:52.369" v="266" actId="14100"/>
          <ac:graphicFrameMkLst>
            <pc:docMk/>
            <pc:sldMk cId="0" sldId="270"/>
            <ac:graphicFrameMk id="33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5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Modèle à compléter par chaque groupe. Remplacez les crochets de la couverture. Ne supprimez aucun encadré « Attendu » : la grille de notation s'y réfère.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Lisez cette page avant de rédiger. Les chiffres que vous reportez viennent de vos mesures (dq.dq_history, scans Soda, requêtes du notebook), jamais d'un autre groupe ni d'un tutoriel.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grille est celle du dossier go/no-go. Le livrable de séance et le dossier final sont évalués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Renseignez cette page dès la fin de l'ouverture de S1, puis mettez-la à jour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Cinq lignes par zone. Pas de copier-coller de l'énoncé : reformulez.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comptez avec une requête, pas à l'œil. Indiquez le notebook qui contient la requête.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porte B juge la fidélité de la copie, pas la qualité des valeurs. Un écart nul est un résultat à documenter.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l'épreuve de l'écart volontaire prouve que votre porte détecte quelque chose. Sans elle, une porte toujours verte ne prouve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distinguez NULL, vide et blanc. Un constat sans valeur mesurée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justification est un chiffre (taux de valeurs au format X, nombre de distincts, plage), pas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trois chiffres sont vrais pour trois questions différentes. Le problème est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sans nombre de lignes testées est ininterprétable. Reportez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nommez la famille d'erreur. « Valeurs incorrectes » n'est pas une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si Soda et Great Expectations donnent des chiffres différents pour la même règle, expliquez pourquoi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élevé de lignes en échec sur une clé étrangère est un indice de valeur sentinelle avant d'être une anomalie.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de correction proposée sans rôle destinataire n'est pas 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rien n'est supprimé en silence. Chaque ligne absente de silver est dans dq.rejets avec le code de sa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qui baisse de bronze à silver n'est pas forcément un bug. Cherchez d'abord un effet de la quarantaine (lignes devenues orphelines).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seuils se défendent par la précision et le rappel mesurés, pas par un ressenti. Reportez-les dans le journal des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règle de survie est une décision de gouvernance, pas un détail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constat expliqué (un contrat orphelin parce que son client a été mis en quarantaine) est un résultat,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trois lignes par cas suffisent : gold, silver, bronze, source. Un identifiant de lot est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insérez l'image des courbes dans la zone. Une courbe sans légende ni axe nommé n'est pas lisible par un non-technicien.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certificat qui ne mentionne pas ce qu'il ne couvre pas est trompeur. Listez les règles non mesurées.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preuve d'un refus est le message du script, pas une capture du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lineage lisible va des sources à la table gold sans saut.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ne présentez pas un GO que le certificat contredit. Un NO-GO bien argumenté vaut un GO bien argumenté.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chiffres de cette page sont ceux de S5, sans retouche.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écart non chiffré n'est pas un écart, c'est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décision est attribuée à un rôle, pas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 journal doit être identique à celui du dépôt (livrables/JOURNAL_DECISIONS.md).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Reprenez les totaux de AVANCEMENT.md.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Les étiquettes fixent l'état rendu à la fin de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Cochez en remplaçant [ ] par [x].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097280"/>
            <a:ext cx="4754880" cy="475488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0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5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25196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557784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8288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82880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72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72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32004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pic>
        <p:nvPicPr>
          <p:cNvPr id="6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3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1091153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4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lonn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30936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5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ffres cl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Shape 0"/>
          <p:cNvSpPr/>
          <p:nvPr/>
        </p:nvSpPr>
        <p:spPr>
          <a:xfrm>
            <a:off x="64008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38912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3816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7" name="Shape 4"/>
          <p:cNvSpPr/>
          <p:nvPr/>
        </p:nvSpPr>
        <p:spPr>
          <a:xfrm>
            <a:off x="470916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8" name="Shape 5"/>
          <p:cNvSpPr/>
          <p:nvPr/>
        </p:nvSpPr>
        <p:spPr>
          <a:xfrm>
            <a:off x="845820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9" name="Text 6"/>
          <p:cNvSpPr>
            <a:spLocks noGrp="1"/>
          </p:cNvSpPr>
          <p:nvPr>
            <p:ph type="body" idx="107" hasCustomPrompt="1"/>
          </p:nvPr>
        </p:nvSpPr>
        <p:spPr>
          <a:xfrm>
            <a:off x="96012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0" name="Text 6"/>
          <p:cNvSpPr>
            <a:spLocks noGrp="1"/>
          </p:cNvSpPr>
          <p:nvPr>
            <p:ph type="body" idx="108" hasCustomPrompt="1"/>
          </p:nvPr>
        </p:nvSpPr>
        <p:spPr>
          <a:xfrm>
            <a:off x="470916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1" name="Text 6"/>
          <p:cNvSpPr>
            <a:spLocks noGrp="1"/>
          </p:cNvSpPr>
          <p:nvPr>
            <p:ph type="body" idx="109" hasCustomPrompt="1"/>
          </p:nvPr>
        </p:nvSpPr>
        <p:spPr>
          <a:xfrm>
            <a:off x="845820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2" name="Text 6"/>
          <p:cNvSpPr>
            <a:spLocks noGrp="1"/>
          </p:cNvSpPr>
          <p:nvPr>
            <p:ph type="body" idx="110" hasCustomPrompt="1"/>
          </p:nvPr>
        </p:nvSpPr>
        <p:spPr>
          <a:xfrm>
            <a:off x="96012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470916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4" name="Text 6"/>
          <p:cNvSpPr>
            <a:spLocks noGrp="1"/>
          </p:cNvSpPr>
          <p:nvPr>
            <p:ph type="body" idx="112" hasCustomPrompt="1"/>
          </p:nvPr>
        </p:nvSpPr>
        <p:spPr>
          <a:xfrm>
            <a:off x="845820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5" name="Text 6"/>
          <p:cNvSpPr>
            <a:spLocks noGrp="1"/>
          </p:cNvSpPr>
          <p:nvPr>
            <p:ph type="body" idx="113" hasCustomPrompt="1"/>
          </p:nvPr>
        </p:nvSpPr>
        <p:spPr>
          <a:xfrm>
            <a:off x="640080" y="525780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6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48640"/>
            <a:ext cx="1920240" cy="19202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05840" y="1737360"/>
            <a:ext cx="8229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00584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5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80160"/>
            <a:ext cx="4572000" cy="457200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023360"/>
            <a:ext cx="6400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Livrable de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TD AssurConnect : gouvernance, profilage et qualité des données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dirty="0"/>
              <a:t>GROUPE [N°01] · [NOMS DES MEMBRES]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Comment remplir ce modèle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MODE D'EMPLOI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3716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72768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40" y="14447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Encadré ambre « Attendu 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14447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2860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Icône pen" descr="Icône 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487168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63040" y="23591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Cellule ou zone ambre sombre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3591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2004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Icône chart" descr="Icône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01568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2735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Une page prouve, elle ne raconte pas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735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 mesuré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conséquence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attribuée à un rôle.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1148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Icône branch" descr="Icône bran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15968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63040" y="41879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Le dépôt Git est la preuve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1879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sz="1300" b="0" i="0">
                <a:solidFill>
                  <a:srgbClr val="F7F6F2"/>
                </a:solidFill>
                <a:latin typeface="Consolas"/>
              </a:rPr>
              <a:t>seance-N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posée en fin de chaque séance.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0292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Icône warn" descr="Icône war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230368"/>
            <a:ext cx="402336" cy="40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63040" y="51023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Si vous n'avez pas fini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51023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Où se trouve quoi, et ce que pèse chaque critère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PLAN DU LIVRABLE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0080" y="1371600"/>
          <a:ext cx="10908792" cy="307238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" y="458114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Membres, rôles par séance et contribution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ÉQUIPE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 tournent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vérifiable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70306"/>
              </p:ext>
            </p:extLst>
          </p:nvPr>
        </p:nvGraphicFramePr>
        <p:xfrm>
          <a:off x="640080" y="2579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Sami Rezig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Meriem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Benayache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Housni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Achbouq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Mohamed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Gourainy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0080" y="4481779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865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Notre compréhension du mandat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CONTEXTE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Direction Générale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reformulée avec vos mots.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périmètre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gouvernance et ce que chacun décide.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MANDAT ET CONDITION DE LA DG</a:t>
            </a:r>
          </a:p>
        </p:txBody>
      </p:sp>
      <p:sp>
        <p:nvSpPr>
          <p:cNvPr id="33" name="Zone à rédiger"/>
          <p:cNvSpPr/>
          <p:nvPr/>
        </p:nvSpPr>
        <p:spPr>
          <a:xfrm>
            <a:off x="640080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PÉRIMÈTRE ET RÔLES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245352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Stack, profilage,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Inventaire des sources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 dirty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sept tables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nombre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mesuré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primaire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observation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chiffrée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par table (nulls,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doublons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clé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,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particularités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89611"/>
              </p:ext>
            </p:extLst>
          </p:nvPr>
        </p:nvGraphicFramePr>
        <p:xfrm>
          <a:off x="640080" y="2579829"/>
          <a:ext cx="10908791" cy="36423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9996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Clé primaire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Client_id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133918 nuls sur 6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(95723) ; 4277 personnes morales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renseignée, nom vide)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7460 nuls sur 1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date_derniere_cotisation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(7460) ; 40000 contrats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assure_id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= '0' (valeur sentinelle)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Sinistre_id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 canaux de saisie, 62782 contrats distincts concernés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Code_type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12 types répartis sur 3 branches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26486 nuls sur 4 colonne(s), max sur column9 (18872) ; 10 colonnes aux noms anonymes (column0 à column9), sans documentation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45000 comptes pour 40000 identifiants CIF distincts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250 pays dans le référentiel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4182175" y="625995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</a:t>
            </a:r>
            <a:r>
              <a:rPr lang="fr-FR" sz="1200" b="0" i="0" dirty="0">
                <a:solidFill>
                  <a:srgbClr val="B8C0C8"/>
                </a:solidFill>
                <a:latin typeface="Inter"/>
              </a:rPr>
              <a:t>td-qualite-01/notebook/S1-01.ipynb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Bronze et porte B : la copie est-elle fidèle ?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RQ-021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(comptage)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RQ-022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même quand l'écart est nul.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métadonnées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(lot, source, horodatage, empreinte de ligne).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Épreuves de la porte B et méthode d'ingestion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épreuves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résultat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79827"/>
          <a:ext cx="10908792" cy="201168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Écart introduit volontairement sur une copie : la porte échoue-t-elle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problème de conversion rencontré (décimales, NULL, accents) et sa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2010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MÉTHODE D'INGESTION EN TROIS LIGNES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12715"/>
            <a:ext cx="10908792" cy="101376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Profil de crm.client et motifs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US-06, 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 moins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motifs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75104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Indicateur (nulls, vides, distincts, motif)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mesurée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46371"/>
          <a:ext cx="10908792" cy="131673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Motif testé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Exemple non conforme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Dictionnaire du CIF : dix colonnes anonymes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(comment l'avez-vous déduit ?).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496007"/>
          <a:ext cx="10908792" cy="3520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Trois directions, trois définitions du « client actif 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écart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CD-001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la conséquence pour la gouvernance.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79827"/>
          <a:ext cx="10908792" cy="15361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34461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637227"/>
            <a:ext cx="10908792" cy="148925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S1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Règles en tests automatisés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Règles en tests : une expectation par règle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rule_id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292608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1131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Sévérité : bloquante ou avertissement. Chemin des suites de validation : voir le dépôt, reports/ge/gx/expectations.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Pièges rencontrés et lignes en échec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US-10,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pièges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correction.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04241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27652"/>
          <a:ext cx="10908792" cy="1389888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Famille d'erreur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089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Chemins : export complet des lignes en échec ; échantillon commenté de 20 lignes.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RQ-002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 avec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« à la date du jour » donne un autre résultat.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mesure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écrite dans dq.dq_history (couche BRONZE), avec la synthèse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phrase de synthèse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 : « voici la qualité de ce qui nous est livré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0525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 de référence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de l'âge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801160"/>
          <a:ext cx="10908792" cy="15087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1964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PHRASE DE SYNTHÈSE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712256"/>
            <a:ext cx="10908792" cy="414223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[Voici la qualité de ce qui nous est livré : …]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S2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Intégrité et portes en SodaCL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Checks Soda : une source de données par couche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code retour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échec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208483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CODE RETOUR ET AVERTISSEMENTS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COHÉRENCE AVEC GREAT EXPECTATIONS (S2)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[Écarts et explication]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d'intégrité et valeur sentinelle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US-16,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d'orphelins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conclusion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chacune (anomalie, sentinelle, normal).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valeur sentinelle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 chiffré,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convention écrite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152595"/>
          <a:ext cx="10908792" cy="905256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16757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460187"/>
            <a:ext cx="10908792" cy="6662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Statuts, garantie et définition unique du client actif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US-18, 19,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RQ-015, 016, 017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proposée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(reportée au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même 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75124"/>
          <a:ext cx="5669280" cy="138988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27512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 DE CORRECTION DU STATUT PROPOSÉE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583680" y="4567732"/>
            <a:ext cx="4965192" cy="155874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[Texte, rôle destinataire, date]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3816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S3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valeur sentinelle est expliquée et traitée.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Construire silver puis gold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Silver : traitements et quarantaine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US-21, 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modifiées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garde-fou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(ce qu'il ne doit pas faire).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L'invariant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l'écart.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 d'idempotence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3898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13224"/>
          <a:ext cx="10908792" cy="1737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2373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Rejets par règle et porte S : bronze contre silver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US-22, 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rejets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(dq.rejets) avec la raison métier.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écart, et 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toute baisse.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bloquantes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pourquoi pas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875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10888"/>
          <a:ext cx="10908792" cy="1975104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Dédoublonnage : paramètres et mesures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Précision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rappel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obtenu.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75564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99483"/>
          <a:ext cx="8229600" cy="1700784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9052560" y="4399483"/>
            <a:ext cx="249631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ZONE DE REVUE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9052560" y="4692091"/>
            <a:ext cx="2496312" cy="1434388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[Règle de décision proposée]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Golden record de la Société Meunier et règle de survie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 seul CLI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trompe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6949440" cy="1508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25747"/>
          <a:ext cx="10908791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 : tables cohérentes et client actif unique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écartées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règles responsables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Aucun orphelin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vue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v_client_actif.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ORPHELINS ET CLIENT ACTIF PUBLIÉ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[Chiffres, écart avec CD-001]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EFFET DE LA QUARANTAINE SUR L'INTÉGRITÉ EN AVAL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Retracer trois données de gold jusqu'à la source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dans le dépôt.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S4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Certifier, publier, gouverner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Historique des mesures et courbes d'évolution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US-29,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Toute règle qui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descend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expliquée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(filtre, conversion, effet de la quarantaine).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courbe 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(image insérée ci-dessous).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1" cy="197510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9844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91048"/>
            <a:ext cx="10908792" cy="93543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Certificat de qualité : GO ou NO_GO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certificat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produit par requête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lié à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empreinte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gold.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épreuve du NO_GO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 mesurées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votre pipeline, donc non couvertes.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6949440" cy="234086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863840" y="2786176"/>
            <a:ext cx="3685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ÉPREUVE DU NO_GO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7863840" y="3078784"/>
            <a:ext cx="3685032" cy="20848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[Comment dégradé, décision, preuve]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848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RÈGLES NON COUVERTES PAR LE CERTIFICAT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40080" y="5511088"/>
            <a:ext cx="10908792" cy="61539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Publication vers le CRM : refus, chargement, réconciliation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scénarios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message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sans certificat, NO_GO, gold modifié, GO.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tout-ou-rien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? Comment l'avez-vous vérifié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33264"/>
          <a:ext cx="10908792" cy="131673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2315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Gouvernance : catalogue, propriétaires, lineage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fiche de catalogue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lineage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jusqu'aux sources.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202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3722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LINEAGE DE GOLD.CLIENT_UNIQUE (LISTE OU SCHÉMA)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29835"/>
            <a:ext cx="10908792" cy="119664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S5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Dossier go/no-go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Recommandation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1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recommandation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chacune avec sa preuve dans le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Lisible par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non-technicienne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aucun sigle sans définition.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RECOMMANDATION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10908792" cy="80467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[GO, NO-GO ou GO sous conditions : une phrase]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1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7304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2</a:t>
            </a:r>
          </a:p>
        </p:txBody>
      </p:sp>
      <p:sp>
        <p:nvSpPr>
          <p:cNvPr id="38" name="Zone à rédiger"/>
          <p:cNvSpPr/>
          <p:nvPr/>
        </p:nvSpPr>
        <p:spPr>
          <a:xfrm>
            <a:off x="4337304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527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3</a:t>
            </a:r>
          </a:p>
        </p:txBody>
      </p:sp>
      <p:sp>
        <p:nvSpPr>
          <p:cNvPr id="40" name="Zone à rédiger"/>
          <p:cNvSpPr/>
          <p:nvPr/>
        </p:nvSpPr>
        <p:spPr>
          <a:xfrm>
            <a:off x="8034527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preuves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2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qualité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face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 visé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certificat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trois lignes.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1828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CERTIFICAT JOINT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[Numéro, décision, empreinte]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TROIS DONNÉES RETRACÉES, EN TROIS LIGNES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écarts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3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restants.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le métier : listées, jamais cachées.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HYPOTHÈSES À FAIRE VALIDER PAR LE MÉTIER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10908792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[Listez-les, une par ligne]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La décision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4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seuils retenus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(numéros du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conditions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lever, avec échéance et responsable.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signature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Data Owner.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SEUILS RETENUS ET JUSTIFICATION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[Renvoi au journal, numéros]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RÔLES : DÉCIDE, CONTRÔLE, EXÉCUTE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199632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4340656"/>
          <a:ext cx="10908792" cy="1042416"/>
        </p:xfrm>
        <a:graphic>
          <a:graphicData uri="http://schemas.openxmlformats.org/drawingml/2006/table">
            <a:tbl>
              <a:tblPr/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20232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SIGNATURE DU DATA OWNER (NOM, RÔLE, DATE)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640080" y="5812840"/>
            <a:ext cx="10908792" cy="313639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[Nom, rôle, date]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Journal des décisions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 décideur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alternative écartée.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243230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25353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Avancement par story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41727"/>
          <a:ext cx="10908792" cy="24688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102047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Dépôt Git et étiquettes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C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adresse du dépôt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étiquettes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posées : seance-1 à seance-5 et rendu-final.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8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Liste de contrôle du rendu final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AVANT DE RENDRE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AVANT LE DÉPÔT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zone ambre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bilan de la séance.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dépôt.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79827"/>
            <a:ext cx="10908792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2762707"/>
            <a:ext cx="10332720" cy="3272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Couverture : numéro du groupe, noms, date.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mal Insights - Sombre">
  <a:themeElements>
    <a:clrScheme name="Decimal Insights - Sombre">
      <a:dk1>
        <a:srgbClr val="F7F6F2"/>
      </a:dk1>
      <a:lt1>
        <a:srgbClr val="0D1B2A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Decimal Insights - Sombre">
      <a:majorFont>
        <a:latin typeface="Fraunce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997</TotalTime>
  <Words>6469</Words>
  <Application>Microsoft Office PowerPoint</Application>
  <PresentationFormat>Grand écran</PresentationFormat>
  <Paragraphs>1473</Paragraphs>
  <Slides>47</Slides>
  <Notes>47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47</vt:i4>
      </vt:variant>
    </vt:vector>
  </HeadingPairs>
  <TitlesOfParts>
    <vt:vector size="52" baseType="lpstr">
      <vt:lpstr>Arial</vt:lpstr>
      <vt:lpstr>Consolas</vt:lpstr>
      <vt:lpstr>Fraunces SemiBold</vt:lpstr>
      <vt:lpstr>Inter</vt:lpstr>
      <vt:lpstr>Decimal Insights - Sombre</vt:lpstr>
      <vt:lpstr>Livrable de groupe</vt:lpstr>
      <vt:lpstr>Comment remplir ce modèle</vt:lpstr>
      <vt:lpstr>Où se trouve quoi, et ce que pèse chaque critère</vt:lpstr>
      <vt:lpstr>Membres, rôles par séance et contribution</vt:lpstr>
      <vt:lpstr>Notre compréhension du mandat</vt:lpstr>
      <vt:lpstr>Stack, profilage, bronze</vt:lpstr>
      <vt:lpstr>Inventaire des sources</vt:lpstr>
      <vt:lpstr>Bronze et porte B : la copie est-elle fidèle ?</vt:lpstr>
      <vt:lpstr>Épreuves de la porte B et méthode d'ingestion</vt:lpstr>
      <vt:lpstr>Profil de crm.client et motifs</vt:lpstr>
      <vt:lpstr>Dictionnaire du CIF : dix colonnes anonymes</vt:lpstr>
      <vt:lpstr>Trois directions, trois définitions du « client actif »</vt:lpstr>
      <vt:lpstr>Bilan de S1 : critères de fin et difficultés</vt:lpstr>
      <vt:lpstr>Règles en tests automatisés</vt:lpstr>
      <vt:lpstr>Règles en tests : une expectation par règle</vt:lpstr>
      <vt:lpstr>Pièges rencontrés et lignes en échec</vt:lpstr>
      <vt:lpstr>Âge à la bonne date et mesure de référence sur bronze</vt:lpstr>
      <vt:lpstr>Bilan de S2 : critères de fin et difficultés</vt:lpstr>
      <vt:lpstr>Intégrité et portes en SodaCL</vt:lpstr>
      <vt:lpstr>Checks Soda : une source de données par couche</vt:lpstr>
      <vt:lpstr>Bilan d'intégrité et valeur sentinelle</vt:lpstr>
      <vt:lpstr>Statuts, garantie et définition unique du client actif</vt:lpstr>
      <vt:lpstr>Bilan de S3 : critères de fin et difficultés</vt:lpstr>
      <vt:lpstr>Construire silver puis gold</vt:lpstr>
      <vt:lpstr>Silver : traitements et quarantaine</vt:lpstr>
      <vt:lpstr>Rejets par règle et porte S : bronze contre silver</vt:lpstr>
      <vt:lpstr>Dédoublonnage : paramètres et mesures</vt:lpstr>
      <vt:lpstr>Golden record de la Société Meunier et règle de survie</vt:lpstr>
      <vt:lpstr>Gold : tables cohérentes et client actif unique</vt:lpstr>
      <vt:lpstr>Retracer trois données de gold jusqu'à la source</vt:lpstr>
      <vt:lpstr>Bilan de S4 : critères de fin et difficultés</vt:lpstr>
      <vt:lpstr>Certifier, publier, gouverner</vt:lpstr>
      <vt:lpstr>Historique des mesures et courbes d'évolution</vt:lpstr>
      <vt:lpstr>Certificat de qualité : GO ou NO_GO</vt:lpstr>
      <vt:lpstr>Publication vers le CRM : refus, chargement, réconciliation</vt:lpstr>
      <vt:lpstr>Gouvernance : catalogue, propriétaires, lineage</vt:lpstr>
      <vt:lpstr>Bilan de S5 : critères de fin et difficultés</vt:lpstr>
      <vt:lpstr>Dossier go/no-go</vt:lpstr>
      <vt:lpstr>Recommandation</vt:lpstr>
      <vt:lpstr>Les preuves</vt:lpstr>
      <vt:lpstr>Les écarts</vt:lpstr>
      <vt:lpstr>La décision</vt:lpstr>
      <vt:lpstr>Annexes</vt:lpstr>
      <vt:lpstr>Journal des décisions</vt:lpstr>
      <vt:lpstr>Avancement par story</vt:lpstr>
      <vt:lpstr>Dépôt Git et étiquettes</vt:lpstr>
      <vt:lpstr>Liste de contrôle du rendu final</vt:lpstr>
    </vt:vector>
  </TitlesOfParts>
  <Company>Decimal Insights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Livrable de groupe : TD AssurConnect</dc:title>
  <dc:subject>Gouvernance, profilage et qualité des données</dc:subject>
  <dc:creator>Decimal Insights Consulting</dc:creator>
  <cp:lastModifiedBy>Sami Ramzi Rezig</cp:lastModifiedBy>
  <cp:revision>2</cp:revision>
  <dcterms:created xsi:type="dcterms:W3CDTF">2026-10-12T11:18:29Z</dcterms:created>
  <dcterms:modified xsi:type="dcterms:W3CDTF">2026-10-14T15:00:55Z</dcterms:modified>
</cp:coreProperties>
</file>