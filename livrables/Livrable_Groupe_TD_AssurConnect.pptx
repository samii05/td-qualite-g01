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C29220-F6F8-4D02-9CC4-2003451A8B0F}" v="36" dt="2026-10-15T10:02:44.634"/>
    <p1510:client id="{D62CA34C-66B5-4347-BECC-F1463BCDF700}" v="36" dt="2026-10-14T14:39:57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-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 Ramzi Rezig" userId="572d1711-ff67-49fd-9a5d-76c488e55421" providerId="ADAL" clId="{F0B34570-08E3-456C-A539-DC5BE340AC6A}"/>
    <pc:docChg chg="undo custSel modSld">
      <pc:chgData name="Sami Ramzi Rezig" userId="572d1711-ff67-49fd-9a5d-76c488e55421" providerId="ADAL" clId="{F0B34570-08E3-456C-A539-DC5BE340AC6A}" dt="2026-10-15T10:06:39.986" v="525" actId="113"/>
      <pc:docMkLst>
        <pc:docMk/>
      </pc:docMkLst>
      <pc:sldChg chg="modSp mod">
        <pc:chgData name="Sami Ramzi Rezig" userId="572d1711-ff67-49fd-9a5d-76c488e55421" providerId="ADAL" clId="{F0B34570-08E3-456C-A539-DC5BE340AC6A}" dt="2026-10-14T15:00:37.216" v="315" actId="20577"/>
        <pc:sldMkLst>
          <pc:docMk/>
          <pc:sldMk cId="0" sldId="264"/>
        </pc:sldMkLst>
        <pc:spChg chg="mod">
          <ac:chgData name="Sami Ramzi Rezig" userId="572d1711-ff67-49fd-9a5d-76c488e55421" providerId="ADAL" clId="{F0B34570-08E3-456C-A539-DC5BE340AC6A}" dt="2026-10-14T15:00:37.216" v="315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Sami Ramzi Rezig" userId="572d1711-ff67-49fd-9a5d-76c488e55421" providerId="ADAL" clId="{F0B34570-08E3-456C-A539-DC5BE340AC6A}" dt="2026-10-14T14:53:20.494" v="261" actId="20577"/>
        <pc:sldMkLst>
          <pc:docMk/>
          <pc:sldMk cId="0" sldId="267"/>
        </pc:sldMkLst>
        <pc:graphicFrameChg chg="modGraphic">
          <ac:chgData name="Sami Ramzi Rezig" userId="572d1711-ff67-49fd-9a5d-76c488e55421" providerId="ADAL" clId="{F0B34570-08E3-456C-A539-DC5BE340AC6A}" dt="2026-10-14T14:53:20.494" v="261" actId="20577"/>
          <ac:graphicFrameMkLst>
            <pc:docMk/>
            <pc:sldMk cId="0" sldId="267"/>
            <ac:graphicFrameMk id="32" creationId="{00000000-0000-0000-0000-000000000000}"/>
          </ac:graphicFrameMkLst>
        </pc:graphicFrameChg>
      </pc:sldChg>
      <pc:sldChg chg="modSp mod">
        <pc:chgData name="Sami Ramzi Rezig" userId="572d1711-ff67-49fd-9a5d-76c488e55421" providerId="ADAL" clId="{F0B34570-08E3-456C-A539-DC5BE340AC6A}" dt="2026-10-14T14:59:42.612" v="313" actId="1076"/>
        <pc:sldMkLst>
          <pc:docMk/>
          <pc:sldMk cId="0" sldId="270"/>
        </pc:sldMkLst>
        <pc:spChg chg="mod">
          <ac:chgData name="Sami Ramzi Rezig" userId="572d1711-ff67-49fd-9a5d-76c488e55421" providerId="ADAL" clId="{F0B34570-08E3-456C-A539-DC5BE340AC6A}" dt="2026-10-14T14:59:42.612" v="313" actId="1076"/>
          <ac:spMkLst>
            <pc:docMk/>
            <pc:sldMk cId="0" sldId="270"/>
            <ac:spMk id="34" creationId="{00000000-0000-0000-0000-000000000000}"/>
          </ac:spMkLst>
        </pc:spChg>
        <pc:graphicFrameChg chg="mod modGraphic">
          <ac:chgData name="Sami Ramzi Rezig" userId="572d1711-ff67-49fd-9a5d-76c488e55421" providerId="ADAL" clId="{F0B34570-08E3-456C-A539-DC5BE340AC6A}" dt="2026-10-14T14:53:52.369" v="266" actId="14100"/>
          <ac:graphicFrameMkLst>
            <pc:docMk/>
            <pc:sldMk cId="0" sldId="270"/>
            <ac:graphicFrameMk id="33" creationId="{00000000-0000-0000-0000-000000000000}"/>
          </ac:graphicFrameMkLst>
        </pc:graphicFrameChg>
      </pc:sldChg>
      <pc:sldChg chg="modSp mod">
        <pc:chgData name="Sami Ramzi Rezig" userId="572d1711-ff67-49fd-9a5d-76c488e55421" providerId="ADAL" clId="{F0B34570-08E3-456C-A539-DC5BE340AC6A}" dt="2026-10-15T09:37:22.450" v="464" actId="20577"/>
        <pc:sldMkLst>
          <pc:docMk/>
          <pc:sldMk cId="0" sldId="271"/>
        </pc:sldMkLst>
        <pc:spChg chg="mod">
          <ac:chgData name="Sami Ramzi Rezig" userId="572d1711-ff67-49fd-9a5d-76c488e55421" providerId="ADAL" clId="{F0B34570-08E3-456C-A539-DC5BE340AC6A}" dt="2026-10-15T09:37:22.450" v="464" actId="20577"/>
          <ac:spMkLst>
            <pc:docMk/>
            <pc:sldMk cId="0" sldId="271"/>
            <ac:spMk id="34" creationId="{00000000-0000-0000-0000-000000000000}"/>
          </ac:spMkLst>
        </pc:spChg>
        <pc:graphicFrameChg chg="mod modGraphic">
          <ac:chgData name="Sami Ramzi Rezig" userId="572d1711-ff67-49fd-9a5d-76c488e55421" providerId="ADAL" clId="{F0B34570-08E3-456C-A539-DC5BE340AC6A}" dt="2026-10-15T09:35:54.172" v="436" actId="20577"/>
          <ac:graphicFrameMkLst>
            <pc:docMk/>
            <pc:sldMk cId="0" sldId="271"/>
            <ac:graphicFrameMk id="33" creationId="{00000000-0000-0000-0000-000000000000}"/>
          </ac:graphicFrameMkLst>
        </pc:graphicFrameChg>
      </pc:sldChg>
      <pc:sldChg chg="modSp mod">
        <pc:chgData name="Sami Ramzi Rezig" userId="572d1711-ff67-49fd-9a5d-76c488e55421" providerId="ADAL" clId="{F0B34570-08E3-456C-A539-DC5BE340AC6A}" dt="2026-10-15T10:06:39.986" v="525" actId="113"/>
        <pc:sldMkLst>
          <pc:docMk/>
          <pc:sldMk cId="0" sldId="272"/>
        </pc:sldMkLst>
        <pc:spChg chg="mod">
          <ac:chgData name="Sami Ramzi Rezig" userId="572d1711-ff67-49fd-9a5d-76c488e55421" providerId="ADAL" clId="{F0B34570-08E3-456C-A539-DC5BE340AC6A}" dt="2026-10-15T10:04:31.124" v="514" actId="1076"/>
          <ac:spMkLst>
            <pc:docMk/>
            <pc:sldMk cId="0" sldId="272"/>
            <ac:spMk id="34" creationId="{00000000-0000-0000-0000-000000000000}"/>
          </ac:spMkLst>
        </pc:spChg>
        <pc:spChg chg="mod">
          <ac:chgData name="Sami Ramzi Rezig" userId="572d1711-ff67-49fd-9a5d-76c488e55421" providerId="ADAL" clId="{F0B34570-08E3-456C-A539-DC5BE340AC6A}" dt="2026-10-15T10:06:39.986" v="525" actId="113"/>
          <ac:spMkLst>
            <pc:docMk/>
            <pc:sldMk cId="0" sldId="272"/>
            <ac:spMk id="35" creationId="{00000000-0000-0000-0000-000000000000}"/>
          </ac:spMkLst>
        </pc:spChg>
        <pc:graphicFrameChg chg="mod modGraphic">
          <ac:chgData name="Sami Ramzi Rezig" userId="572d1711-ff67-49fd-9a5d-76c488e55421" providerId="ADAL" clId="{F0B34570-08E3-456C-A539-DC5BE340AC6A}" dt="2026-10-15T10:02:56.366" v="496" actId="20577"/>
          <ac:graphicFrameMkLst>
            <pc:docMk/>
            <pc:sldMk cId="0" sldId="272"/>
            <ac:graphicFrameMk id="3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51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Modèle à compléter par chaque groupe. Remplacez les crochets de la couverture. Ne supprimez aucun encadré « Attendu » : la grille de notation s'y réfère.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Lisez cette page avant de rédiger. Les chiffres que vous reportez viennent de vos mesures (dq.dq_history, scans Soda, requêtes du notebook), jamais d'un autre groupe ni d'un tutoriel.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grille est celle du dossier go/no-go. Le livrable de séance et le dossier final sont évalués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Renseignez cette page dès la fin de l'ouverture de S1, puis mettez-la à jour à chaque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Cinq lignes par zone. Pas de copier-coller de l'énoncé : reformulez.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comptez avec une requête, pas à l'œil. Indiquez le notebook qui contient la requête.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la porte B juge la fidélité de la copie, pas la qualité des valeurs. Un écart nul est un résultat à documenter.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l'épreuve de l'écart volontaire prouve que votre porte détecte quelque chose. Sans elle, une porte toujours verte ne prouve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distinguez NULL, vide et blanc. Un constat sans valeur mesurée n'en est pas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une justification est un chiffre (taux de valeurs au format X, nombre de distincts, plage), pas une impression.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les trois chiffres sont vrais pour trois questions différentes. Le problème est la définition.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cochez uniquement ce que vous pouvez montrer. Une case non cochée et expliquée vaut mieux qu'une case cochée sans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un taux sans nombre de lignes testées est ininterprétable. Reportez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nommez la famille d'erreur. « Valeurs incorrectes » n'est pas une famille.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la phrase de synthèse doit contenir un chiffre et la couche concernée.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cochez uniquement ce que vous pouvez montrer. Une case non cochée et expliquée vaut mieux qu'une case cochée sans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si Soda et Great Expectations donnent des chiffres différents pour la même règle, expliquez pourquoi avant de conclure.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un taux élevé de lignes en échec sur une clé étrangère est un indice de valeur sentinelle avant d'être une anomalie.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une règle de correction proposée sans rôle destinataire n'est pas une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cochez uniquement ce que vous pouvez montrer. Une case non cochée et expliquée vaut mieux qu'une case cochée sans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rien n'est supprimé en silence. Chaque ligne absente de silver est dans dq.rejets avec le code de sa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une règle qui baisse de bronze à silver n'est pas forcément un bug. Cherchez d'abord un effet de la quarantaine (lignes devenues orphelines).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les seuils se défendent par la précision et le rappel mesurés, pas par un ressenti. Reportez-les dans le journal des décisions.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la règle de survie est une décision de gouvernance, pas un détail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un constat expliqué (un contrat orphelin parce que son client a été mis en quarantaine) est un résultat, pas une erreur.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trois lignes par cas suffisent : gold, silver, bronze, source. Un identifiant de lot est obligatoire.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cochez uniquement ce que vous pouvez montrer. Une case non cochée et expliquée vaut mieux qu'une case cochée sans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insérez l'image des courbes dans la zone. Une courbe sans légende ni axe nommé n'est pas lisible par un non-technicien.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un certificat qui ne mentionne pas ce qu'il ne couvre pas est trompeur. Listez les règles non mesurées.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la preuve d'un refus est le message du script, pas une capture du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un lineage lisible va des sources à la table gold sans saut.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cochez uniquement ce que vous pouvez montrer. Une case non cochée et expliquée vaut mieux qu'une case cochée sans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ne présentez pas un GO que le certificat contredit. Un NO-GO bien argumenté vaut un GO bien argumenté.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les chiffres de cette page sont ceux de S5, sans retouche.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un écart non chiffré n'est pas un écart, c'est une impression.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Consigne : la décision est attribuée à un rôle, pas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 journal doit être identique à celui du dépôt (livrables/JOURNAL_DECISIONS.md).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Reprenez les totaux de AVANCEMENT.md.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Les étiquettes fixent l'état rendu à la fin de chaque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Cochez en remplaçant [ ] par [x].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dec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4754880"/>
          </a:xfrm>
          <a:prstGeom prst="rect">
            <a:avLst/>
          </a:prstGeom>
        </p:spPr>
      </p:pic>
      <p:pic>
        <p:nvPicPr>
          <p:cNvPr id="3" name="Image 1" descr="img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3474720" cy="7315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2148840"/>
            <a:ext cx="822960" cy="54864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640080" y="237744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dirty="0">
                <a:solidFill>
                  <a:schemeClr val="tx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640080" y="425196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640080" y="557784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kern="0" spc="200" dirty="0">
                <a:solidFill>
                  <a:schemeClr val="accent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dec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828800"/>
            <a:ext cx="822960" cy="54864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dirty="0">
                <a:solidFill>
                  <a:schemeClr val="accent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640080" y="3200400"/>
            <a:ext cx="65836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dirty="0">
                <a:solidFill>
                  <a:schemeClr val="tx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  <p:pic>
        <p:nvPicPr>
          <p:cNvPr id="6" name="Image 1" descr="img/mar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36792"/>
            <a:ext cx="237744" cy="23774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87552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DECIMAL INSIGHTS CONSULTING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pic>
        <p:nvPicPr>
          <p:cNvPr id="3" name="Image 0" descr="img/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36792"/>
            <a:ext cx="237744" cy="237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DECIMAL INSIGHTS CONSULTING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img/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36792"/>
            <a:ext cx="237744" cy="2377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87552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DECIMAL INSIGHTS CONSULTING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lonnes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737360"/>
            <a:ext cx="521208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309360" y="1737360"/>
            <a:ext cx="521208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5" name="Image 0" descr="img/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36792"/>
            <a:ext cx="237744" cy="2377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87552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DECIMAL INSIGHTS CONSULTING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ffres cles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Shape 0"/>
          <p:cNvSpPr/>
          <p:nvPr/>
        </p:nvSpPr>
        <p:spPr>
          <a:xfrm>
            <a:off x="640080" y="1828800"/>
            <a:ext cx="3383280" cy="3017520"/>
          </a:xfrm>
          <a:prstGeom prst="rect">
            <a:avLst/>
          </a:prstGeom>
          <a:solidFill>
            <a:schemeClr val="bg2"/>
          </a:solidFill>
          <a:ln w="9525">
            <a:solidFill>
              <a:srgbClr val="2A415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389120" y="1828800"/>
            <a:ext cx="3383280" cy="3017520"/>
          </a:xfrm>
          <a:prstGeom prst="rect">
            <a:avLst/>
          </a:prstGeom>
          <a:solidFill>
            <a:schemeClr val="bg2"/>
          </a:solidFill>
          <a:ln w="9525">
            <a:solidFill>
              <a:srgbClr val="2A415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38160" y="1828800"/>
            <a:ext cx="3383280" cy="3017520"/>
          </a:xfrm>
          <a:prstGeom prst="rect">
            <a:avLst/>
          </a:prstGeom>
          <a:solidFill>
            <a:schemeClr val="bg2"/>
          </a:solidFill>
          <a:ln w="9525">
            <a:solidFill>
              <a:srgbClr val="2A415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1828800"/>
            <a:ext cx="640080" cy="54864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7" name="Shape 4"/>
          <p:cNvSpPr/>
          <p:nvPr/>
        </p:nvSpPr>
        <p:spPr>
          <a:xfrm>
            <a:off x="4709160" y="1828800"/>
            <a:ext cx="640080" cy="54864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8" name="Shape 5"/>
          <p:cNvSpPr/>
          <p:nvPr/>
        </p:nvSpPr>
        <p:spPr>
          <a:xfrm>
            <a:off x="8458200" y="1828800"/>
            <a:ext cx="640080" cy="54864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9" name="Text 6"/>
          <p:cNvSpPr>
            <a:spLocks noGrp="1"/>
          </p:cNvSpPr>
          <p:nvPr>
            <p:ph type="body" idx="107" hasCustomPrompt="1"/>
          </p:nvPr>
        </p:nvSpPr>
        <p:spPr>
          <a:xfrm>
            <a:off x="960120" y="214884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chemeClr val="accent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10" name="Text 6"/>
          <p:cNvSpPr>
            <a:spLocks noGrp="1"/>
          </p:cNvSpPr>
          <p:nvPr>
            <p:ph type="body" idx="108" hasCustomPrompt="1"/>
          </p:nvPr>
        </p:nvSpPr>
        <p:spPr>
          <a:xfrm>
            <a:off x="4709160" y="214884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chemeClr val="accent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11" name="Text 6"/>
          <p:cNvSpPr>
            <a:spLocks noGrp="1"/>
          </p:cNvSpPr>
          <p:nvPr>
            <p:ph type="body" idx="109" hasCustomPrompt="1"/>
          </p:nvPr>
        </p:nvSpPr>
        <p:spPr>
          <a:xfrm>
            <a:off x="8458200" y="214884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chemeClr val="accent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12" name="Text 6"/>
          <p:cNvSpPr>
            <a:spLocks noGrp="1"/>
          </p:cNvSpPr>
          <p:nvPr>
            <p:ph type="body" idx="110" hasCustomPrompt="1"/>
          </p:nvPr>
        </p:nvSpPr>
        <p:spPr>
          <a:xfrm>
            <a:off x="960120" y="34747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3" name="Text 6"/>
          <p:cNvSpPr>
            <a:spLocks noGrp="1"/>
          </p:cNvSpPr>
          <p:nvPr>
            <p:ph type="body" idx="111" hasCustomPrompt="1"/>
          </p:nvPr>
        </p:nvSpPr>
        <p:spPr>
          <a:xfrm>
            <a:off x="4709160" y="34747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4" name="Text 6"/>
          <p:cNvSpPr>
            <a:spLocks noGrp="1"/>
          </p:cNvSpPr>
          <p:nvPr>
            <p:ph type="body" idx="112" hasCustomPrompt="1"/>
          </p:nvPr>
        </p:nvSpPr>
        <p:spPr>
          <a:xfrm>
            <a:off x="8458200" y="34747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5" name="Text 6"/>
          <p:cNvSpPr>
            <a:spLocks noGrp="1"/>
          </p:cNvSpPr>
          <p:nvPr>
            <p:ph type="body" idx="113" hasCustomPrompt="1"/>
          </p:nvPr>
        </p:nvSpPr>
        <p:spPr>
          <a:xfrm>
            <a:off x="640080" y="5257800"/>
            <a:ext cx="1091153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16" name="Image 0" descr="img/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36792"/>
            <a:ext cx="237744" cy="237744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987552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DECIMAL INSIGHTS CONSULTING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dec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4864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005840" y="1737360"/>
            <a:ext cx="82296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00584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kern="0" spc="200" dirty="0">
                <a:solidFill>
                  <a:schemeClr val="accent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5" name="Image 1" descr="img/mar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36792"/>
            <a:ext cx="237744" cy="2377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87552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DECIMAL INSIGHTS CONSULTING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tur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dec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80160"/>
            <a:ext cx="4572000" cy="4572000"/>
          </a:xfrm>
          <a:prstGeom prst="rect">
            <a:avLst/>
          </a:prstGeom>
        </p:spPr>
      </p:pic>
      <p:pic>
        <p:nvPicPr>
          <p:cNvPr id="3" name="Image 1" descr="img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3474720" cy="7315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2148840"/>
            <a:ext cx="822960" cy="54864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640080" y="237744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dirty="0">
                <a:solidFill>
                  <a:schemeClr val="tx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640080" y="4023360"/>
            <a:ext cx="64008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kern="0" spc="200" dirty="0">
                <a:solidFill>
                  <a:schemeClr val="accent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Livrable de groupe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TD AssurConnect : gouvernance, profilage et qualité des données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rPr dirty="0"/>
              <a:t>GROUPE [N°01] · [NOMS DES MEMBRES]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Comment remplir ce modèle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MODE D'EMPLOI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1371600"/>
            <a:ext cx="10908792" cy="80467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72768"/>
            <a:ext cx="402336" cy="4023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63040" y="144475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7F6F2"/>
                </a:solidFill>
                <a:latin typeface="Inter"/>
              </a:rPr>
              <a:t>Encadré ambre « Attendu 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144475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B8C0C8"/>
                </a:solidFill>
                <a:latin typeface="Inter"/>
              </a:rPr>
              <a:t>Ce qui doit apparaître sur la page. À lire avant de rédiger ; ne pas supprimer.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286000"/>
            <a:ext cx="10908792" cy="80467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ône pen" descr="Icône p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487168"/>
            <a:ext cx="402336" cy="4023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63040" y="235915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7F6F2"/>
                </a:solidFill>
                <a:latin typeface="Inter"/>
              </a:rPr>
              <a:t>Cellule ou zone ambre sombre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35915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B8C0C8"/>
                </a:solidFill>
                <a:latin typeface="Inter"/>
              </a:rPr>
              <a:t>À compléter : remplacez « … » ou le texte gris entre crochets par votre contenu.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200400"/>
            <a:ext cx="10908792" cy="80467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Icône chart" descr="Icône 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01568"/>
            <a:ext cx="402336" cy="4023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63040" y="327355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7F6F2"/>
                </a:solidFill>
                <a:latin typeface="Inter"/>
              </a:rPr>
              <a:t>Une page prouve, elle ne raconte pas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27355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B8C0C8"/>
                </a:solidFill>
                <a:latin typeface="Inter"/>
              </a:rPr>
              <a:t>Pour chaque constat : un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chiffre mesuré</a:t>
            </a:r>
            <a:r>
              <a:rPr sz="1300" b="0" i="0">
                <a:solidFill>
                  <a:srgbClr val="B8C0C8"/>
                </a:solidFill>
                <a:latin typeface="Inter"/>
              </a:rPr>
              <a:t> (règle RQ, couche), 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preuve</a:t>
            </a:r>
            <a:r>
              <a:rPr sz="1300" b="0" i="0">
                <a:solidFill>
                  <a:srgbClr val="B8C0C8"/>
                </a:solidFill>
                <a:latin typeface="Inter"/>
              </a:rPr>
              <a:t> (chemin du dépôt), 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conséquence</a:t>
            </a:r>
            <a:r>
              <a:rPr sz="1300" b="0" i="0">
                <a:solidFill>
                  <a:srgbClr val="B8C0C8"/>
                </a:solidFill>
                <a:latin typeface="Inter"/>
              </a:rPr>
              <a:t> attribuée à un rôle.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114800"/>
            <a:ext cx="10908792" cy="80467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Icône branch" descr="Icône branc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315968"/>
            <a:ext cx="402336" cy="40233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63040" y="418795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7F6F2"/>
                </a:solidFill>
                <a:latin typeface="Inter"/>
              </a:rPr>
              <a:t>Le dépôt Git est la preuve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18795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B8C0C8"/>
                </a:solidFill>
                <a:latin typeface="Inter"/>
              </a:rPr>
              <a:t>Chaque chemin cité existe dans votre dépôt. Étiquette </a:t>
            </a:r>
            <a:r>
              <a:rPr sz="1300" b="0" i="0">
                <a:solidFill>
                  <a:srgbClr val="F7F6F2"/>
                </a:solidFill>
                <a:latin typeface="Consolas"/>
              </a:rPr>
              <a:t>seance-N</a:t>
            </a:r>
            <a:r>
              <a:rPr sz="1300" b="0" i="0">
                <a:solidFill>
                  <a:srgbClr val="B8C0C8"/>
                </a:solidFill>
                <a:latin typeface="Inter"/>
              </a:rPr>
              <a:t> posée en fin de chaque séance.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029200"/>
            <a:ext cx="10908792" cy="80467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Icône warn" descr="Icône war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230368"/>
            <a:ext cx="402336" cy="4023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463040" y="510235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7F6F2"/>
                </a:solidFill>
                <a:latin typeface="Inter"/>
              </a:rPr>
              <a:t>Si vous n'avez pas fini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510235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B8C0C8"/>
                </a:solidFill>
                <a:latin typeface="Inter"/>
              </a:rPr>
              <a:t>Laissez les zones ambre visibles : un livrable inachevé doit le rester. Ne mettez jamais un chiffre sans l'avoir mesuré.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Si le texte déborde d'une cellule, réduisez la police à 11 pt plutôt que d'étendre le tableau hors de la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Où se trouve quoi, et ce que pèse chaque critère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PLAN DU LIVRABLE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0080" y="1371600"/>
          <a:ext cx="10908792" cy="307238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 spc="60">
                          <a:solidFill>
                            <a:srgbClr val="F5A623"/>
                          </a:solidFill>
                          <a:latin typeface="Inter"/>
                        </a:rPr>
                        <a:t>Partie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 spc="60">
                          <a:solidFill>
                            <a:srgbClr val="F5A623"/>
                          </a:solidFill>
                          <a:latin typeface="Inter"/>
                        </a:rPr>
                        <a:t>Pages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 spc="60">
                          <a:solidFill>
                            <a:srgbClr val="F5A623"/>
                          </a:solidFill>
                          <a:latin typeface="Inter"/>
                        </a:rPr>
                        <a:t>Critère de la grille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 spc="60">
                          <a:solidFill>
                            <a:srgbClr val="F5A623"/>
                          </a:solidFill>
                          <a:latin typeface="Inter"/>
                        </a:rPr>
                        <a:t>Poids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7F6F2"/>
                          </a:solidFill>
                          <a:latin typeface="Inter"/>
                        </a:rPr>
                        <a:t>Équipe et mandat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4 à 5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Contribution individuelle (vérifiée dans l'historique Git)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7F6F2"/>
                          </a:solidFill>
                          <a:latin typeface="Inter"/>
                        </a:rPr>
                        <a:t>S1 : bronze, porte B, profilage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S1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Profilage et diagnostic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20 %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7F6F2"/>
                          </a:solidFill>
                          <a:latin typeface="Inter"/>
                        </a:rPr>
                        <a:t>S2 : règles en tests (Great Expectations)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S2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Règles et tests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20 %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7F6F2"/>
                          </a:solidFill>
                          <a:latin typeface="Inter"/>
                        </a:rPr>
                        <a:t>S3 : intégrité et portes (Soda Core)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S3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Règles et tests (suite)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inclus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7F6F2"/>
                          </a:solidFill>
                          <a:latin typeface="Inter"/>
                        </a:rPr>
                        <a:t>S4 : silver, gold, traçabilité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S4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Silver, gold et traçabilité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25 %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7F6F2"/>
                          </a:solidFill>
                          <a:latin typeface="Inter"/>
                        </a:rPr>
                        <a:t>S5 : certificat, publication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S5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Preuve et certificat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20 %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7F6F2"/>
                          </a:solidFill>
                          <a:latin typeface="Inter"/>
                        </a:rPr>
                        <a:t>Dossier go/no-go, journal des décisions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Dossier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Gouvernance et décision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7F6F2"/>
                          </a:solidFill>
                          <a:latin typeface="Inter"/>
                        </a:rPr>
                        <a:t>15 %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40080" y="4581144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Définition de « terminé » pour une story : critères démontrés avec les chiffres, règle identifiée par son RQ et la couche mesurée, décision attribuée à un rôle, aucune donnée modifiée en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Membres, rôles par séance et contribution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ÉQUIPE</a:t>
            </a:r>
          </a:p>
        </p:txBody>
      </p:sp>
      <p:sp>
        <p:nvSpPr>
          <p:cNvPr id="27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rôles tournent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à chaque séance et un rôle est tenu par une personne à la fois.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contribution déclarée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vérifiable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dans l'historique Git : une ligne par membre, deux lignes de texte.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170306"/>
              </p:ext>
            </p:extLst>
          </p:nvPr>
        </p:nvGraphicFramePr>
        <p:xfrm>
          <a:off x="640080" y="2579827"/>
          <a:ext cx="10908792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Membre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Identifiant Git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S1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S2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S3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S4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S5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Sami Rezig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Meriem </a:t>
                      </a:r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Inter"/>
                        </a:rPr>
                        <a:t>Benayache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Housni </a:t>
                      </a:r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Inter"/>
                        </a:rPr>
                        <a:t>Achbouq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Mohamed </a:t>
                      </a:r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Inter"/>
                        </a:rPr>
                        <a:t>Gourainy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40080" y="4481779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Rôles : Data Owner (décide des seuils et du GO) · Data Steward (définit les règles et leur sévérité) · Ingénieur qualité (mesure, implémente) · Rédacteur du livrable.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4865827"/>
          <a:ext cx="10908792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Membre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Contribution (deux lignes)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Stories principales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Notre compréhension du mandat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CONTEXTE</a:t>
            </a:r>
          </a:p>
        </p:txBody>
      </p:sp>
      <p:sp>
        <p:nvSpPr>
          <p:cNvPr id="27" name="Attendu"/>
          <p:cNvSpPr/>
          <p:nvPr/>
        </p:nvSpPr>
        <p:spPr>
          <a:xfrm>
            <a:off x="640080" y="1325880"/>
            <a:ext cx="10908792" cy="13231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ttendu barre"/>
          <p:cNvSpPr/>
          <p:nvPr/>
        </p:nvSpPr>
        <p:spPr>
          <a:xfrm>
            <a:off x="640080" y="1325880"/>
            <a:ext cx="82296" cy="13231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783080"/>
            <a:ext cx="10360152" cy="82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condition posée par 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Direction Générale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reformulée avec vos mots.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périmètre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sources, couches du médaillon, portes B, S, G et C.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trois rôles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de gouvernance et ce que chacun décide.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2831896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MANDAT ET CONDITION DE LA DG</a:t>
            </a:r>
          </a:p>
        </p:txBody>
      </p:sp>
      <p:sp>
        <p:nvSpPr>
          <p:cNvPr id="33" name="Zone à rédiger"/>
          <p:cNvSpPr/>
          <p:nvPr/>
        </p:nvSpPr>
        <p:spPr>
          <a:xfrm>
            <a:off x="640080" y="3124504"/>
            <a:ext cx="5303520" cy="3001975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ici, cinq lignes au plus]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2831896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PÉRIMÈTRE ET RÔLES</a:t>
            </a:r>
          </a:p>
        </p:txBody>
      </p:sp>
      <p:sp>
        <p:nvSpPr>
          <p:cNvPr id="35" name="Zone à rédiger"/>
          <p:cNvSpPr/>
          <p:nvPr/>
        </p:nvSpPr>
        <p:spPr>
          <a:xfrm>
            <a:off x="6245352" y="3124504"/>
            <a:ext cx="5303520" cy="3001975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ici, cinq lignes au plus]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Stack, profilage, bronze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B8C0C8"/>
                </a:solidFill>
                <a:latin typeface="Inter"/>
              </a:rPr>
              <a:t>Séance 1 · Porte B · US-01 à 09. Inventaire des sources, bronze, réconciliation, profil de crm.client, dictionnaire du CIF, client actif.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Inventaire des sources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S1 · US-01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PROFILAGE ET DIAGNOSTIC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 dirty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 dirty="0">
                <a:solidFill>
                  <a:srgbClr val="F5A623"/>
                </a:solidFill>
                <a:latin typeface="Inter"/>
              </a:rPr>
              <a:t>sept tables</a:t>
            </a:r>
            <a:r>
              <a:rPr sz="1300" b="0" i="0" dirty="0">
                <a:solidFill>
                  <a:srgbClr val="F7F6F2"/>
                </a:solidFill>
                <a:latin typeface="Inter"/>
              </a:rPr>
              <a:t> des deux sources, avec le </a:t>
            </a:r>
            <a:r>
              <a:rPr sz="1300" b="1" i="0" dirty="0" err="1">
                <a:solidFill>
                  <a:srgbClr val="F5A623"/>
                </a:solidFill>
                <a:latin typeface="Inter"/>
              </a:rPr>
              <a:t>nombre</a:t>
            </a:r>
            <a:r>
              <a:rPr sz="1300" b="1" i="0" dirty="0">
                <a:solidFill>
                  <a:srgbClr val="F5A623"/>
                </a:solidFill>
                <a:latin typeface="Inter"/>
              </a:rPr>
              <a:t> de </a:t>
            </a:r>
            <a:r>
              <a:rPr sz="1300" b="1" i="0" dirty="0" err="1">
                <a:solidFill>
                  <a:srgbClr val="F5A623"/>
                </a:solidFill>
                <a:latin typeface="Inter"/>
              </a:rPr>
              <a:t>lignes</a:t>
            </a:r>
            <a:r>
              <a:rPr sz="1300" b="0" i="0" dirty="0">
                <a:solidFill>
                  <a:srgbClr val="F7F6F2"/>
                </a:solidFill>
                <a:latin typeface="Inter"/>
              </a:rPr>
              <a:t> </a:t>
            </a:r>
            <a:r>
              <a:rPr sz="1300" b="0" i="0" dirty="0" err="1">
                <a:solidFill>
                  <a:srgbClr val="F7F6F2"/>
                </a:solidFill>
                <a:latin typeface="Inter"/>
              </a:rPr>
              <a:t>mesuré</a:t>
            </a:r>
            <a:r>
              <a:rPr sz="1300" b="0" i="0" dirty="0">
                <a:solidFill>
                  <a:srgbClr val="F7F6F2"/>
                </a:solidFill>
                <a:latin typeface="Inter"/>
              </a:rPr>
              <a:t> et la </a:t>
            </a:r>
            <a:r>
              <a:rPr sz="1300" b="1" i="0" dirty="0" err="1">
                <a:solidFill>
                  <a:srgbClr val="F5A623"/>
                </a:solidFill>
                <a:latin typeface="Inter"/>
              </a:rPr>
              <a:t>clé</a:t>
            </a:r>
            <a:r>
              <a:rPr sz="1300" b="1" i="0" dirty="0">
                <a:solidFill>
                  <a:srgbClr val="F5A623"/>
                </a:solidFill>
                <a:latin typeface="Inter"/>
              </a:rPr>
              <a:t> </a:t>
            </a:r>
            <a:r>
              <a:rPr sz="1300" b="1" i="0" dirty="0" err="1">
                <a:solidFill>
                  <a:srgbClr val="F5A623"/>
                </a:solidFill>
                <a:latin typeface="Inter"/>
              </a:rPr>
              <a:t>primaire</a:t>
            </a:r>
            <a:r>
              <a:rPr sz="1300" b="0" i="0" dirty="0">
                <a:solidFill>
                  <a:srgbClr val="F7F6F2"/>
                </a:solidFill>
                <a:latin typeface="Inter"/>
              </a:rPr>
              <a:t>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 dirty="0">
                <a:solidFill>
                  <a:srgbClr val="F7F6F2"/>
                </a:solidFill>
                <a:latin typeface="Inter"/>
              </a:rPr>
              <a:t>Une </a:t>
            </a:r>
            <a:r>
              <a:rPr sz="1300" b="1" i="0" dirty="0">
                <a:solidFill>
                  <a:srgbClr val="F5A623"/>
                </a:solidFill>
                <a:latin typeface="Inter"/>
              </a:rPr>
              <a:t>observation </a:t>
            </a:r>
            <a:r>
              <a:rPr sz="1300" b="1" i="0" dirty="0" err="1">
                <a:solidFill>
                  <a:srgbClr val="F5A623"/>
                </a:solidFill>
                <a:latin typeface="Inter"/>
              </a:rPr>
              <a:t>chiffrée</a:t>
            </a:r>
            <a:r>
              <a:rPr sz="1300" b="0" i="0" dirty="0">
                <a:solidFill>
                  <a:srgbClr val="F7F6F2"/>
                </a:solidFill>
                <a:latin typeface="Inter"/>
              </a:rPr>
              <a:t> par table (nulls, </a:t>
            </a:r>
            <a:r>
              <a:rPr sz="1300" b="0" i="0" dirty="0" err="1">
                <a:solidFill>
                  <a:srgbClr val="F7F6F2"/>
                </a:solidFill>
                <a:latin typeface="Inter"/>
              </a:rPr>
              <a:t>doublons</a:t>
            </a:r>
            <a:r>
              <a:rPr sz="1300" b="0" i="0" dirty="0">
                <a:solidFill>
                  <a:srgbClr val="F7F6F2"/>
                </a:solidFill>
                <a:latin typeface="Inter"/>
              </a:rPr>
              <a:t> de </a:t>
            </a:r>
            <a:r>
              <a:rPr sz="1300" b="0" i="0" dirty="0" err="1">
                <a:solidFill>
                  <a:srgbClr val="F7F6F2"/>
                </a:solidFill>
                <a:latin typeface="Inter"/>
              </a:rPr>
              <a:t>clé</a:t>
            </a:r>
            <a:r>
              <a:rPr sz="1300" b="0" i="0" dirty="0">
                <a:solidFill>
                  <a:srgbClr val="F7F6F2"/>
                </a:solidFill>
                <a:latin typeface="Inter"/>
              </a:rPr>
              <a:t>, </a:t>
            </a:r>
            <a:r>
              <a:rPr sz="1300" b="0" i="0" dirty="0" err="1">
                <a:solidFill>
                  <a:srgbClr val="F7F6F2"/>
                </a:solidFill>
                <a:latin typeface="Inter"/>
              </a:rPr>
              <a:t>particularités</a:t>
            </a:r>
            <a:r>
              <a:rPr sz="1300" b="0" i="0" dirty="0">
                <a:solidFill>
                  <a:srgbClr val="F7F6F2"/>
                </a:solidFill>
                <a:latin typeface="Inter"/>
              </a:rPr>
              <a:t>).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9611"/>
              </p:ext>
            </p:extLst>
          </p:nvPr>
        </p:nvGraphicFramePr>
        <p:xfrm>
          <a:off x="640080" y="2579829"/>
          <a:ext cx="10908791" cy="36423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996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Source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Table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Clé primaire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Observation chiffrée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81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crm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client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10000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Inter"/>
                        </a:rPr>
                        <a:t>Client_id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0 doublon de clé ; 133918 nuls sur 6 colonne(s), max sur </a:t>
                      </a:r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+mn-lt"/>
                        </a:rPr>
                        <a:t>raison_sociale</a:t>
                      </a:r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 (95723) ; 4277 personnes morales (</a:t>
                      </a:r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+mn-lt"/>
                        </a:rPr>
                        <a:t>raison_sociale</a:t>
                      </a:r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 renseignée, nom vide)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81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crm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contrat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100000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Inter"/>
                        </a:rPr>
                        <a:t>Contrat_id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0 doublon de clé ; 7460 nuls sur 1 colonne(s), max sur </a:t>
                      </a:r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+mn-lt"/>
                        </a:rPr>
                        <a:t>date_derniere_cotisation</a:t>
                      </a:r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 (7460) ; 40000 contrats avec </a:t>
                      </a:r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+mn-lt"/>
                        </a:rPr>
                        <a:t>assure_id</a:t>
                      </a:r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 = '0' (valeur sentinelle)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crm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sinistre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100000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Inter"/>
                        </a:rPr>
                        <a:t>Sinistre_id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0 doublon de clé ; aucun nul ; 4 canaux de saisie, 62782 contrats distincts concernés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crm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type_contrat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12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Inter"/>
                        </a:rPr>
                        <a:t>Code_type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0 doublon de clé ; aucun nul ; 12 types répartis sur 3 branches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81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cif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clients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40000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column0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0 doublon de clé ; 26486 nuls sur 4 colonne(s), max sur column9 (18872) ; 10 colonnes aux noms anonymes (column0 à column9), sans documentation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cif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compte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45000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column0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0 doublon de clé ; aucun nul ; 45000 comptes pour 40000 identifiants CIF distincts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cif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pays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250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Inter"/>
                        </a:rPr>
                        <a:t>Code_pays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0 doublon de clé ; aucun nul ; 250 pays dans le référentiel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182175" y="6259957"/>
            <a:ext cx="10908792" cy="190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0" i="0" dirty="0" err="1">
                <a:solidFill>
                  <a:srgbClr val="B8C0C8"/>
                </a:solidFill>
                <a:latin typeface="Inter"/>
              </a:rPr>
              <a:t>Preuve</a:t>
            </a:r>
            <a:r>
              <a:rPr sz="1200" b="0" i="0" dirty="0">
                <a:solidFill>
                  <a:srgbClr val="B8C0C8"/>
                </a:solidFill>
                <a:latin typeface="Inter"/>
              </a:rPr>
              <a:t> (</a:t>
            </a:r>
            <a:r>
              <a:rPr lang="fr-FR" sz="1200" b="0" i="0" dirty="0">
                <a:solidFill>
                  <a:srgbClr val="B8C0C8"/>
                </a:solidFill>
                <a:latin typeface="Inter"/>
              </a:rPr>
              <a:t>td-qualite-01/notebook/S1-01.ipynb</a:t>
            </a:r>
            <a:r>
              <a:rPr sz="1200" b="0" i="0" dirty="0">
                <a:solidFill>
                  <a:srgbClr val="B8C0C8"/>
                </a:solidFill>
                <a:latin typeface="Inter"/>
              </a:rPr>
              <a:t>) </a:t>
            </a:r>
            <a:endParaRPr sz="1200" b="1" i="0" dirty="0">
              <a:solidFill>
                <a:srgbClr val="F5A623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 dirty="0"/>
              <a:t>Bronze et </a:t>
            </a:r>
            <a:r>
              <a:rPr sz="2800" dirty="0" err="1"/>
              <a:t>porte</a:t>
            </a:r>
            <a:r>
              <a:rPr sz="2800" dirty="0"/>
              <a:t> B : la </a:t>
            </a:r>
            <a:r>
              <a:rPr sz="2800" dirty="0" err="1"/>
              <a:t>copie</a:t>
            </a:r>
            <a:r>
              <a:rPr sz="2800" dirty="0"/>
              <a:t> est-</a:t>
            </a:r>
            <a:r>
              <a:rPr sz="2800" dirty="0" err="1"/>
              <a:t>elle</a:t>
            </a:r>
            <a:r>
              <a:rPr sz="2800" dirty="0"/>
              <a:t> </a:t>
            </a:r>
            <a:r>
              <a:rPr sz="2800" dirty="0" err="1"/>
              <a:t>fidèle</a:t>
            </a:r>
            <a:r>
              <a:rPr sz="2800" dirty="0"/>
              <a:t> 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 dirty="0">
                <a:solidFill>
                  <a:srgbClr val="F5A623"/>
                </a:solidFill>
                <a:latin typeface="Inter"/>
              </a:rPr>
              <a:t>S1 · US-02,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PROFILAGE ET DIAGNOSTIC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1" i="0">
                <a:solidFill>
                  <a:srgbClr val="F5A623"/>
                </a:solidFill>
                <a:latin typeface="Inter"/>
              </a:rPr>
              <a:t>RQ-021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(comptage) et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RQ-022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(somme de contrôle) mesurées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table par table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même quand l'écart est nul.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Chaque ligne bronze porte ses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quatre métadonnées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(lot, source, horodatage, empreinte de ligne).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966001"/>
              </p:ext>
            </p:extLst>
          </p:nvPr>
        </p:nvGraphicFramePr>
        <p:xfrm>
          <a:off x="640080" y="2579827"/>
          <a:ext cx="10908792" cy="29260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Table bronze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 dirty="0" err="1">
                          <a:solidFill>
                            <a:srgbClr val="F5A623"/>
                          </a:solidFill>
                          <a:latin typeface="Inter"/>
                        </a:rPr>
                        <a:t>Lignes</a:t>
                      </a:r>
                      <a:r>
                        <a:rPr sz="1100" b="1" i="0" spc="60" dirty="0">
                          <a:solidFill>
                            <a:srgbClr val="F5A623"/>
                          </a:solidFill>
                          <a:latin typeface="Inter"/>
                        </a:rPr>
                        <a:t> source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bronze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Écart de comptage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Écart de somme de contrôle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crm_client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100000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100000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crm_contrat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100000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100000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crm_sinistre</a:t>
                      </a:r>
                      <a:endParaRPr sz="1200" b="1" i="0" dirty="0">
                        <a:solidFill>
                          <a:srgbClr val="F7F6F2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100000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100000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crm_type_contrat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12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12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cif_clients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40000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40000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cif_compte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45000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45000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cif_pays</a:t>
                      </a:r>
                      <a:endParaRPr sz="1200" b="1" i="0" dirty="0">
                        <a:solidFill>
                          <a:srgbClr val="F7F6F2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250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250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0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5894197"/>
            <a:ext cx="10908792" cy="190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 dirty="0" err="1">
                <a:solidFill>
                  <a:srgbClr val="B8C0C8"/>
                </a:solidFill>
                <a:latin typeface="Inter"/>
              </a:rPr>
              <a:t>Preuve</a:t>
            </a:r>
            <a:r>
              <a:rPr sz="1200" b="0" i="0" dirty="0">
                <a:solidFill>
                  <a:srgbClr val="B8C0C8"/>
                </a:solidFill>
                <a:latin typeface="Inter"/>
              </a:rPr>
              <a:t> (chemin du notebook, du </a:t>
            </a:r>
            <a:r>
              <a:rPr sz="1200" b="0" i="0" dirty="0" err="1">
                <a:solidFill>
                  <a:srgbClr val="B8C0C8"/>
                </a:solidFill>
                <a:latin typeface="Inter"/>
              </a:rPr>
              <a:t>fichier</a:t>
            </a:r>
            <a:r>
              <a:rPr sz="1200" b="0" i="0" dirty="0">
                <a:solidFill>
                  <a:srgbClr val="B8C0C8"/>
                </a:solidFill>
                <a:latin typeface="Inter"/>
              </a:rPr>
              <a:t> </a:t>
            </a:r>
            <a:r>
              <a:rPr sz="1200" b="0" i="0" dirty="0" err="1">
                <a:solidFill>
                  <a:srgbClr val="B8C0C8"/>
                </a:solidFill>
                <a:latin typeface="Inter"/>
              </a:rPr>
              <a:t>ou</a:t>
            </a:r>
            <a:r>
              <a:rPr sz="1200" b="0" i="0" dirty="0">
                <a:solidFill>
                  <a:srgbClr val="B8C0C8"/>
                </a:solidFill>
                <a:latin typeface="Inter"/>
              </a:rPr>
              <a:t> de la </a:t>
            </a:r>
            <a:r>
              <a:rPr sz="1200" b="0" i="0" dirty="0" err="1">
                <a:solidFill>
                  <a:srgbClr val="B8C0C8"/>
                </a:solidFill>
                <a:latin typeface="Inter"/>
              </a:rPr>
              <a:t>requête</a:t>
            </a:r>
            <a:r>
              <a:rPr sz="1200" b="0" i="0" dirty="0">
                <a:solidFill>
                  <a:srgbClr val="B8C0C8"/>
                </a:solidFill>
                <a:latin typeface="Inter"/>
              </a:rPr>
              <a:t> dans le </a:t>
            </a:r>
            <a:r>
              <a:rPr sz="1200" b="0" i="0" dirty="0" err="1">
                <a:solidFill>
                  <a:srgbClr val="B8C0C8"/>
                </a:solidFill>
                <a:latin typeface="Inter"/>
              </a:rPr>
              <a:t>dépôt</a:t>
            </a:r>
            <a:r>
              <a:rPr sz="1200" b="0" i="0" dirty="0">
                <a:solidFill>
                  <a:srgbClr val="B8C0C8"/>
                </a:solidFill>
                <a:latin typeface="Inter"/>
              </a:rPr>
              <a:t>) : </a:t>
            </a:r>
            <a:r>
              <a:rPr lang="en-US" sz="1200" b="0" i="0" dirty="0">
                <a:solidFill>
                  <a:srgbClr val="B8C0C8"/>
                </a:solidFill>
                <a:latin typeface="Inter"/>
              </a:rPr>
              <a:t>notebooks/S1_g01.ipynb, US-02 cellule 5 + US-03 cellule 3</a:t>
            </a:r>
            <a:endParaRPr sz="1200" b="1" i="0" dirty="0">
              <a:solidFill>
                <a:srgbClr val="F5A623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Épreuves de la porte B et méthode d'ingestion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S1 · US-02,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PROFILAGE ET DIAGNOSTIC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trois épreuves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documentées, chacune avec son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résultat obtenu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et sa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preuve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méthode d'ingestion en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trois lignes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lecture, conversion, métadonnées, relance du lot.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617785"/>
              </p:ext>
            </p:extLst>
          </p:nvPr>
        </p:nvGraphicFramePr>
        <p:xfrm>
          <a:off x="640080" y="2579827"/>
          <a:ext cx="10908792" cy="246888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Épreuve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Résultat obtenu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Preuve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Relance du même lot : doublons créés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0 doublon : 100 000 lignes dans </a:t>
                      </a:r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+mn-lt"/>
                        </a:rPr>
                        <a:t>bronze.crm_client</a:t>
                      </a:r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 avant et après relance du lot L-2026-10-01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notebooks/S1_01.ipynb, US-02 cellule 6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Écart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introduit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volontairement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 sur 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une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copie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 : la 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porte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échoue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-t-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elle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 ?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200" b="0" i="0" dirty="0">
                          <a:solidFill>
                            <a:srgbClr val="F5A623"/>
                          </a:solidFill>
                          <a:latin typeface="Inter"/>
                        </a:rPr>
                        <a:t>OUI, la porte échoue pour chaque type de modification 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notebooks/S1_01.ipynb, US-02 cellule 6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Un 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problème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 de conversion 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rencontré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 (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décimales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, NULL, accents) et </a:t>
                      </a:r>
                      <a:r>
                        <a:rPr sz="1200" b="1" i="0" dirty="0" err="1">
                          <a:solidFill>
                            <a:srgbClr val="F7F6F2"/>
                          </a:solidFill>
                          <a:latin typeface="Inter"/>
                        </a:rPr>
                        <a:t>sa</a:t>
                      </a:r>
                      <a:r>
                        <a:rPr sz="1200" b="1" i="0" dirty="0">
                          <a:solidFill>
                            <a:srgbClr val="F7F6F2"/>
                          </a:solidFill>
                          <a:latin typeface="Inter"/>
                        </a:rPr>
                        <a:t> correction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9 912 montants sur 100 000 (</a:t>
                      </a:r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+mn-lt"/>
                        </a:rPr>
                        <a:t>prime_annuelle</a:t>
                      </a:r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) perdent leur zéro final (184.10 → 184.1). Corrigé avec </a:t>
                      </a:r>
                      <a:r>
                        <a:rPr lang="fr-FR" sz="1200" b="0" i="0" dirty="0" err="1">
                          <a:solidFill>
                            <a:srgbClr val="F5A623"/>
                          </a:solidFill>
                          <a:latin typeface="+mn-lt"/>
                        </a:rPr>
                        <a:t>coerce_float</a:t>
                      </a:r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=False : écart de somme = 0.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i="0" dirty="0">
                          <a:solidFill>
                            <a:srgbClr val="F5A623"/>
                          </a:solidFill>
                          <a:latin typeface="+mn-lt"/>
                        </a:rPr>
                        <a:t>notebooks/S1_g01.ipynb, US-03 cellule 8</a:t>
                      </a:r>
                      <a:endParaRPr sz="1200" b="0" i="0" dirty="0">
                        <a:solidFill>
                          <a:srgbClr val="F5A62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5094428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 dirty="0">
                <a:solidFill>
                  <a:srgbClr val="F5A623"/>
                </a:solidFill>
                <a:latin typeface="Inter"/>
              </a:rPr>
              <a:t>MÉTHODE D'INGESTION EN TROIS LIGNES</a:t>
            </a:r>
          </a:p>
        </p:txBody>
      </p:sp>
      <p:sp>
        <p:nvSpPr>
          <p:cNvPr id="35" name="Zone à rédiger"/>
          <p:cNvSpPr/>
          <p:nvPr/>
        </p:nvSpPr>
        <p:spPr>
          <a:xfrm>
            <a:off x="640080" y="5350460"/>
            <a:ext cx="10908792" cy="912707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sz="1200" b="1" i="1" dirty="0">
                <a:solidFill>
                  <a:srgbClr val="8E99A4"/>
                </a:solidFill>
                <a:latin typeface="Inter"/>
              </a:rPr>
              <a:t>Lecture : </a:t>
            </a:r>
            <a:r>
              <a:rPr lang="fr-FR" sz="1200" i="1" dirty="0">
                <a:solidFill>
                  <a:srgbClr val="8E99A4"/>
                </a:solidFill>
                <a:latin typeface="Inter"/>
              </a:rPr>
              <a:t>les 7 tables sources sont lues avec le compte </a:t>
            </a:r>
            <a:r>
              <a:rPr lang="fr-FR" sz="1200" i="1" dirty="0" err="1">
                <a:solidFill>
                  <a:srgbClr val="8E99A4"/>
                </a:solidFill>
                <a:latin typeface="Inter"/>
              </a:rPr>
              <a:t>reader</a:t>
            </a:r>
            <a:r>
              <a:rPr lang="fr-FR" sz="1200" i="1" dirty="0">
                <a:solidFill>
                  <a:srgbClr val="8E99A4"/>
                </a:solidFill>
                <a:latin typeface="Inter"/>
              </a:rPr>
              <a:t>, qui n’a que le droit de lecture, et copiées dans bronze sans aucune correction.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sz="1200" b="1" i="1" dirty="0">
                <a:solidFill>
                  <a:srgbClr val="8E99A4"/>
                </a:solidFill>
                <a:latin typeface="Inter"/>
              </a:rPr>
              <a:t>Conversion et métadonnées : </a:t>
            </a:r>
            <a:r>
              <a:rPr lang="fr-FR" sz="1200" i="1" dirty="0">
                <a:solidFill>
                  <a:srgbClr val="8E99A4"/>
                </a:solidFill>
                <a:latin typeface="Inter"/>
              </a:rPr>
              <a:t>tout est gardé en texte (</a:t>
            </a:r>
            <a:r>
              <a:rPr lang="fr-FR" sz="1200" i="1" dirty="0" err="1">
                <a:solidFill>
                  <a:srgbClr val="8E99A4"/>
                </a:solidFill>
                <a:latin typeface="Inter"/>
              </a:rPr>
              <a:t>coerce_float</a:t>
            </a:r>
            <a:r>
              <a:rPr lang="fr-FR" sz="1200" i="1" dirty="0">
                <a:solidFill>
                  <a:srgbClr val="8E99A4"/>
                </a:solidFill>
                <a:latin typeface="Inter"/>
              </a:rPr>
              <a:t>=False pour ne pas perdre les décimales), et chaque ligne reçoit son lot, sa source, son horodatage et son empreinte.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sz="1200" b="1" i="1" dirty="0">
                <a:solidFill>
                  <a:srgbClr val="8E99A4"/>
                </a:solidFill>
                <a:latin typeface="Inter"/>
              </a:rPr>
              <a:t>Relance du lot : </a:t>
            </a:r>
            <a:r>
              <a:rPr lang="fr-FR" sz="1200" i="1" dirty="0">
                <a:solidFill>
                  <a:srgbClr val="8E99A4"/>
                </a:solidFill>
                <a:latin typeface="Inter"/>
              </a:rPr>
              <a:t>on supprime d’abord les lignes du lot, puis on les réinsère, donc relancer ne crée aucun doublon.</a:t>
            </a:r>
            <a:endParaRPr sz="1200" i="1" dirty="0">
              <a:solidFill>
                <a:srgbClr val="8E99A4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Profil de crm.client et motifs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S1 · US-06, 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PROFILAGE ET DIAGNOSTIC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Au moins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cinq constats chiffrés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colonne, indicateur, valeur mesurée, conséquence pour la qualité.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motifs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de code postal, de téléphone et de pays : lignes conformes, non conformes, un exemple.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534107"/>
          <a:ext cx="10908792" cy="197510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N°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Colonne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Indicateur (nulls, vides, distincts, motif)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Valeur mesurée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Ce que cela change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 dirty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4646371"/>
          <a:ext cx="10908792" cy="13167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Attribut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Motif testé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Conformes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Non conformes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Exemple non conforme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Code postal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Téléphone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Pays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B8C0C8"/>
                </a:solidFill>
                <a:latin typeface="Inter"/>
              </a:rPr>
              <a:t>Preuve (chemin du notebook, du fichier ou de la requête dans le dépôt) : </a:t>
            </a:r>
            <a:r>
              <a:rPr sz="1200" b="1" i="0">
                <a:solidFill>
                  <a:srgbClr val="F5A623"/>
                </a:solidFill>
                <a:latin typeface="Inter"/>
              </a:rPr>
              <a:t>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Dictionnaire du CIF : dix colonnes anonymes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S1 · US-04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PROFILAGE ET DIAGNOSTIC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329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329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3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Pour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chacune des dix colonnes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un nom proposé, un type et une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justification chiffrée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(comment l'avez-vous déduit ?).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496007"/>
          <a:ext cx="10908792" cy="3520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Colonne d'origine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Nom proposé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Type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Justification chiffrée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dirty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Trois directions, trois définitions du « client actif »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S1 · US-09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PROFILAGE ET DIAGNOSTIC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nombre de clients actifs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selon chaque direction, avec la définition utilisée.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L'</a:t>
            </a:r>
            <a:r>
              <a:rPr sz="1300" b="1" i="0">
                <a:solidFill>
                  <a:srgbClr val="F5A623"/>
                </a:solidFill>
                <a:latin typeface="Inter"/>
              </a:rPr>
              <a:t>écart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avec la définition de la fiche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CD-001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et la conséquence pour la gouvernance.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579827"/>
          <a:ext cx="10908792" cy="15361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Direction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Définition utilisée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Nombre de clients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Écart avec CD-001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Commerciale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Sinistres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Risques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4344619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CONSÉQUENCE POUR LA GOUVERNANCE, EN TROIS PHRASES</a:t>
            </a:r>
          </a:p>
        </p:txBody>
      </p:sp>
      <p:sp>
        <p:nvSpPr>
          <p:cNvPr id="35" name="Zone à rédiger"/>
          <p:cNvSpPr/>
          <p:nvPr/>
        </p:nvSpPr>
        <p:spPr>
          <a:xfrm>
            <a:off x="640080" y="4637227"/>
            <a:ext cx="10908792" cy="148925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Bilan de S1 : critères de fin et difficultés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S1 · BILAN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PROFILAGE ET DIAGNOSTIC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Chaque critère coché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démontré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par une page de ce livrable ou par un fichier du dépôt.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difficultés sont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chiffrées en temps perdu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; un point de reprise utilisé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déclaré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579827"/>
            <a:ext cx="5120640" cy="354665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ône ok" descr="Icône 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35275"/>
            <a:ext cx="310896" cy="3108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89304" y="275356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1" i="0" spc="120">
                <a:solidFill>
                  <a:srgbClr val="F7F6F2"/>
                </a:solidFill>
                <a:latin typeface="Inter"/>
              </a:rPr>
              <a:t>CRITÈRES DE FIN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219907"/>
            <a:ext cx="4663440" cy="2815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Les sept tables bronze existent et chaque ligne porte ses quatre métadonnées.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La porte B ne montre aucun écart de comptage ni de somme de contrôle.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Relancer l'ingestion du même lot ne crée aucun doublon.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Un écart introduit volontairement fait échouer la porte.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RQ-021 est écrite dans dq.dq_history (couche BRONZE).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5216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Remplacez [ ] par [x] une fois le critère démontré.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57982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DIFFICULTÉS RENCONTRÉES ET TEMPS PERDU</a:t>
            </a:r>
          </a:p>
        </p:txBody>
      </p:sp>
      <p:sp>
        <p:nvSpPr>
          <p:cNvPr id="39" name="Zone à rédiger"/>
          <p:cNvSpPr/>
          <p:nvPr/>
        </p:nvSpPr>
        <p:spPr>
          <a:xfrm>
            <a:off x="5943600" y="2872435"/>
            <a:ext cx="5605272" cy="117043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18002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POINT DE REPRISE UTILISÉ (OUI / NON, LEQUEL)</a:t>
            </a:r>
          </a:p>
        </p:txBody>
      </p:sp>
      <p:sp>
        <p:nvSpPr>
          <p:cNvPr id="41" name="Zone à rédiger"/>
          <p:cNvSpPr/>
          <p:nvPr/>
        </p:nvSpPr>
        <p:spPr>
          <a:xfrm>
            <a:off x="5943600" y="4472635"/>
            <a:ext cx="5605272" cy="62179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23158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CE QUE NOUS FERIONS AUTREMENT</a:t>
            </a:r>
          </a:p>
        </p:txBody>
      </p:sp>
      <p:sp>
        <p:nvSpPr>
          <p:cNvPr id="43" name="Zone à rédiger"/>
          <p:cNvSpPr/>
          <p:nvPr/>
        </p:nvSpPr>
        <p:spPr>
          <a:xfrm>
            <a:off x="5943600" y="5524195"/>
            <a:ext cx="5605272" cy="602284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Règles en tests automatisés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B8C0C8"/>
                </a:solidFill>
                <a:latin typeface="Inter"/>
              </a:rPr>
              <a:t>Séance 2 · Great Expectations · US-10, 11, 13, 15. Une règle métier devient un test nommé par son identifiant RQ.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Règles en tests : une expectation par règle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S2 · US-10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RÈGLES ET TESTS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2850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2850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782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Pour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RQ-001, 002, 003, 005, 009, 010 et 020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l'expectation porte son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rule_id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avec lignes testées, échecs, taux et sévérité.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base et la table visées sont des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paramètres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la suite se relance sur silver sans modification.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93796"/>
          <a:ext cx="10908792" cy="29260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Table bronze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Expectation (type)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Testées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En échec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Taux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Sévérité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RQ-001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RQ-002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RQ-003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RQ-005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RQ-009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RQ-010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RQ-020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5811316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Sévérité : bloquante ou avertissement. Chemin des suites de validation : voir le dépôt, reports/ge/gx/expectations.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Pièges rencontrés et lignes en échec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S2 · US-10,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RÈGLES ET TESTS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2850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2850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782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pièges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(nul, vide, blanc ; adresses étrangères ; comparaisons exactes) avec le chiffre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avant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après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correction.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Un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échantillon commenté de 20 lignes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en échec : famille d'erreur, cause probable, action proposée.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48076"/>
          <a:ext cx="10908792" cy="104241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Piège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Avant correction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Après correction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Preuve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3927652"/>
          <a:ext cx="10908792" cy="13898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Famille d'erreur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(sur 20)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Cause probable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Action proposée (à qui ?)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4089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Chemins : export complet des lignes en échec ; échantillon commenté de 20 lignes.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Âge à la bonne date et mesure de référence sur bronze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S2 · US-13,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RÈGLES ET TESTS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3231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3231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82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1" i="0">
                <a:solidFill>
                  <a:srgbClr val="F5A623"/>
                </a:solidFill>
                <a:latin typeface="Inter"/>
              </a:rPr>
              <a:t>RQ-002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documentée avec sa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date de référence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et un cas où « à la date du jour » donne un autre résultat.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mesure de référence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écrite dans dq.dq_history (couche BRONZE), avec la synthèse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par dimension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Une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phrase de synthèse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chiffrée : « voici la qualité de ce qui nous est livré ».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86176"/>
          <a:ext cx="10908792" cy="90525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Date de référence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Définition de l'âge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en échec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Preuve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Date de début du contrat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Date du jour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3801160"/>
          <a:ext cx="10908792" cy="1508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Dimension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Taux moyen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 la plus faible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Constat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Unicité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Complétude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Validité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Cohérence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419648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PHRASE DE SYNTHÈSE</a:t>
            </a:r>
          </a:p>
        </p:txBody>
      </p:sp>
      <p:sp>
        <p:nvSpPr>
          <p:cNvPr id="36" name="Zone à rédiger"/>
          <p:cNvSpPr/>
          <p:nvPr/>
        </p:nvSpPr>
        <p:spPr>
          <a:xfrm>
            <a:off x="640080" y="5712256"/>
            <a:ext cx="10908792" cy="414223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[Voici la qualité de ce qui nous est livré : …]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Bilan de S2 : critères de fin et difficultés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S2 · BILAN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RÈGLES ET TESTS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Chaque critère coché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démontré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par une page de ce livrable ou par un fichier du dépôt.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difficultés sont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chiffrées en temps perdu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; un point de reprise utilisé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déclaré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579827"/>
            <a:ext cx="5120640" cy="354665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ône ok" descr="Icône 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35275"/>
            <a:ext cx="310896" cy="3108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89304" y="275356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1" i="0" spc="120">
                <a:solidFill>
                  <a:srgbClr val="F7F6F2"/>
                </a:solidFill>
                <a:latin typeface="Inter"/>
              </a:rPr>
              <a:t>CRITÈRES DE FIN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219907"/>
            <a:ext cx="4663440" cy="2815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Chaque expectation porte l'identifiant de sa règle.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La même suite se relance sur une autre base ou table sans modification de code.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La mesure de référence est dans dq.dq_history (lot, couche, testées, échecs).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Les règles s'exécutent d'un seul geste (notebook relançable de bout en bout).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5216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Remplacez [ ] par [x] une fois le critère démontré.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57982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DIFFICULTÉS RENCONTRÉES ET TEMPS PERDU</a:t>
            </a:r>
          </a:p>
        </p:txBody>
      </p:sp>
      <p:sp>
        <p:nvSpPr>
          <p:cNvPr id="39" name="Zone à rédiger"/>
          <p:cNvSpPr/>
          <p:nvPr/>
        </p:nvSpPr>
        <p:spPr>
          <a:xfrm>
            <a:off x="5943600" y="2872435"/>
            <a:ext cx="5605272" cy="117043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18002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POINT DE REPRISE UTILISÉ (OUI / NON, LEQUEL)</a:t>
            </a:r>
          </a:p>
        </p:txBody>
      </p:sp>
      <p:sp>
        <p:nvSpPr>
          <p:cNvPr id="41" name="Zone à rédiger"/>
          <p:cNvSpPr/>
          <p:nvPr/>
        </p:nvSpPr>
        <p:spPr>
          <a:xfrm>
            <a:off x="5943600" y="4472635"/>
            <a:ext cx="5605272" cy="62179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23158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CE QUE NOUS FERIONS AUTREMENT</a:t>
            </a:r>
          </a:p>
        </p:txBody>
      </p:sp>
      <p:sp>
        <p:nvSpPr>
          <p:cNvPr id="43" name="Zone à rédiger"/>
          <p:cNvSpPr/>
          <p:nvPr/>
        </p:nvSpPr>
        <p:spPr>
          <a:xfrm>
            <a:off x="5943600" y="5524195"/>
            <a:ext cx="5605272" cy="602284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Intégrité et portes en SodaCL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B8C0C8"/>
                </a:solidFill>
                <a:latin typeface="Inter"/>
              </a:rPr>
              <a:t>Séance 3 · Soda Core · US-12, 14, 16 à 20. Mêmes contrôles en SodaCL, code retour qui peut fermer une porte, intégrité entre tables.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Checks Soda : une source de données par couche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S3 · US-12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RÈGLES ET TESTS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Chaque contrôle porte l'identifiant de sa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règle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et 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couche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mesurée.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code retour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du scan : à quelle condition devient-il non nul ? Distinguez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avertissement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échec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534107"/>
          <a:ext cx="10908791" cy="208483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Fichier de checks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Couche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Résultat (PASSED, WARN, FAILED)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Valeur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Code retour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4756099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CODE RETOUR ET AVERTISSEMENTS</a:t>
            </a:r>
          </a:p>
        </p:txBody>
      </p:sp>
      <p:sp>
        <p:nvSpPr>
          <p:cNvPr id="35" name="Zone à rédiger"/>
          <p:cNvSpPr/>
          <p:nvPr/>
        </p:nvSpPr>
        <p:spPr>
          <a:xfrm>
            <a:off x="640080" y="5048707"/>
            <a:ext cx="5349240" cy="107777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4756099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COHÉRENCE AVEC GREAT EXPECTATIONS (S2)</a:t>
            </a:r>
          </a:p>
        </p:txBody>
      </p:sp>
      <p:sp>
        <p:nvSpPr>
          <p:cNvPr id="37" name="Zone à rédiger"/>
          <p:cNvSpPr/>
          <p:nvPr/>
        </p:nvSpPr>
        <p:spPr>
          <a:xfrm>
            <a:off x="6199632" y="5048707"/>
            <a:ext cx="5349240" cy="107777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[Écarts et explication]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Bilan d'intégrité et valeur sentinelle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S3 · US-16,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RÈGLES ET TESTS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nombre d'orphelins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par relation, avec une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conclusion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pour chacune (anomalie, sentinelle, normal).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valeur sentinelle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de assure_id : contrôle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avant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après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écart chiffré,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convention écrite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534107"/>
          <a:ext cx="10908792" cy="15087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Relation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Testées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Orphelins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Taux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Conclusion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contrat.souscripteur_id → client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contrat.assure_id → client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contrat.code_type → type_contrat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sinistre.contrat_id → contrat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4152595"/>
          <a:ext cx="10908792" cy="905256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Contrôle sur assure_id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Orphelins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Preuve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Avant traitement de la sentinelle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Après traitement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167579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CONVENTION (QUI TRAITE LA SENTINELLE, DANS QUELLE COUCHE) ET POURQUOI LE PREMIER CONTRÔLE EST TROMPEUR</a:t>
            </a:r>
          </a:p>
        </p:txBody>
      </p:sp>
      <p:sp>
        <p:nvSpPr>
          <p:cNvPr id="36" name="Zone à rédiger"/>
          <p:cNvSpPr/>
          <p:nvPr/>
        </p:nvSpPr>
        <p:spPr>
          <a:xfrm>
            <a:off x="640080" y="5460187"/>
            <a:ext cx="10908792" cy="66629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Statuts, garantie et définition unique du client actif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S3 · US-18, 19,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RÈGLES ET TESTS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2850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2850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782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1" i="0">
                <a:solidFill>
                  <a:srgbClr val="F5A623"/>
                </a:solidFill>
                <a:latin typeface="Inter"/>
              </a:rPr>
              <a:t>RQ-015, 016, 017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mesurées, avec une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règle de correction du statut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proposée au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Data Owner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(reportée au journal des décisions).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requête unique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du client actif : les trois directions obtiennent 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même chiffre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48076"/>
          <a:ext cx="10908792" cy="13898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Couche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Testées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Échecs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Taux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RQ-015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RQ-016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RQ-017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4275124"/>
          <a:ext cx="5669280" cy="13898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Direction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Chiffre avec la requête unique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Commerciale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Sinistres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Risques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83680" y="4275124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RÈGLE DE CORRECTION DU STATUT PROPOSÉE</a:t>
            </a:r>
          </a:p>
        </p:txBody>
      </p:sp>
      <p:sp>
        <p:nvSpPr>
          <p:cNvPr id="36" name="Zone à rédiger"/>
          <p:cNvSpPr/>
          <p:nvPr/>
        </p:nvSpPr>
        <p:spPr>
          <a:xfrm>
            <a:off x="6583680" y="4567732"/>
            <a:ext cx="4965192" cy="1558747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[Texte, rôle destinataire, date]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38164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Chemin de la requête du client actif et contrôle RQ-018 : à indiquer dans le dépôt.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Bilan de S3 : critères de fin et difficultés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S3 · BILAN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RÈGLES ET TESTS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Chaque critère coché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démontré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par une page de ce livrable ou par un fichier du dépôt.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difficultés sont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chiffrées en temps perdu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; un point de reprise utilisé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déclaré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579827"/>
            <a:ext cx="5120640" cy="354665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ône ok" descr="Icône 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35275"/>
            <a:ext cx="310896" cy="3108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89304" y="275356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1" i="0" spc="120">
                <a:solidFill>
                  <a:srgbClr val="F7F6F2"/>
                </a:solidFill>
                <a:latin typeface="Inter"/>
              </a:rPr>
              <a:t>CRITÈRES DE FIN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219907"/>
            <a:ext cx="4663440" cy="2815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Un scan renvoie un code retour non nul quand une règle bloquante échoue.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Chaque contrôle porte l'identifiant de sa règle et la couche mesurée.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Les trois directions obtiennent le même chiffre avec la requête unique.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La valeur sentinelle est expliquée et traitée.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5216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Remplacez [ ] par [x] une fois le critère démontré.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57982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DIFFICULTÉS RENCONTRÉES ET TEMPS PERDU</a:t>
            </a:r>
          </a:p>
        </p:txBody>
      </p:sp>
      <p:sp>
        <p:nvSpPr>
          <p:cNvPr id="39" name="Zone à rédiger"/>
          <p:cNvSpPr/>
          <p:nvPr/>
        </p:nvSpPr>
        <p:spPr>
          <a:xfrm>
            <a:off x="5943600" y="2872435"/>
            <a:ext cx="5605272" cy="117043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18002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POINT DE REPRISE UTILISÉ (OUI / NON, LEQUEL)</a:t>
            </a:r>
          </a:p>
        </p:txBody>
      </p:sp>
      <p:sp>
        <p:nvSpPr>
          <p:cNvPr id="41" name="Zone à rédiger"/>
          <p:cNvSpPr/>
          <p:nvPr/>
        </p:nvSpPr>
        <p:spPr>
          <a:xfrm>
            <a:off x="5943600" y="4472635"/>
            <a:ext cx="5605272" cy="62179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23158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CE QUE NOUS FERIONS AUTREMENT</a:t>
            </a:r>
          </a:p>
        </p:txBody>
      </p:sp>
      <p:sp>
        <p:nvSpPr>
          <p:cNvPr id="43" name="Zone à rédiger"/>
          <p:cNvSpPr/>
          <p:nvPr/>
        </p:nvSpPr>
        <p:spPr>
          <a:xfrm>
            <a:off x="5943600" y="5524195"/>
            <a:ext cx="5605272" cy="602284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Construire silver puis gold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B8C0C8"/>
                </a:solidFill>
                <a:latin typeface="Inter"/>
              </a:rPr>
              <a:t>Séance 4 · PySpark · US-21 à 28. Standardiser, mettre en quarantaine, re-mesurer, dédoublonner, construire gold, retracer.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Silver : traitements et quarantaine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S4 · US-21, 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SILVER, GOLD ET TRAÇABILITÉ · 25 %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3231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3231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82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Pour chaque traitement : 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lignes modifiées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et 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garde-fou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(ce qu'il ne doit pas faire).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L'invariant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silver + rejets = bronze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table par table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avec l'écart.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Une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preuve d'idempotence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le traitement relancé deux fois donne le même résultat.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86176"/>
          <a:ext cx="10908792" cy="13898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Traitement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Table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modifiées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Garde-fou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4313224"/>
          <a:ext cx="10908792" cy="17373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Table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bronze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silver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rejetées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Écart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client (crm)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client (cif)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contrat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sinistre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6123736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Preuve d'idempotence et chemins des scripts : à indiquer dans le dépôt.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Rejets par règle et porte S : bronze contre silver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S4 · US-22, 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SILVER, GOLD ET TRAÇABILITÉ · 25 %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3231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3231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82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rejets par règle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(dq.rejets) avec la raison métier.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Pour chaque règle : taux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bronze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taux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silver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écart, et l'</a:t>
            </a:r>
            <a:r>
              <a:rPr sz="1300" b="1" i="0">
                <a:solidFill>
                  <a:srgbClr val="F5A623"/>
                </a:solidFill>
                <a:latin typeface="Inter"/>
              </a:rPr>
              <a:t>explication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de toute baisse.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règles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bloquantes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de la porte S : conformes sur silver, ou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pourquoi pas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86176"/>
          <a:ext cx="10908792" cy="98755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Table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rejetées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Raison métier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3910888"/>
          <a:ext cx="10908792" cy="197510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Sévérité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Taux bronze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Taux silver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Écart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Explication de l'écart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Dédoublonnage : paramètres et mesures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S4 · US-24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SILVER, GOLD ET TRAÇABILITÉ · 25 %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paramètres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retenus (normalisation, clés de blocage, similarité, seuils) avec leur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justification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1" i="0">
                <a:solidFill>
                  <a:srgbClr val="F5A623"/>
                </a:solidFill>
                <a:latin typeface="Inter"/>
              </a:rPr>
              <a:t>Précision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rappel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mesurés sur les 200 paires étiquetées ; nombre d'</a:t>
            </a:r>
            <a:r>
              <a:rPr sz="1300" b="1" i="0">
                <a:solidFill>
                  <a:srgbClr val="F5A623"/>
                </a:solidFill>
                <a:latin typeface="Inter"/>
              </a:rPr>
              <a:t>identités distinctes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obtenu.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534107"/>
          <a:ext cx="10908792" cy="175564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Paramètre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Valeur retenue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Justification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Normalisation avant comparaison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Clé(s) de blocage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Mesure de similarité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Seuil de fusion automatique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Seuil de la zone de revue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4399483"/>
          <a:ext cx="8229600" cy="1700784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Mesure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Valeur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Groupes de doublons trouvés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Paires fusionnées automatiquement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Paires en zone de revue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Précision / rappel sur les 200 paires étiquetées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Identités distinctes obtenues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9052560" y="4399483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ZONE DE REVUE</a:t>
            </a:r>
          </a:p>
        </p:txBody>
      </p:sp>
      <p:sp>
        <p:nvSpPr>
          <p:cNvPr id="36" name="Zone à rédiger"/>
          <p:cNvSpPr/>
          <p:nvPr/>
        </p:nvSpPr>
        <p:spPr>
          <a:xfrm>
            <a:off x="9052560" y="4692091"/>
            <a:ext cx="2496312" cy="1434388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[Règle de décision proposée]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Golden record de la Société Meunier et règle de survie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S4 · US-25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SILVER, GOLD ET TRAÇABILITÉ · 25 %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1" i="0">
                <a:solidFill>
                  <a:srgbClr val="F5A623"/>
                </a:solidFill>
                <a:latin typeface="Inter"/>
              </a:rPr>
              <a:t>Un seul CLI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pour les quatre identifiants de la Société Meunier.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Une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règle de survie par attribut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et un cas où elle se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trompe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534107"/>
          <a:ext cx="6949440" cy="15087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Identifiant source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Système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CLI attribué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4225747"/>
          <a:ext cx="10908791" cy="1600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Attribut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Source retenue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 (priorité, plus récent, non nul)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Cas où la règle se trompe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Nom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Adresse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Téléphone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Courriel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8978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Reportez la règle de survie dans le journal des décisions, avec le rôle qui l'a décidée.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Gold : tables cohérentes et client actif unique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S4 · US-27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SILVER, GOLD ET TRAÇABILITÉ · 25 %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3231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3231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82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lignes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de chaque table gold, 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lignes écartées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à la porte G et 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règles responsables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1" i="0">
                <a:solidFill>
                  <a:srgbClr val="F5A623"/>
                </a:solidFill>
                <a:latin typeface="Inter"/>
              </a:rPr>
              <a:t>Aucun orphelin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dans gold ; client actif publié par 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vue unique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v_client_actif.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L'</a:t>
            </a:r>
            <a:r>
              <a:rPr sz="1300" b="1" i="0">
                <a:solidFill>
                  <a:srgbClr val="F5A623"/>
                </a:solidFill>
                <a:latin typeface="Inter"/>
              </a:rPr>
              <a:t>effet de la quarantaine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en aval : un client écarté laisse-t-il des contrats orphelins ?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86176"/>
          <a:ext cx="10908792" cy="1737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Table gold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écartées (porte G)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Règles responsables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client_unique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xref_identifiants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contrat_certifie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sinistre_certifie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4660696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ORPHELINS ET CLIENT ACTIF PUBLIÉ</a:t>
            </a:r>
          </a:p>
        </p:txBody>
      </p:sp>
      <p:sp>
        <p:nvSpPr>
          <p:cNvPr id="35" name="Zone à rédiger"/>
          <p:cNvSpPr/>
          <p:nvPr/>
        </p:nvSpPr>
        <p:spPr>
          <a:xfrm>
            <a:off x="640080" y="4953304"/>
            <a:ext cx="5349240" cy="1173175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[Chiffres, écart avec CD-001]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4660696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EFFET DE LA QUARANTAINE SUR L'INTÉGRITÉ EN AVAL</a:t>
            </a:r>
          </a:p>
        </p:txBody>
      </p:sp>
      <p:sp>
        <p:nvSpPr>
          <p:cNvPr id="37" name="Zone à rédiger"/>
          <p:cNvSpPr/>
          <p:nvPr/>
        </p:nvSpPr>
        <p:spPr>
          <a:xfrm>
            <a:off x="6199632" y="4953304"/>
            <a:ext cx="5349240" cy="1173175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Retracer trois données de gold jusqu'à la source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S4 · US-28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SILVER, GOLD ET TRAÇABILITÉ · 25 %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2850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2850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782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Pour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chacune des trois données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la valeur dans gold, les identifiants de ligne silver et bronze (avec le lot), la source (table, clé).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requête de traçabilité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est dans le dépôt.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93796"/>
          <a:ext cx="10908792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Donnée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Gold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Silver (identifiants)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Bronze (identifiants, lot)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Source (table, clé)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Société Meunier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Un code postal à zéro initial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Une adresse de sinistre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585216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B8C0C8"/>
                </a:solidFill>
                <a:latin typeface="Inter"/>
              </a:rPr>
              <a:t>Preuve (chemin du notebook, du fichier ou de la requête dans le dépôt) : </a:t>
            </a:r>
            <a:r>
              <a:rPr sz="1200" b="1" i="0">
                <a:solidFill>
                  <a:srgbClr val="F5A623"/>
                </a:solidFill>
                <a:latin typeface="Inter"/>
              </a:rPr>
              <a:t>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Bilan de S4 : critères de fin et difficultés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S4 · BILAN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SILVER, GOLD ET TRAÇABILITÉ · 25 %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Chaque critère coché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démontré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par une page de ce livrable ou par un fichier du dépôt.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difficultés sont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chiffrées en temps perdu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; un point de reprise utilisé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déclaré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579827"/>
            <a:ext cx="5120640" cy="354665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ône ok" descr="Icône 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35275"/>
            <a:ext cx="310896" cy="3108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89304" y="275356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1" i="0" spc="120">
                <a:solidFill>
                  <a:srgbClr val="F7F6F2"/>
                </a:solidFill>
                <a:latin typeface="Inter"/>
              </a:rPr>
              <a:t>CRITÈRES DE FIN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219907"/>
            <a:ext cx="4663440" cy="2815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Pour chaque table, silver + rejets = bronze, sans suppression silencieuse.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Relancer le traitement deux fois donne le même résultat.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Les règles bloquantes de la porte S sont conformes sur silver.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Le gold ne contient aucun orphelin ; le client actif est publié par une seule vue.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Les trois traces remontent du gold à la source avec identifiants de ligne et de lot.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5216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Remplacez [ ] par [x] une fois le critère démontré.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57982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DIFFICULTÉS RENCONTRÉES ET TEMPS PERDU</a:t>
            </a:r>
          </a:p>
        </p:txBody>
      </p:sp>
      <p:sp>
        <p:nvSpPr>
          <p:cNvPr id="39" name="Zone à rédiger"/>
          <p:cNvSpPr/>
          <p:nvPr/>
        </p:nvSpPr>
        <p:spPr>
          <a:xfrm>
            <a:off x="5943600" y="2872435"/>
            <a:ext cx="5605272" cy="117043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18002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POINT DE REPRISE UTILISÉ (OUI / NON, LEQUEL)</a:t>
            </a:r>
          </a:p>
        </p:txBody>
      </p:sp>
      <p:sp>
        <p:nvSpPr>
          <p:cNvPr id="41" name="Zone à rédiger"/>
          <p:cNvSpPr/>
          <p:nvPr/>
        </p:nvSpPr>
        <p:spPr>
          <a:xfrm>
            <a:off x="5943600" y="4472635"/>
            <a:ext cx="5605272" cy="62179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23158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CE QUE NOUS FERIONS AUTREMENT</a:t>
            </a:r>
          </a:p>
        </p:txBody>
      </p:sp>
      <p:sp>
        <p:nvSpPr>
          <p:cNvPr id="43" name="Zone à rédiger"/>
          <p:cNvSpPr/>
          <p:nvPr/>
        </p:nvSpPr>
        <p:spPr>
          <a:xfrm>
            <a:off x="5943600" y="5524195"/>
            <a:ext cx="5605272" cy="602284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Certifier, publier, gouverner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B8C0C8"/>
                </a:solidFill>
                <a:latin typeface="Inter"/>
              </a:rPr>
              <a:t>Séance 5 · Porte C · US-29 à 35. Historique sur trois couches, certificat, publication refusée puis acceptée, catalogue.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Historique des mesures et courbes d'évolution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S5 · US-29, 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PREUVE ET CERTIFICAT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3231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3231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82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1" i="0">
                <a:solidFill>
                  <a:srgbClr val="F5A623"/>
                </a:solidFill>
                <a:latin typeface="Inter"/>
              </a:rPr>
              <a:t>Une mesure par couche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où la règle s'applique, pour chaque règle ; les couches non applicables sont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justifiées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Toute règle qui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descend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d'une couche à l'autre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expliquée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(filtre, conversion, effet de la quarantaine).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Une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courbe par dimension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(image insérée ci-dessous).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86176"/>
          <a:ext cx="10908791" cy="197510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Dimension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Bronze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Silver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Gold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Évolution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Explication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4898440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COURBES (INSÉREZ L'IMAGE, CHEMIN DU FICHIER DANS LE DÉPÔT)</a:t>
            </a:r>
          </a:p>
        </p:txBody>
      </p:sp>
      <p:sp>
        <p:nvSpPr>
          <p:cNvPr id="35" name="Zone à rédiger"/>
          <p:cNvSpPr/>
          <p:nvPr/>
        </p:nvSpPr>
        <p:spPr>
          <a:xfrm>
            <a:off x="640080" y="5191048"/>
            <a:ext cx="10908792" cy="935431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[Insérez ici les courbes par dimension et par couche]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Certificat de qualité : GO ou NO_GO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S5 · US-31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PREUVE ET CERTIFICAT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3231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3231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82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 certificat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produit par requête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et lié à une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empreinte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du gold.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L'</a:t>
            </a:r>
            <a:r>
              <a:rPr sz="1300" b="1" i="0">
                <a:solidFill>
                  <a:srgbClr val="F5A623"/>
                </a:solidFill>
                <a:latin typeface="Inter"/>
              </a:rPr>
              <a:t>épreuve du NO_GO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lot volontairement dégradé, décision obtenue, preuve.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règles bloquantes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non mesurées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par votre pipeline, donc non couvertes.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86176"/>
          <a:ext cx="6949440" cy="234086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Élément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60">
                          <a:solidFill>
                            <a:srgbClr val="F5A623"/>
                          </a:solidFill>
                          <a:latin typeface="Inter"/>
                        </a:rPr>
                        <a:t>Valeur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Numéro du certificat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Lot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Décision (GO ou NO_GO)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Règles bloquantes testées / conformes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Écarts connus (avertissements)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Empreinte du gold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7F6F2"/>
                          </a:solidFill>
                          <a:latin typeface="Inter"/>
                        </a:rPr>
                        <a:t>Signataire (rôle)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863840" y="2786176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ÉPREUVE DU NO_GO</a:t>
            </a:r>
          </a:p>
        </p:txBody>
      </p:sp>
      <p:sp>
        <p:nvSpPr>
          <p:cNvPr id="35" name="Zone à rédiger"/>
          <p:cNvSpPr/>
          <p:nvPr/>
        </p:nvSpPr>
        <p:spPr>
          <a:xfrm>
            <a:off x="7863840" y="3078784"/>
            <a:ext cx="3685032" cy="208483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[Comment dégradé, décision, preuve]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18480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RÈGLES NON COUVERTES PAR LE CERTIFICAT</a:t>
            </a:r>
          </a:p>
        </p:txBody>
      </p:sp>
      <p:sp>
        <p:nvSpPr>
          <p:cNvPr id="37" name="Zone à rédiger"/>
          <p:cNvSpPr/>
          <p:nvPr/>
        </p:nvSpPr>
        <p:spPr>
          <a:xfrm>
            <a:off x="640080" y="5511088"/>
            <a:ext cx="10908792" cy="615391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Publication vers le CRM : refus, chargement, réconciliation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S5 · US-32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PREUVE ET CERTIFICAT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3231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3231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82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quatre scénarios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avec 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message obtenu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sans certificat, NO_GO, gold modifié, GO.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réconciliation RQ-025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après chargement : comptage et somme de contrôle, gold contre CRM cible.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 chargement est-il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tout-ou-rien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? Comment l'avez-vous vérifié ?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86176"/>
          <a:ext cx="10908792" cy="17373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Scénario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Message obtenu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Chargement ?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Preuve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Sans certificat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Certificat NO_GO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Gold modifié après émission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Certificat GO, gold intact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4633264"/>
          <a:ext cx="10908792" cy="131673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Table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gold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Lignes CRM cible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Somme gold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Somme CRM cible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Écart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client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contrat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sinistre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602315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Tout-ou-rien : décrivez en une ligne comment vous l'avez vérifié, et le chemin du script de publication.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Gouvernance : catalogue, propriétaires, lineage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S5 · US-34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PREUVE ET CERTIFICAT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fiche de catalogue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de gold.client_unique : propriétaire, steward, définition, règles rattachées.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lineage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de gold.client_unique jusqu'aux sources.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534107"/>
          <a:ext cx="10908792" cy="192024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Élément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Valeur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Propriétaire (Data Owner)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Steward (Data Steward)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Définition de « client actif » rattachée à la fiche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Règles RQ rattachées à la table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4637227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LINEAGE DE GOLD.CLIENT_UNIQUE (LISTE OU SCHÉMA)</a:t>
            </a:r>
          </a:p>
        </p:txBody>
      </p:sp>
      <p:sp>
        <p:nvSpPr>
          <p:cNvPr id="35" name="Zone à rédiger"/>
          <p:cNvSpPr/>
          <p:nvPr/>
        </p:nvSpPr>
        <p:spPr>
          <a:xfrm>
            <a:off x="640080" y="4929835"/>
            <a:ext cx="10908792" cy="1196644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[Insérez un schéma ou une liste : sources, bronze, silver, xref, gold]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Bilan de S5 : critères de fin et difficultés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S5 · BILAN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PREUVE ET CERTIFICAT · 20 %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Chaque critère coché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démontré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par une page de ce livrable ou par un fichier du dépôt.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difficultés sont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chiffrées en temps perdu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; un point de reprise utilisé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déclaré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579827"/>
            <a:ext cx="5120640" cy="354665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ône ok" descr="Icône 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35275"/>
            <a:ext cx="310896" cy="3108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89304" y="275356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1" i="0" spc="120">
                <a:solidFill>
                  <a:srgbClr val="F7F6F2"/>
                </a:solidFill>
                <a:latin typeface="Inter"/>
              </a:rPr>
              <a:t>CRITÈRES DE FIN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219907"/>
            <a:ext cx="4663440" cy="2815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Un lot volontairement dégradé produit un NO_GO, le lot nominal un GO.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La publication refuse sans certificat, avec NO_GO, et quand le gold a changé.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Après chargement, comptage et somme de contrôle sont égaux entre gold et CRM cible.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250" b="0" i="0">
                <a:solidFill>
                  <a:srgbClr val="F7F6F2"/>
                </a:solidFill>
                <a:latin typeface="Inter"/>
              </a:rPr>
              <a:t> Chaque décision de seuil ou de sévérité est attribuée à un rôle.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5216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Remplacez [ ] par [x] une fois le critère démontré.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57982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DIFFICULTÉS RENCONTRÉES ET TEMPS PERDU</a:t>
            </a:r>
          </a:p>
        </p:txBody>
      </p:sp>
      <p:sp>
        <p:nvSpPr>
          <p:cNvPr id="39" name="Zone à rédiger"/>
          <p:cNvSpPr/>
          <p:nvPr/>
        </p:nvSpPr>
        <p:spPr>
          <a:xfrm>
            <a:off x="5943600" y="2872435"/>
            <a:ext cx="5605272" cy="117043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18002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POINT DE REPRISE UTILISÉ (OUI / NON, LEQUEL)</a:t>
            </a:r>
          </a:p>
        </p:txBody>
      </p:sp>
      <p:sp>
        <p:nvSpPr>
          <p:cNvPr id="41" name="Zone à rédiger"/>
          <p:cNvSpPr/>
          <p:nvPr/>
        </p:nvSpPr>
        <p:spPr>
          <a:xfrm>
            <a:off x="5943600" y="4472635"/>
            <a:ext cx="5605272" cy="62179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231587"/>
            <a:ext cx="5605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CE QUE NOUS FERIONS AUTREMENT</a:t>
            </a:r>
          </a:p>
        </p:txBody>
      </p:sp>
      <p:sp>
        <p:nvSpPr>
          <p:cNvPr id="43" name="Zone à rédiger"/>
          <p:cNvSpPr/>
          <p:nvPr/>
        </p:nvSpPr>
        <p:spPr>
          <a:xfrm>
            <a:off x="5943600" y="5524195"/>
            <a:ext cx="5605272" cy="602284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Dossier go/no-go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B8C0C8"/>
                </a:solidFill>
                <a:latin typeface="Inter"/>
              </a:rPr>
              <a:t>Destinataire : la Directrice Générale. Un rapport court, sans jargon, quatre pages au plus hors annexes.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Recommandation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DOSSIER · 1 SUR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GOUVERNANCE ET DÉCISION · 15 %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3231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3231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82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recommandation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GO, NO-GO ou GO sous conditions, dite en une phrase.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1" i="0">
                <a:solidFill>
                  <a:srgbClr val="F5A623"/>
                </a:solidFill>
                <a:latin typeface="Inter"/>
              </a:rPr>
              <a:t>Trois raisons chiffrées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chacune avec sa preuve dans le dépôt.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Lisible par une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non-technicienne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aucun sigle sans définition.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831896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RECOMMANDATION</a:t>
            </a:r>
          </a:p>
        </p:txBody>
      </p:sp>
      <p:sp>
        <p:nvSpPr>
          <p:cNvPr id="34" name="Zone à rédiger"/>
          <p:cNvSpPr/>
          <p:nvPr/>
        </p:nvSpPr>
        <p:spPr>
          <a:xfrm>
            <a:off x="640080" y="3124504"/>
            <a:ext cx="10908792" cy="804671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[GO, NO-GO ou GO sous conditions : une phrase]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066336"/>
            <a:ext cx="3514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RAISON CHIFFRÉE 1</a:t>
            </a:r>
          </a:p>
        </p:txBody>
      </p:sp>
      <p:sp>
        <p:nvSpPr>
          <p:cNvPr id="36" name="Zone à rédiger"/>
          <p:cNvSpPr/>
          <p:nvPr/>
        </p:nvSpPr>
        <p:spPr>
          <a:xfrm>
            <a:off x="640080" y="4358944"/>
            <a:ext cx="3514344" cy="1767535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[Chiffre, couche, preuve]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7304" y="4066336"/>
            <a:ext cx="3514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RAISON CHIFFRÉE 2</a:t>
            </a:r>
          </a:p>
        </p:txBody>
      </p:sp>
      <p:sp>
        <p:nvSpPr>
          <p:cNvPr id="38" name="Zone à rédiger"/>
          <p:cNvSpPr/>
          <p:nvPr/>
        </p:nvSpPr>
        <p:spPr>
          <a:xfrm>
            <a:off x="4337304" y="4358944"/>
            <a:ext cx="3514344" cy="1767535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[Chiffre, couche, preuve]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4527" y="4066336"/>
            <a:ext cx="3514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RAISON CHIFFRÉE 3</a:t>
            </a:r>
          </a:p>
        </p:txBody>
      </p:sp>
      <p:sp>
        <p:nvSpPr>
          <p:cNvPr id="40" name="Zone à rédiger"/>
          <p:cNvSpPr/>
          <p:nvPr/>
        </p:nvSpPr>
        <p:spPr>
          <a:xfrm>
            <a:off x="8034527" y="4358944"/>
            <a:ext cx="3514344" cy="1767535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[Chiffre, couche, preuve]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Les preuves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DOSSIER · 2 SUR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GOUVERNANCE ET DÉCISION · 15 %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qualité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par dimension et par couche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face au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seuil visé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certificat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joint (numéro, décision, empreinte) et 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trois données retracées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en trois lignes.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534107"/>
          <a:ext cx="10908791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Dimension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Bronze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Silver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Gold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Seuil visé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Atteint ?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Unicité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Complétude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Validité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Cohérence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4500067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CERTIFICAT JOINT</a:t>
            </a:r>
          </a:p>
        </p:txBody>
      </p:sp>
      <p:sp>
        <p:nvSpPr>
          <p:cNvPr id="35" name="Zone à rédiger"/>
          <p:cNvSpPr/>
          <p:nvPr/>
        </p:nvSpPr>
        <p:spPr>
          <a:xfrm>
            <a:off x="640080" y="4792675"/>
            <a:ext cx="5349240" cy="1333804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[Numéro, décision, empreinte]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4500067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TROIS DONNÉES RETRACÉES, EN TROIS LIGNES</a:t>
            </a:r>
          </a:p>
        </p:txBody>
      </p:sp>
      <p:sp>
        <p:nvSpPr>
          <p:cNvPr id="37" name="Zone à rédiger"/>
          <p:cNvSpPr/>
          <p:nvPr/>
        </p:nvSpPr>
        <p:spPr>
          <a:xfrm>
            <a:off x="6199632" y="4792675"/>
            <a:ext cx="5349240" cy="1333804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Les écarts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DOSSIER · 3 SUR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GOUVERNANCE ET DÉCISION · 15 %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anomalies résiduelles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chiffrées, les lignes en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quarantaine par règle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avertissements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restants.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hypothèses à faire valider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par le métier : listées, jamais cachées.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534107"/>
          <a:ext cx="10908792" cy="1828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Écart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Chiffre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Conséquence pour le CRM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Qui doit agir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Anomalies résiduelles dans gold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Lignes en quarantaine, par règle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Avertissements restants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7F6F2"/>
                          </a:solidFill>
                          <a:latin typeface="Inter"/>
                        </a:rPr>
                        <a:t>Règles non couvertes par le certificat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4500067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HYPOTHÈSES À FAIRE VALIDER PAR LE MÉTIER</a:t>
            </a:r>
          </a:p>
        </p:txBody>
      </p:sp>
      <p:sp>
        <p:nvSpPr>
          <p:cNvPr id="35" name="Zone à rédiger"/>
          <p:cNvSpPr/>
          <p:nvPr/>
        </p:nvSpPr>
        <p:spPr>
          <a:xfrm>
            <a:off x="640080" y="4792675"/>
            <a:ext cx="10908792" cy="1333804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[Listez-les, une par ligne]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La décision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DOSSIER · 4 SUR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GOUVERNANCE ET DÉCISION · 15 %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3231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3231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82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seuils retenus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justifiés devant le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Data Owner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(numéros du journal des décisions).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rôles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qui décide, qui contrôle, qui exécute ; 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conditions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à lever, avec échéance et responsable.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signature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du Data Owner.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831896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SEUILS RETENUS ET JUSTIFICATION</a:t>
            </a:r>
          </a:p>
        </p:txBody>
      </p:sp>
      <p:sp>
        <p:nvSpPr>
          <p:cNvPr id="34" name="Zone à rédiger"/>
          <p:cNvSpPr/>
          <p:nvPr/>
        </p:nvSpPr>
        <p:spPr>
          <a:xfrm>
            <a:off x="640080" y="3124504"/>
            <a:ext cx="5349240" cy="107899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[Renvoi au journal, numéros]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2831896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RÔLES : DÉCIDE, CONTRÔLE, EXÉCUTE</a:t>
            </a:r>
          </a:p>
        </p:txBody>
      </p:sp>
      <p:sp>
        <p:nvSpPr>
          <p:cNvPr id="36" name="Zone à rédiger"/>
          <p:cNvSpPr/>
          <p:nvPr/>
        </p:nvSpPr>
        <p:spPr>
          <a:xfrm>
            <a:off x="6199632" y="3124504"/>
            <a:ext cx="5349240" cy="1078992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[Rédigez ici]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40080" y="4340656"/>
          <a:ext cx="10908792" cy="1042416"/>
        </p:xfrm>
        <a:graphic>
          <a:graphicData uri="http://schemas.openxmlformats.org/drawingml/2006/table">
            <a:tbl>
              <a:tblPr/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Condition à lever avant migration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Responsable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spc="60">
                          <a:solidFill>
                            <a:srgbClr val="F5A623"/>
                          </a:solidFill>
                          <a:latin typeface="Inter"/>
                        </a:rPr>
                        <a:t>Échéance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40080" y="5520232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120">
                <a:solidFill>
                  <a:srgbClr val="F5A623"/>
                </a:solidFill>
                <a:latin typeface="Inter"/>
              </a:rPr>
              <a:t>SIGNATURE DU DATA OWNER (NOM, RÔLE, DATE)</a:t>
            </a:r>
          </a:p>
        </p:txBody>
      </p:sp>
      <p:sp>
        <p:nvSpPr>
          <p:cNvPr id="39" name="Zone à rédiger"/>
          <p:cNvSpPr/>
          <p:nvPr/>
        </p:nvSpPr>
        <p:spPr>
          <a:xfrm>
            <a:off x="640080" y="5812840"/>
            <a:ext cx="10908792" cy="313639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200" i="1">
                <a:solidFill>
                  <a:srgbClr val="8E99A4"/>
                </a:solidFill>
                <a:latin typeface="Inter"/>
              </a:rPr>
              <a:t>[Nom, rôle, date]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07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Annexes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B8C0C8"/>
                </a:solidFill>
                <a:latin typeface="Inter"/>
              </a:rPr>
              <a:t>Journal des décisions, avancement par story, liens vers le dépôt.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Journal des décisions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ANNEXE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GOUVERNANCE ET DÉCISION · 15 %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285036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2850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782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Chaque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seuil, sévérité, définition ou règle de survie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: date, séance, règle, décision,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justification chiffrée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rôle décideur</a:t>
            </a:r>
            <a:r>
              <a:rPr sz="1300" b="0" i="0">
                <a:solidFill>
                  <a:srgbClr val="F7F6F2"/>
                </a:solidFill>
                <a:latin typeface="Inter"/>
              </a:rPr>
              <a:t>, alternative écartée.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Une décision sans rôle ni chiffre n'est pas une décision.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748076"/>
          <a:ext cx="10908792" cy="243230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950" b="1" i="0" spc="60">
                          <a:solidFill>
                            <a:srgbClr val="F5A623"/>
                          </a:solidFill>
                          <a:latin typeface="Inter"/>
                        </a:rPr>
                        <a:t>N°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spc="60">
                          <a:solidFill>
                            <a:srgbClr val="F5A623"/>
                          </a:solidFill>
                          <a:latin typeface="Inter"/>
                        </a:rPr>
                        <a:t>Date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spc="60">
                          <a:solidFill>
                            <a:srgbClr val="F5A623"/>
                          </a:solidFill>
                          <a:latin typeface="Inter"/>
                        </a:rPr>
                        <a:t>Séance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spc="60">
                          <a:solidFill>
                            <a:srgbClr val="F5A623"/>
                          </a:solidFill>
                          <a:latin typeface="Inter"/>
                        </a:rPr>
                        <a:t>Règle ou objet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spc="60">
                          <a:solidFill>
                            <a:srgbClr val="F5A623"/>
                          </a:solidFill>
                          <a:latin typeface="Inter"/>
                        </a:rPr>
                        <a:t>Décision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spc="60">
                          <a:solidFill>
                            <a:srgbClr val="F5A623"/>
                          </a:solidFill>
                          <a:latin typeface="Inter"/>
                        </a:rPr>
                        <a:t>Justification chiffrée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spc="60">
                          <a:solidFill>
                            <a:srgbClr val="F5A623"/>
                          </a:solidFill>
                          <a:latin typeface="Inter"/>
                        </a:rPr>
                        <a:t>Rôle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spc="60">
                          <a:solidFill>
                            <a:srgbClr val="F5A623"/>
                          </a:solidFill>
                          <a:latin typeface="Inter"/>
                        </a:rPr>
                        <a:t>Alternative écartée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7F6F2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7F6F2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7F6F2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7F6F2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7F6F2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7F6F2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525353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Ajoutez des lignes si nécessaire. Exemples : sévérité d'une règle, seuil d'avertissement, convention de la sentinelle, seuils de rapprochement, règle de survie, seuil de la porte 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Avancement par story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ANNEXE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5603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 spc="120">
                <a:solidFill>
                  <a:srgbClr val="0F9B8E"/>
                </a:solidFill>
                <a:latin typeface="Inter"/>
              </a:rPr>
              <a:t>CRITÈRE : GOUVERNANCE ET DÉCISION · 15 %</a:t>
            </a:r>
          </a:p>
        </p:txBody>
      </p:sp>
      <p:sp>
        <p:nvSpPr>
          <p:cNvPr id="28" name="Attendu"/>
          <p:cNvSpPr/>
          <p:nvPr/>
        </p:nvSpPr>
        <p:spPr>
          <a:xfrm>
            <a:off x="640080" y="1325880"/>
            <a:ext cx="10908792" cy="10329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ttendu barre"/>
          <p:cNvSpPr/>
          <p:nvPr/>
        </p:nvSpPr>
        <p:spPr>
          <a:xfrm>
            <a:off x="640080" y="1325880"/>
            <a:ext cx="82296" cy="10329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360152" cy="53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Une ligne par story :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statut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(Fait, En cours, Bloqué, À faire) et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preuve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(chemin du dépôt). Pas de preuve, pas de « Fait ».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2541727"/>
          <a:ext cx="10908792" cy="2468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Séance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Stories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Faites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En cours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Bloquées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Preuves principales (chemins)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S1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US-01 à 04, 06, 07, 09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S2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US-10, 11, 13, 15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S3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US-12, 14, 16 à 19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S4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US-21 à 25, 27, 28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S5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7F6F2"/>
                          </a:solidFill>
                          <a:latin typeface="Inter"/>
                        </a:rPr>
                        <a:t>US-29 à 32, 34, 35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5102047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8E99A4"/>
                </a:solidFill>
                <a:latin typeface="Inter"/>
              </a:rPr>
              <a:t>Le détail story par story est dans AVANCEMENT.md à la racine du dépôt.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Dépôt Git et étiquettes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ANNEXE C</a:t>
            </a:r>
          </a:p>
        </p:txBody>
      </p:sp>
      <p:sp>
        <p:nvSpPr>
          <p:cNvPr id="27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SUR CETTE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L'</a:t>
            </a:r>
            <a:r>
              <a:rPr sz="1300" b="1" i="0">
                <a:solidFill>
                  <a:srgbClr val="F5A623"/>
                </a:solidFill>
                <a:latin typeface="Inter"/>
              </a:rPr>
              <a:t>adresse du dépôt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et les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étiquettes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posées : seance-1 à seance-5 et rendu-final.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Aucun fichier interdit dans le dépôt (data/, CSV, sauvegardes, .env).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40080" y="2579827"/>
          <a:ext cx="10908792" cy="29260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Élément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spc="60">
                          <a:solidFill>
                            <a:srgbClr val="F5A623"/>
                          </a:solidFill>
                          <a:latin typeface="Inter"/>
                        </a:rPr>
                        <a:t>Valeur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Adresse du dépôt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Étiquette seance-1 (date)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Étiquette seance-2 (date)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Étiquette seance-3 (date)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Étiquette seance-4 (date)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Étiquette seance-5 (date)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7F6F2"/>
                          </a:solidFill>
                          <a:latin typeface="Inter"/>
                        </a:rPr>
                        <a:t>Étiquette rendu-final (date)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</a:p>
                  </a:txBody>
                  <a:tcPr marL="73152" marR="73152" anchor="ctr">
                    <a:lnL w="6350">
                      <a:solidFill>
                        <a:srgbClr val="2A4156"/>
                      </a:solidFill>
                    </a:lnL>
                    <a:lnR w="6350">
                      <a:solidFill>
                        <a:srgbClr val="2A4156"/>
                      </a:solidFill>
                    </a:lnR>
                    <a:lnT w="6350">
                      <a:solidFill>
                        <a:srgbClr val="2A4156"/>
                      </a:solidFill>
                    </a:lnT>
                    <a:lnB w="635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640080" y="502920"/>
            <a:ext cx="10908792" cy="731520"/>
          </a:xfrm>
        </p:spPr>
        <p:txBody>
          <a:bodyPr lIns="0" tIns="0" rIns="0" bIns="0"/>
          <a:lstStyle/>
          <a:p>
            <a:r>
              <a:rPr sz="2800"/>
              <a:t>Liste de contrôle du rendu final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09360"/>
            <a:ext cx="73152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56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 i="0" spc="200">
                <a:solidFill>
                  <a:srgbClr val="F5A623"/>
                </a:solidFill>
                <a:latin typeface="Inter"/>
              </a:rPr>
              <a:t>AVANT DE RENDRE</a:t>
            </a:r>
          </a:p>
        </p:txBody>
      </p:sp>
      <p:sp>
        <p:nvSpPr>
          <p:cNvPr id="27" name="Attendu"/>
          <p:cNvSpPr/>
          <p:nvPr/>
        </p:nvSpPr>
        <p:spPr>
          <a:xfrm>
            <a:off x="640080" y="1325880"/>
            <a:ext cx="10908792" cy="1071067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ttendu barre"/>
          <p:cNvSpPr/>
          <p:nvPr/>
        </p:nvSpPr>
        <p:spPr>
          <a:xfrm>
            <a:off x="640080" y="1325880"/>
            <a:ext cx="82296" cy="107106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ône target" descr="Icôn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35607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61872" y="1444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 i="0" spc="140">
                <a:solidFill>
                  <a:srgbClr val="F5A623"/>
                </a:solidFill>
                <a:latin typeface="Inter"/>
              </a:rPr>
              <a:t>ATTENDU AVANT LE DÉPÔT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783080"/>
            <a:ext cx="10360152" cy="56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Chaque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zone ambre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est complétée, ou le manque est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déclaré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dans le bilan de la séance.</a:t>
            </a: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Char char="•"/>
            </a:pPr>
            <a:r>
              <a:rPr sz="1300" b="0" i="0">
                <a:solidFill>
                  <a:srgbClr val="F7F6F2"/>
                </a:solidFill>
                <a:latin typeface="Inter"/>
              </a:rPr>
              <a:t>Chaque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chiffre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a sa </a:t>
            </a:r>
            <a:r>
              <a:rPr sz="1300" b="1" i="0">
                <a:solidFill>
                  <a:srgbClr val="F5A623"/>
                </a:solidFill>
                <a:latin typeface="Inter"/>
              </a:rPr>
              <a:t>preuve</a:t>
            </a:r>
            <a:r>
              <a:rPr sz="1300" b="0" i="0">
                <a:solidFill>
                  <a:srgbClr val="F7F6F2"/>
                </a:solidFill>
                <a:latin typeface="Inter"/>
              </a:rPr>
              <a:t> dans le dépôt.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2579827"/>
            <a:ext cx="10908792" cy="3546652"/>
          </a:xfrm>
          <a:prstGeom prst="rect">
            <a:avLst/>
          </a:prstGeom>
          <a:solidFill>
            <a:srgbClr val="1C2E3D"/>
          </a:solidFill>
          <a:ln w="9525">
            <a:solidFill>
              <a:srgbClr val="2A4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2762707"/>
            <a:ext cx="10332720" cy="3272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400" b="0" i="0">
                <a:solidFill>
                  <a:srgbClr val="F7F6F2"/>
                </a:solidFill>
                <a:latin typeface="Inter"/>
              </a:rPr>
              <a:t> Couverture : numéro du groupe, noms, date.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400" b="0" i="0">
                <a:solidFill>
                  <a:srgbClr val="F7F6F2"/>
                </a:solidFill>
                <a:latin typeface="Inter"/>
              </a:rPr>
              <a:t> Équipe : rôles par séance et contribution de chaque membre.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400" b="0" i="0">
                <a:solidFill>
                  <a:srgbClr val="F7F6F2"/>
                </a:solidFill>
                <a:latin typeface="Inter"/>
              </a:rPr>
              <a:t> Chaque page de séance : chiffres mesurés, preuve citée, conséquence attribuée à un rôle.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400" b="0" i="0">
                <a:solidFill>
                  <a:srgbClr val="F7F6F2"/>
                </a:solidFill>
                <a:latin typeface="Inter"/>
              </a:rPr>
              <a:t> Les cinq bilans de séance : critères cochés avec preuve, difficultés chiffrées en temps.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400" b="0" i="0">
                <a:solidFill>
                  <a:srgbClr val="F7F6F2"/>
                </a:solidFill>
                <a:latin typeface="Inter"/>
              </a:rPr>
              <a:t> Journal des décisions identique à celui du dépôt.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400" b="0" i="0">
                <a:solidFill>
                  <a:srgbClr val="F7F6F2"/>
                </a:solidFill>
                <a:latin typeface="Inter"/>
              </a:rPr>
              <a:t> Dossier go/no-go : recommandation, preuves, écarts, décision signée.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 i="0">
                <a:solidFill>
                  <a:srgbClr val="F7F6F2"/>
                </a:solidFill>
                <a:latin typeface="Consolas"/>
              </a:rPr>
              <a:t>[ ]</a:t>
            </a:r>
            <a:r>
              <a:rPr sz="1400" b="0" i="0">
                <a:solidFill>
                  <a:srgbClr val="F7F6F2"/>
                </a:solidFill>
                <a:latin typeface="Inter"/>
              </a:rPr>
              <a:t> Étiquette rendu-final posée et poussée ; export PDF du livrable joint au dépôt.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imal Insights - Sombre">
  <a:themeElements>
    <a:clrScheme name="Decimal Insights - Sombre">
      <a:dk1>
        <a:srgbClr val="F7F6F2"/>
      </a:dk1>
      <a:lt1>
        <a:srgbClr val="0D1B2A"/>
      </a:lt1>
      <a:dk2>
        <a:srgbClr val="B8C0C8"/>
      </a:dk2>
      <a:lt2>
        <a:srgbClr val="1C2E3D"/>
      </a:lt2>
      <a:accent1>
        <a:srgbClr val="F5A623"/>
      </a:accent1>
      <a:accent2>
        <a:srgbClr val="F5A623"/>
      </a:accent2>
      <a:accent3>
        <a:srgbClr val="8E99A4"/>
      </a:accent3>
      <a:accent4>
        <a:srgbClr val="5E6E7C"/>
      </a:accent4>
      <a:accent5>
        <a:srgbClr val="B8C0C8"/>
      </a:accent5>
      <a:accent6>
        <a:srgbClr val="F7F6F2"/>
      </a:accent6>
      <a:hlink>
        <a:srgbClr val="F5A623"/>
      </a:hlink>
      <a:folHlink>
        <a:srgbClr val="8E99A4"/>
      </a:folHlink>
    </a:clrScheme>
    <a:fontScheme name="Decimal Insights - Sombre">
      <a:majorFont>
        <a:latin typeface="Fraunce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6656</Words>
  <Application>Microsoft Office PowerPoint</Application>
  <PresentationFormat>Grand écran</PresentationFormat>
  <Paragraphs>1475</Paragraphs>
  <Slides>47</Slides>
  <Notes>47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2" baseType="lpstr">
      <vt:lpstr>Arial</vt:lpstr>
      <vt:lpstr>Consolas</vt:lpstr>
      <vt:lpstr>Fraunces SemiBold</vt:lpstr>
      <vt:lpstr>Inter</vt:lpstr>
      <vt:lpstr>Decimal Insights - Sombre</vt:lpstr>
      <vt:lpstr>Livrable de groupe</vt:lpstr>
      <vt:lpstr>Comment remplir ce modèle</vt:lpstr>
      <vt:lpstr>Où se trouve quoi, et ce que pèse chaque critère</vt:lpstr>
      <vt:lpstr>Membres, rôles par séance et contribution</vt:lpstr>
      <vt:lpstr>Notre compréhension du mandat</vt:lpstr>
      <vt:lpstr>Stack, profilage, bronze</vt:lpstr>
      <vt:lpstr>Inventaire des sources</vt:lpstr>
      <vt:lpstr>Bronze et porte B : la copie est-elle fidèle ?</vt:lpstr>
      <vt:lpstr>Épreuves de la porte B et méthode d'ingestion</vt:lpstr>
      <vt:lpstr>Profil de crm.client et motifs</vt:lpstr>
      <vt:lpstr>Dictionnaire du CIF : dix colonnes anonymes</vt:lpstr>
      <vt:lpstr>Trois directions, trois définitions du « client actif »</vt:lpstr>
      <vt:lpstr>Bilan de S1 : critères de fin et difficultés</vt:lpstr>
      <vt:lpstr>Règles en tests automatisés</vt:lpstr>
      <vt:lpstr>Règles en tests : une expectation par règle</vt:lpstr>
      <vt:lpstr>Pièges rencontrés et lignes en échec</vt:lpstr>
      <vt:lpstr>Âge à la bonne date et mesure de référence sur bronze</vt:lpstr>
      <vt:lpstr>Bilan de S2 : critères de fin et difficultés</vt:lpstr>
      <vt:lpstr>Intégrité et portes en SodaCL</vt:lpstr>
      <vt:lpstr>Checks Soda : une source de données par couche</vt:lpstr>
      <vt:lpstr>Bilan d'intégrité et valeur sentinelle</vt:lpstr>
      <vt:lpstr>Statuts, garantie et définition unique du client actif</vt:lpstr>
      <vt:lpstr>Bilan de S3 : critères de fin et difficultés</vt:lpstr>
      <vt:lpstr>Construire silver puis gold</vt:lpstr>
      <vt:lpstr>Silver : traitements et quarantaine</vt:lpstr>
      <vt:lpstr>Rejets par règle et porte S : bronze contre silver</vt:lpstr>
      <vt:lpstr>Dédoublonnage : paramètres et mesures</vt:lpstr>
      <vt:lpstr>Golden record de la Société Meunier et règle de survie</vt:lpstr>
      <vt:lpstr>Gold : tables cohérentes et client actif unique</vt:lpstr>
      <vt:lpstr>Retracer trois données de gold jusqu'à la source</vt:lpstr>
      <vt:lpstr>Bilan de S4 : critères de fin et difficultés</vt:lpstr>
      <vt:lpstr>Certifier, publier, gouverner</vt:lpstr>
      <vt:lpstr>Historique des mesures et courbes d'évolution</vt:lpstr>
      <vt:lpstr>Certificat de qualité : GO ou NO_GO</vt:lpstr>
      <vt:lpstr>Publication vers le CRM : refus, chargement, réconciliation</vt:lpstr>
      <vt:lpstr>Gouvernance : catalogue, propriétaires, lineage</vt:lpstr>
      <vt:lpstr>Bilan de S5 : critères de fin et difficultés</vt:lpstr>
      <vt:lpstr>Dossier go/no-go</vt:lpstr>
      <vt:lpstr>Recommandation</vt:lpstr>
      <vt:lpstr>Les preuves</vt:lpstr>
      <vt:lpstr>Les écarts</vt:lpstr>
      <vt:lpstr>La décision</vt:lpstr>
      <vt:lpstr>Annexes</vt:lpstr>
      <vt:lpstr>Journal des décisions</vt:lpstr>
      <vt:lpstr>Avancement par story</vt:lpstr>
      <vt:lpstr>Dépôt Git et étiquettes</vt:lpstr>
      <vt:lpstr>Liste de contrôle du rendu final</vt:lpstr>
    </vt:vector>
  </TitlesOfParts>
  <Company>Decimal Insights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Livrable de groupe : TD AssurConnect</dc:title>
  <dc:subject>Gouvernance, profilage et qualité des données</dc:subject>
  <dc:creator>Decimal Insights Consulting</dc:creator>
  <cp:lastModifiedBy>Sami Ramzi Rezig</cp:lastModifiedBy>
  <cp:revision>4</cp:revision>
  <dcterms:created xsi:type="dcterms:W3CDTF">2026-10-12T11:18:29Z</dcterms:created>
  <dcterms:modified xsi:type="dcterms:W3CDTF">2026-10-15T10:06:47Z</dcterms:modified>
</cp:coreProperties>
</file>