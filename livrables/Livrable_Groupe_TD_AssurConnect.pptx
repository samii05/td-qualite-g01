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50"/>
  </p:notesMasterIdLst>
  <p:sldIdLst>
    <p:sldId id="264" r:id="rId2"/>
    <p:sldId id="265" r:id="rId3"/>
    <p:sldId id="266" r:id="rId4"/>
    <p:sldId id="267" r:id="rId5"/>
    <p:sldId id="268" r:id="rId6"/>
    <p:sldId id="269" r:id="rId7"/>
    <p:sldId id="270" r:id="rId8"/>
    <p:sldId id="271" r:id="rId9"/>
    <p:sldId id="272" r:id="rId10"/>
    <p:sldId id="273" r:id="rId11"/>
    <p:sldId id="274" r:id="rId12"/>
    <p:sldId id="275" r:id="rId13"/>
    <p:sldId id="276" r:id="rId14"/>
    <p:sldId id="277" r:id="rId15"/>
    <p:sldId id="278" r:id="rId16"/>
    <p:sldId id="279" r:id="rId17"/>
    <p:sldId id="280" r:id="rId18"/>
    <p:sldId id="311" r:id="rId19"/>
    <p:sldId id="281" r:id="rId20"/>
    <p:sldId id="282" r:id="rId21"/>
    <p:sldId id="283" r:id="rId22"/>
    <p:sldId id="284" r:id="rId23"/>
    <p:sldId id="285" r:id="rId24"/>
    <p:sldId id="286" r:id="rId25"/>
    <p:sldId id="287" r:id="rId26"/>
    <p:sldId id="288" r:id="rId27"/>
    <p:sldId id="289" r:id="rId28"/>
    <p:sldId id="290" r:id="rId29"/>
    <p:sldId id="291" r:id="rId30"/>
    <p:sldId id="292" r:id="rId31"/>
    <p:sldId id="293" r:id="rId32"/>
    <p:sldId id="294" r:id="rId33"/>
    <p:sldId id="295" r:id="rId34"/>
    <p:sldId id="296" r:id="rId35"/>
    <p:sldId id="297" r:id="rId36"/>
    <p:sldId id="298" r:id="rId37"/>
    <p:sldId id="299" r:id="rId38"/>
    <p:sldId id="300" r:id="rId39"/>
    <p:sldId id="301" r:id="rId40"/>
    <p:sldId id="302" r:id="rId41"/>
    <p:sldId id="303" r:id="rId42"/>
    <p:sldId id="304" r:id="rId43"/>
    <p:sldId id="305" r:id="rId44"/>
    <p:sldId id="306" r:id="rId45"/>
    <p:sldId id="307" r:id="rId46"/>
    <p:sldId id="308" r:id="rId47"/>
    <p:sldId id="309" r:id="rId48"/>
    <p:sldId id="310" r:id="rId49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BC29220-F6F8-4D02-9CC4-2003451A8B0F}" v="318" dt="2026-10-21T18:22:06.12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63" d="100"/>
          <a:sy n="63" d="100"/>
        </p:scale>
        <p:origin x="780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notesMaster" Target="notesMasters/notesMaster1.xml"/><Relationship Id="rId55" Type="http://schemas.microsoft.com/office/2016/11/relationships/changesInfo" Target="changesInfos/changesInfo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microsoft.com/office/2015/10/relationships/revisionInfo" Target="revisionInfo.xml"/><Relationship Id="rId8" Type="http://schemas.openxmlformats.org/officeDocument/2006/relationships/slide" Target="slides/slide7.xml"/><Relationship Id="rId51" Type="http://schemas.openxmlformats.org/officeDocument/2006/relationships/presProps" Target="pres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ami Ramzi Rezig" userId="572d1711-ff67-49fd-9a5d-76c488e55421" providerId="ADAL" clId="{F0B34570-08E3-456C-A539-DC5BE340AC6A}"/>
    <pc:docChg chg="undo custSel modSld">
      <pc:chgData name="Sami Ramzi Rezig" userId="572d1711-ff67-49fd-9a5d-76c488e55421" providerId="ADAL" clId="{F0B34570-08E3-456C-A539-DC5BE340AC6A}" dt="2026-10-22T11:57:31.933" v="1693" actId="20577"/>
      <pc:docMkLst>
        <pc:docMk/>
      </pc:docMkLst>
      <pc:sldChg chg="modSp mod">
        <pc:chgData name="Sami Ramzi Rezig" userId="572d1711-ff67-49fd-9a5d-76c488e55421" providerId="ADAL" clId="{F0B34570-08E3-456C-A539-DC5BE340AC6A}" dt="2026-10-14T15:00:37.216" v="315" actId="20577"/>
        <pc:sldMkLst>
          <pc:docMk/>
          <pc:sldMk cId="0" sldId="264"/>
        </pc:sldMkLst>
        <pc:spChg chg="mod">
          <ac:chgData name="Sami Ramzi Rezig" userId="572d1711-ff67-49fd-9a5d-76c488e55421" providerId="ADAL" clId="{F0B34570-08E3-456C-A539-DC5BE340AC6A}" dt="2026-10-14T15:00:37.216" v="315" actId="20577"/>
          <ac:spMkLst>
            <pc:docMk/>
            <pc:sldMk cId="0" sldId="264"/>
            <ac:spMk id="4" creationId="{00000000-0000-0000-0000-000000000000}"/>
          </ac:spMkLst>
        </pc:spChg>
      </pc:sldChg>
      <pc:sldChg chg="modSp mod">
        <pc:chgData name="Sami Ramzi Rezig" userId="572d1711-ff67-49fd-9a5d-76c488e55421" providerId="ADAL" clId="{F0B34570-08E3-456C-A539-DC5BE340AC6A}" dt="2026-10-14T14:53:20.494" v="261" actId="20577"/>
        <pc:sldMkLst>
          <pc:docMk/>
          <pc:sldMk cId="0" sldId="267"/>
        </pc:sldMkLst>
        <pc:graphicFrameChg chg="modGraphic">
          <ac:chgData name="Sami Ramzi Rezig" userId="572d1711-ff67-49fd-9a5d-76c488e55421" providerId="ADAL" clId="{F0B34570-08E3-456C-A539-DC5BE340AC6A}" dt="2026-10-14T14:53:20.494" v="261" actId="20577"/>
          <ac:graphicFrameMkLst>
            <pc:docMk/>
            <pc:sldMk cId="0" sldId="267"/>
            <ac:graphicFrameMk id="32" creationId="{00000000-0000-0000-0000-000000000000}"/>
          </ac:graphicFrameMkLst>
        </pc:graphicFrameChg>
      </pc:sldChg>
      <pc:sldChg chg="modSp mod">
        <pc:chgData name="Sami Ramzi Rezig" userId="572d1711-ff67-49fd-9a5d-76c488e55421" providerId="ADAL" clId="{F0B34570-08E3-456C-A539-DC5BE340AC6A}" dt="2026-10-16T09:10:51.824" v="720" actId="20577"/>
        <pc:sldMkLst>
          <pc:docMk/>
          <pc:sldMk cId="0" sldId="270"/>
        </pc:sldMkLst>
        <pc:spChg chg="mod">
          <ac:chgData name="Sami Ramzi Rezig" userId="572d1711-ff67-49fd-9a5d-76c488e55421" providerId="ADAL" clId="{F0B34570-08E3-456C-A539-DC5BE340AC6A}" dt="2026-10-15T17:54:35.895" v="533" actId="1076"/>
          <ac:spMkLst>
            <pc:docMk/>
            <pc:sldMk cId="0" sldId="270"/>
            <ac:spMk id="28" creationId="{00000000-0000-0000-0000-000000000000}"/>
          </ac:spMkLst>
        </pc:spChg>
        <pc:spChg chg="mod">
          <ac:chgData name="Sami Ramzi Rezig" userId="572d1711-ff67-49fd-9a5d-76c488e55421" providerId="ADAL" clId="{F0B34570-08E3-456C-A539-DC5BE340AC6A}" dt="2026-10-15T17:54:35.895" v="533" actId="1076"/>
          <ac:spMkLst>
            <pc:docMk/>
            <pc:sldMk cId="0" sldId="270"/>
            <ac:spMk id="29" creationId="{00000000-0000-0000-0000-000000000000}"/>
          </ac:spMkLst>
        </pc:spChg>
        <pc:spChg chg="mod">
          <ac:chgData name="Sami Ramzi Rezig" userId="572d1711-ff67-49fd-9a5d-76c488e55421" providerId="ADAL" clId="{F0B34570-08E3-456C-A539-DC5BE340AC6A}" dt="2026-10-15T17:54:35.895" v="533" actId="1076"/>
          <ac:spMkLst>
            <pc:docMk/>
            <pc:sldMk cId="0" sldId="270"/>
            <ac:spMk id="31" creationId="{00000000-0000-0000-0000-000000000000}"/>
          </ac:spMkLst>
        </pc:spChg>
        <pc:spChg chg="mod">
          <ac:chgData name="Sami Ramzi Rezig" userId="572d1711-ff67-49fd-9a5d-76c488e55421" providerId="ADAL" clId="{F0B34570-08E3-456C-A539-DC5BE340AC6A}" dt="2026-10-15T17:54:35.895" v="533" actId="1076"/>
          <ac:spMkLst>
            <pc:docMk/>
            <pc:sldMk cId="0" sldId="270"/>
            <ac:spMk id="32" creationId="{00000000-0000-0000-0000-000000000000}"/>
          </ac:spMkLst>
        </pc:spChg>
        <pc:spChg chg="mod">
          <ac:chgData name="Sami Ramzi Rezig" userId="572d1711-ff67-49fd-9a5d-76c488e55421" providerId="ADAL" clId="{F0B34570-08E3-456C-A539-DC5BE340AC6A}" dt="2026-10-16T09:10:51.824" v="720" actId="20577"/>
          <ac:spMkLst>
            <pc:docMk/>
            <pc:sldMk cId="0" sldId="270"/>
            <ac:spMk id="34" creationId="{00000000-0000-0000-0000-000000000000}"/>
          </ac:spMkLst>
        </pc:spChg>
        <pc:graphicFrameChg chg="mod modGraphic">
          <ac:chgData name="Sami Ramzi Rezig" userId="572d1711-ff67-49fd-9a5d-76c488e55421" providerId="ADAL" clId="{F0B34570-08E3-456C-A539-DC5BE340AC6A}" dt="2026-10-15T17:54:59.622" v="534" actId="1076"/>
          <ac:graphicFrameMkLst>
            <pc:docMk/>
            <pc:sldMk cId="0" sldId="270"/>
            <ac:graphicFrameMk id="33" creationId="{00000000-0000-0000-0000-000000000000}"/>
          </ac:graphicFrameMkLst>
        </pc:graphicFrameChg>
        <pc:picChg chg="mod">
          <ac:chgData name="Sami Ramzi Rezig" userId="572d1711-ff67-49fd-9a5d-76c488e55421" providerId="ADAL" clId="{F0B34570-08E3-456C-A539-DC5BE340AC6A}" dt="2026-10-15T17:54:35.895" v="533" actId="1076"/>
          <ac:picMkLst>
            <pc:docMk/>
            <pc:sldMk cId="0" sldId="270"/>
            <ac:picMk id="30" creationId="{00000000-0000-0000-0000-000000000000}"/>
          </ac:picMkLst>
        </pc:picChg>
      </pc:sldChg>
      <pc:sldChg chg="modSp mod">
        <pc:chgData name="Sami Ramzi Rezig" userId="572d1711-ff67-49fd-9a5d-76c488e55421" providerId="ADAL" clId="{F0B34570-08E3-456C-A539-DC5BE340AC6A}" dt="2026-10-15T19:13:08.192" v="626" actId="20577"/>
        <pc:sldMkLst>
          <pc:docMk/>
          <pc:sldMk cId="0" sldId="271"/>
        </pc:sldMkLst>
        <pc:spChg chg="mod">
          <ac:chgData name="Sami Ramzi Rezig" userId="572d1711-ff67-49fd-9a5d-76c488e55421" providerId="ADAL" clId="{F0B34570-08E3-456C-A539-DC5BE340AC6A}" dt="2026-10-15T19:13:08.192" v="626" actId="20577"/>
          <ac:spMkLst>
            <pc:docMk/>
            <pc:sldMk cId="0" sldId="271"/>
            <ac:spMk id="34" creationId="{00000000-0000-0000-0000-000000000000}"/>
          </ac:spMkLst>
        </pc:spChg>
        <pc:graphicFrameChg chg="mod modGraphic">
          <ac:chgData name="Sami Ramzi Rezig" userId="572d1711-ff67-49fd-9a5d-76c488e55421" providerId="ADAL" clId="{F0B34570-08E3-456C-A539-DC5BE340AC6A}" dt="2026-10-15T09:35:54.172" v="436" actId="20577"/>
          <ac:graphicFrameMkLst>
            <pc:docMk/>
            <pc:sldMk cId="0" sldId="271"/>
            <ac:graphicFrameMk id="33" creationId="{00000000-0000-0000-0000-000000000000}"/>
          </ac:graphicFrameMkLst>
        </pc:graphicFrameChg>
      </pc:sldChg>
      <pc:sldChg chg="modSp mod">
        <pc:chgData name="Sami Ramzi Rezig" userId="572d1711-ff67-49fd-9a5d-76c488e55421" providerId="ADAL" clId="{F0B34570-08E3-456C-A539-DC5BE340AC6A}" dt="2026-10-15T19:13:14.768" v="627" actId="20577"/>
        <pc:sldMkLst>
          <pc:docMk/>
          <pc:sldMk cId="0" sldId="272"/>
        </pc:sldMkLst>
        <pc:spChg chg="mod">
          <ac:chgData name="Sami Ramzi Rezig" userId="572d1711-ff67-49fd-9a5d-76c488e55421" providerId="ADAL" clId="{F0B34570-08E3-456C-A539-DC5BE340AC6A}" dt="2026-10-15T10:04:31.124" v="514" actId="1076"/>
          <ac:spMkLst>
            <pc:docMk/>
            <pc:sldMk cId="0" sldId="272"/>
            <ac:spMk id="34" creationId="{00000000-0000-0000-0000-000000000000}"/>
          </ac:spMkLst>
        </pc:spChg>
        <pc:spChg chg="mod">
          <ac:chgData name="Sami Ramzi Rezig" userId="572d1711-ff67-49fd-9a5d-76c488e55421" providerId="ADAL" clId="{F0B34570-08E3-456C-A539-DC5BE340AC6A}" dt="2026-10-15T10:06:39.986" v="525" actId="113"/>
          <ac:spMkLst>
            <pc:docMk/>
            <pc:sldMk cId="0" sldId="272"/>
            <ac:spMk id="35" creationId="{00000000-0000-0000-0000-000000000000}"/>
          </ac:spMkLst>
        </pc:spChg>
        <pc:graphicFrameChg chg="mod modGraphic">
          <ac:chgData name="Sami Ramzi Rezig" userId="572d1711-ff67-49fd-9a5d-76c488e55421" providerId="ADAL" clId="{F0B34570-08E3-456C-A539-DC5BE340AC6A}" dt="2026-10-15T19:13:14.768" v="627" actId="20577"/>
          <ac:graphicFrameMkLst>
            <pc:docMk/>
            <pc:sldMk cId="0" sldId="272"/>
            <ac:graphicFrameMk id="33" creationId="{00000000-0000-0000-0000-000000000000}"/>
          </ac:graphicFrameMkLst>
        </pc:graphicFrameChg>
      </pc:sldChg>
      <pc:sldChg chg="modSp mod">
        <pc:chgData name="Sami Ramzi Rezig" userId="572d1711-ff67-49fd-9a5d-76c488e55421" providerId="ADAL" clId="{F0B34570-08E3-456C-A539-DC5BE340AC6A}" dt="2026-10-16T09:09:48.073" v="719" actId="20577"/>
        <pc:sldMkLst>
          <pc:docMk/>
          <pc:sldMk cId="0" sldId="273"/>
        </pc:sldMkLst>
        <pc:spChg chg="mod">
          <ac:chgData name="Sami Ramzi Rezig" userId="572d1711-ff67-49fd-9a5d-76c488e55421" providerId="ADAL" clId="{F0B34570-08E3-456C-A539-DC5BE340AC6A}" dt="2026-10-15T19:10:26.569" v="587" actId="1076"/>
          <ac:spMkLst>
            <pc:docMk/>
            <pc:sldMk cId="0" sldId="273"/>
            <ac:spMk id="28" creationId="{00000000-0000-0000-0000-000000000000}"/>
          </ac:spMkLst>
        </pc:spChg>
        <pc:spChg chg="mod">
          <ac:chgData name="Sami Ramzi Rezig" userId="572d1711-ff67-49fd-9a5d-76c488e55421" providerId="ADAL" clId="{F0B34570-08E3-456C-A539-DC5BE340AC6A}" dt="2026-10-15T19:10:26.569" v="587" actId="1076"/>
          <ac:spMkLst>
            <pc:docMk/>
            <pc:sldMk cId="0" sldId="273"/>
            <ac:spMk id="29" creationId="{00000000-0000-0000-0000-000000000000}"/>
          </ac:spMkLst>
        </pc:spChg>
        <pc:spChg chg="mod">
          <ac:chgData name="Sami Ramzi Rezig" userId="572d1711-ff67-49fd-9a5d-76c488e55421" providerId="ADAL" clId="{F0B34570-08E3-456C-A539-DC5BE340AC6A}" dt="2026-10-15T19:10:26.569" v="587" actId="1076"/>
          <ac:spMkLst>
            <pc:docMk/>
            <pc:sldMk cId="0" sldId="273"/>
            <ac:spMk id="31" creationId="{00000000-0000-0000-0000-000000000000}"/>
          </ac:spMkLst>
        </pc:spChg>
        <pc:spChg chg="mod">
          <ac:chgData name="Sami Ramzi Rezig" userId="572d1711-ff67-49fd-9a5d-76c488e55421" providerId="ADAL" clId="{F0B34570-08E3-456C-A539-DC5BE340AC6A}" dt="2026-10-15T19:10:26.569" v="587" actId="1076"/>
          <ac:spMkLst>
            <pc:docMk/>
            <pc:sldMk cId="0" sldId="273"/>
            <ac:spMk id="32" creationId="{00000000-0000-0000-0000-000000000000}"/>
          </ac:spMkLst>
        </pc:spChg>
        <pc:spChg chg="mod">
          <ac:chgData name="Sami Ramzi Rezig" userId="572d1711-ff67-49fd-9a5d-76c488e55421" providerId="ADAL" clId="{F0B34570-08E3-456C-A539-DC5BE340AC6A}" dt="2026-10-16T09:09:48.073" v="719" actId="20577"/>
          <ac:spMkLst>
            <pc:docMk/>
            <pc:sldMk cId="0" sldId="273"/>
            <ac:spMk id="35" creationId="{00000000-0000-0000-0000-000000000000}"/>
          </ac:spMkLst>
        </pc:spChg>
        <pc:graphicFrameChg chg="mod modGraphic">
          <ac:chgData name="Sami Ramzi Rezig" userId="572d1711-ff67-49fd-9a5d-76c488e55421" providerId="ADAL" clId="{F0B34570-08E3-456C-A539-DC5BE340AC6A}" dt="2026-10-15T19:12:16.190" v="619"/>
          <ac:graphicFrameMkLst>
            <pc:docMk/>
            <pc:sldMk cId="0" sldId="273"/>
            <ac:graphicFrameMk id="33" creationId="{00000000-0000-0000-0000-000000000000}"/>
          </ac:graphicFrameMkLst>
        </pc:graphicFrameChg>
        <pc:graphicFrameChg chg="mod modGraphic">
          <ac:chgData name="Sami Ramzi Rezig" userId="572d1711-ff67-49fd-9a5d-76c488e55421" providerId="ADAL" clId="{F0B34570-08E3-456C-A539-DC5BE340AC6A}" dt="2026-10-16T09:09:23.471" v="708" actId="1076"/>
          <ac:graphicFrameMkLst>
            <pc:docMk/>
            <pc:sldMk cId="0" sldId="273"/>
            <ac:graphicFrameMk id="34" creationId="{00000000-0000-0000-0000-000000000000}"/>
          </ac:graphicFrameMkLst>
        </pc:graphicFrameChg>
        <pc:picChg chg="mod">
          <ac:chgData name="Sami Ramzi Rezig" userId="572d1711-ff67-49fd-9a5d-76c488e55421" providerId="ADAL" clId="{F0B34570-08E3-456C-A539-DC5BE340AC6A}" dt="2026-10-15T19:10:26.569" v="587" actId="1076"/>
          <ac:picMkLst>
            <pc:docMk/>
            <pc:sldMk cId="0" sldId="273"/>
            <ac:picMk id="30" creationId="{00000000-0000-0000-0000-000000000000}"/>
          </ac:picMkLst>
        </pc:picChg>
      </pc:sldChg>
      <pc:sldChg chg="modSp mod">
        <pc:chgData name="Sami Ramzi Rezig" userId="572d1711-ff67-49fd-9a5d-76c488e55421" providerId="ADAL" clId="{F0B34570-08E3-456C-A539-DC5BE340AC6A}" dt="2026-10-21T12:31:51.397" v="1269" actId="20577"/>
        <pc:sldMkLst>
          <pc:docMk/>
          <pc:sldMk cId="0" sldId="274"/>
        </pc:sldMkLst>
        <pc:graphicFrameChg chg="mod modGraphic">
          <ac:chgData name="Sami Ramzi Rezig" userId="572d1711-ff67-49fd-9a5d-76c488e55421" providerId="ADAL" clId="{F0B34570-08E3-456C-A539-DC5BE340AC6A}" dt="2026-10-21T12:31:51.397" v="1269" actId="20577"/>
          <ac:graphicFrameMkLst>
            <pc:docMk/>
            <pc:sldMk cId="0" sldId="274"/>
            <ac:graphicFrameMk id="33" creationId="{00000000-0000-0000-0000-000000000000}"/>
          </ac:graphicFrameMkLst>
        </pc:graphicFrameChg>
      </pc:sldChg>
      <pc:sldChg chg="modSp mod">
        <pc:chgData name="Sami Ramzi Rezig" userId="572d1711-ff67-49fd-9a5d-76c488e55421" providerId="ADAL" clId="{F0B34570-08E3-456C-A539-DC5BE340AC6A}" dt="2026-10-21T08:08:51.197" v="1266"/>
        <pc:sldMkLst>
          <pc:docMk/>
          <pc:sldMk cId="0" sldId="275"/>
        </pc:sldMkLst>
        <pc:spChg chg="mod">
          <ac:chgData name="Sami Ramzi Rezig" userId="572d1711-ff67-49fd-9a5d-76c488e55421" providerId="ADAL" clId="{F0B34570-08E3-456C-A539-DC5BE340AC6A}" dt="2026-10-21T08:08:51.197" v="1266"/>
          <ac:spMkLst>
            <pc:docMk/>
            <pc:sldMk cId="0" sldId="275"/>
            <ac:spMk id="35" creationId="{00000000-0000-0000-0000-000000000000}"/>
          </ac:spMkLst>
        </pc:spChg>
        <pc:graphicFrameChg chg="mod modGraphic">
          <ac:chgData name="Sami Ramzi Rezig" userId="572d1711-ff67-49fd-9a5d-76c488e55421" providerId="ADAL" clId="{F0B34570-08E3-456C-A539-DC5BE340AC6A}" dt="2026-10-21T08:04:58.430" v="1251"/>
          <ac:graphicFrameMkLst>
            <pc:docMk/>
            <pc:sldMk cId="0" sldId="275"/>
            <ac:graphicFrameMk id="33" creationId="{00000000-0000-0000-0000-000000000000}"/>
          </ac:graphicFrameMkLst>
        </pc:graphicFrameChg>
      </pc:sldChg>
      <pc:sldChg chg="modSp mod">
        <pc:chgData name="Sami Ramzi Rezig" userId="572d1711-ff67-49fd-9a5d-76c488e55421" providerId="ADAL" clId="{F0B34570-08E3-456C-A539-DC5BE340AC6A}" dt="2026-10-22T11:57:31.933" v="1693" actId="20577"/>
        <pc:sldMkLst>
          <pc:docMk/>
          <pc:sldMk cId="0" sldId="278"/>
        </pc:sldMkLst>
        <pc:graphicFrameChg chg="mod modGraphic">
          <ac:chgData name="Sami Ramzi Rezig" userId="572d1711-ff67-49fd-9a5d-76c488e55421" providerId="ADAL" clId="{F0B34570-08E3-456C-A539-DC5BE340AC6A}" dt="2026-10-22T11:57:31.933" v="1693" actId="20577"/>
          <ac:graphicFrameMkLst>
            <pc:docMk/>
            <pc:sldMk cId="0" sldId="278"/>
            <ac:graphicFrameMk id="33" creationId="{00000000-0000-0000-0000-000000000000}"/>
          </ac:graphicFrameMkLst>
        </pc:graphicFrameChg>
      </pc:sldChg>
      <pc:sldChg chg="modSp mod">
        <pc:chgData name="Sami Ramzi Rezig" userId="572d1711-ff67-49fd-9a5d-76c488e55421" providerId="ADAL" clId="{F0B34570-08E3-456C-A539-DC5BE340AC6A}" dt="2026-10-21T18:24:38.223" v="1671" actId="1076"/>
        <pc:sldMkLst>
          <pc:docMk/>
          <pc:sldMk cId="0" sldId="279"/>
        </pc:sldMkLst>
        <pc:spChg chg="mod">
          <ac:chgData name="Sami Ramzi Rezig" userId="572d1711-ff67-49fd-9a5d-76c488e55421" providerId="ADAL" clId="{F0B34570-08E3-456C-A539-DC5BE340AC6A}" dt="2026-10-21T18:24:38.223" v="1671" actId="1076"/>
          <ac:spMkLst>
            <pc:docMk/>
            <pc:sldMk cId="0" sldId="279"/>
            <ac:spMk id="35" creationId="{00000000-0000-0000-0000-000000000000}"/>
          </ac:spMkLst>
        </pc:spChg>
        <pc:graphicFrameChg chg="mod modGraphic">
          <ac:chgData name="Sami Ramzi Rezig" userId="572d1711-ff67-49fd-9a5d-76c488e55421" providerId="ADAL" clId="{F0B34570-08E3-456C-A539-DC5BE340AC6A}" dt="2026-10-21T18:02:58.708" v="1488" actId="108"/>
          <ac:graphicFrameMkLst>
            <pc:docMk/>
            <pc:sldMk cId="0" sldId="279"/>
            <ac:graphicFrameMk id="33" creationId="{00000000-0000-0000-0000-000000000000}"/>
          </ac:graphicFrameMkLst>
        </pc:graphicFrameChg>
        <pc:graphicFrameChg chg="mod modGraphic">
          <ac:chgData name="Sami Ramzi Rezig" userId="572d1711-ff67-49fd-9a5d-76c488e55421" providerId="ADAL" clId="{F0B34570-08E3-456C-A539-DC5BE340AC6A}" dt="2026-10-21T18:22:06.121" v="1670"/>
          <ac:graphicFrameMkLst>
            <pc:docMk/>
            <pc:sldMk cId="0" sldId="279"/>
            <ac:graphicFrameMk id="34" creationId="{00000000-0000-0000-0000-000000000000}"/>
          </ac:graphicFrameMkLst>
        </pc:graphicFrame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115135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Modèle à compléter par chaque groupe. Remplacez les crochets de la couverture. Ne supprimez aucun encadré « Attendu » : la grille de notation s'y réfère.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402185557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Lisez cette page avant de rédiger. Les chiffres que vous reportez viennent de vos mesures (dq.dq_history, scans Soda, requêtes du notebook), jamais d'un autre groupe ni d'un tutoriel.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82867392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La grille est celle du dossier go/no-go. Le livrable de séance et le dossier final sont évalués ensemble.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52181854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Renseignez cette page dès la fin de l'ouverture de S1, puis mettez-la à jour à chaque séance.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87659219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Cinq lignes par zone. Pas de copier-coller de l'énoncé : reformulez.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82283102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57811690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comptez avec une requête, pas à l'œil. Indiquez le notebook qui contient la requête.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2334654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la porte B juge la fidélité de la copie, pas la qualité des valeurs. Un écart nul est un résultat à documenter.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55115707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l'épreuve de l'écart volontaire prouve que votre porte détecte quelque chose. Sans elle, une porte toujours verte ne prouve rien.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373721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distinguez NULL, vide et blanc. Un constat sans valeur mesurée n'en est pas un.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14440175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une justification est un chiffre (taux de valeurs au format X, nombre de distincts, plage), pas une impression.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17224949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les trois chiffres sont vrais pour trois questions différentes. Le problème est la définition.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02226795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cochez uniquement ce que vous pouvez montrer. Une case non cochée et expliquée vaut mieux qu'une case cochée sans preuve.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70123396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32201429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un taux sans nombre de lignes testées est ininterprétable. Reportez les deux.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00842682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nommez la famille d'erreur. « Valeurs incorrectes » n'est pas une famille.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406921282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la phrase de synthèse doit contenir un chiffre et la couche concernée.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76043902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F91DB3-8BC3-76FB-264E-2642CAF0F3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15F7CA4-26A5-FE49-56D0-063FE334B84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5C66D0A-A5A3-00C1-405D-342F7FDC2BC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la phrase de synthèse doit contenir un chiffre et la couche concernée.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27CAD60-7F77-67E9-872D-326311D9797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81773287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cochez uniquement ce que vous pouvez montrer. Une case non cochée et expliquée vaut mieux qu'une case cochée sans preuve.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018544568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619089882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si Soda et Great Expectations donnent des chiffres différents pour la même règle, expliquez pourquoi avant de conclure.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740374984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un taux élevé de lignes en échec sur une clé étrangère est un indice de valeur sentinelle avant d'être une anomalie.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90958370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une règle de correction proposée sans rôle destinataire n'est pas une décision.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47514368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cochez uniquement ce que vous pouvez montrer. Une case non cochée et expliquée vaut mieux qu'une case cochée sans preuve.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675905715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78410503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rien n'est supprimé en silence. Chaque ligne absente de silver est dans dq.rejets avec le code de sa règle.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868267790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une règle qui baisse de bronze à silver n'est pas forcément un bug. Cherchez d'abord un effet de la quarantaine (lignes devenues orphelines).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569720322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les seuils se défendent par la précision et le rappel mesurés, pas par un ressenti. Reportez-les dans le journal des décisions.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314327410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la règle de survie est une décision de gouvernance, pas un détail technique.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345628463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un constat expliqué (un contrat orphelin parce que son client a été mis en quarantaine) est un résultat, pas une erreur.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562895793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trois lignes par cas suffisent : gold, silver, bronze, source. Un identifiant de lot est obligatoire.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456428075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cochez uniquement ce que vous pouvez montrer. Une case non cochée et expliquée vaut mieux qu'une case cochée sans preuve.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613439733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559589813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insérez l'image des courbes dans la zone. Une courbe sans légende ni axe nommé n'est pas lisible par un non-technicien.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971724798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un certificat qui ne mentionne pas ce qu'il ne couvre pas est trompeur. Listez les règles non mesurées.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830278414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la preuve d'un refus est le message du script, pas une capture du code.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744768197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un lineage lisible va des sources à la table gold sans saut.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769822084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cochez uniquement ce que vous pouvez montrer. Une case non cochée et expliquée vaut mieux qu'une case cochée sans preuve.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2603021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912150215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ne présentez pas un GO que le certificat contredit. Un NO-GO bien argumenté vaut un GO bien argumenté.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076135172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les chiffres de cette page sont ceux de S5, sans retouche.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666385702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un écart non chiffré n'est pas un écart, c'est une impression.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520543472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la décision est attribuée à un rôle, pas au groupe.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813244197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414375665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Ce journal doit être identique à celui du dépôt (livrables/JOURNAL_DECISIONS.md).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474924502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Reprenez les totaux de AVANCEMENT.md.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575186787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Les étiquettes fixent l'état rendu à la fin de chaque séance.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710524736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Cochez en remplaçant [ ] par [x].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93768256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uverture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mg/dec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0" y="1097280"/>
            <a:ext cx="4754880" cy="4754880"/>
          </a:xfrm>
          <a:prstGeom prst="rect">
            <a:avLst/>
          </a:prstGeom>
        </p:spPr>
      </p:pic>
      <p:pic>
        <p:nvPicPr>
          <p:cNvPr id="3" name="Image 1" descr="img/logo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640080"/>
            <a:ext cx="3474720" cy="7315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640080" y="2148840"/>
            <a:ext cx="822960" cy="54864"/>
          </a:xfrm>
          <a:prstGeom prst="rect">
            <a:avLst/>
          </a:prstGeom>
          <a:solidFill>
            <a:srgbClr val="0F9B8E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5" name="Text 1"/>
          <p:cNvSpPr>
            <a:spLocks noGrp="1"/>
          </p:cNvSpPr>
          <p:nvPr>
            <p:ph type="title" idx="103" hasCustomPrompt="1"/>
          </p:nvPr>
        </p:nvSpPr>
        <p:spPr>
          <a:xfrm>
            <a:off x="640080" y="2377440"/>
            <a:ext cx="676656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5000" dirty="0">
                <a:solidFill>
                  <a:schemeClr val="tx1"/>
                </a:solidFill>
                <a:latin typeface="Fraunces SemiBold" pitchFamily="34" charset="0"/>
                <a:ea typeface="Fraunces SemiBold" pitchFamily="34" charset="-122"/>
                <a:cs typeface="Fraunces SemiBold" pitchFamily="34" charset="-120"/>
              </a:defRPr>
            </a:lvl1pPr>
          </a:lstStyle>
          <a:p>
            <a:pPr marL="0" indent="0" algn="l">
              <a:buNone/>
            </a:pPr>
            <a:endParaRPr lang="en-US" sz="5000" dirty="0"/>
          </a:p>
        </p:txBody>
      </p:sp>
      <p:sp>
        <p:nvSpPr>
          <p:cNvPr id="6" name="Text 1"/>
          <p:cNvSpPr>
            <a:spLocks noGrp="1"/>
          </p:cNvSpPr>
          <p:nvPr>
            <p:ph type="body" idx="104" hasCustomPrompt="1"/>
          </p:nvPr>
        </p:nvSpPr>
        <p:spPr>
          <a:xfrm>
            <a:off x="640080" y="4251960"/>
            <a:ext cx="640080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2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marL="0" indent="0" algn="l">
              <a:buNone/>
            </a:pPr>
            <a:endParaRPr lang="en-US" sz="2000" dirty="0"/>
          </a:p>
        </p:txBody>
      </p:sp>
      <p:sp>
        <p:nvSpPr>
          <p:cNvPr id="7" name="Text 1"/>
          <p:cNvSpPr>
            <a:spLocks noGrp="1"/>
          </p:cNvSpPr>
          <p:nvPr>
            <p:ph type="body" idx="105" hasCustomPrompt="1"/>
          </p:nvPr>
        </p:nvSpPr>
        <p:spPr>
          <a:xfrm>
            <a:off x="640080" y="5577840"/>
            <a:ext cx="64008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1200" kern="0" spc="200" dirty="0">
                <a:solidFill>
                  <a:schemeClr val="accent2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marL="0" indent="0" algn="l">
              <a:buNone/>
            </a:pP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mg/dec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0" y="1828800"/>
            <a:ext cx="4206240" cy="420624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40080" y="1828800"/>
            <a:ext cx="822960" cy="54864"/>
          </a:xfrm>
          <a:prstGeom prst="rect">
            <a:avLst/>
          </a:prstGeom>
          <a:solidFill>
            <a:srgbClr val="0F9B8E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4" name="Text 1"/>
          <p:cNvSpPr>
            <a:spLocks noGrp="1"/>
          </p:cNvSpPr>
          <p:nvPr>
            <p:ph type="body" idx="102" hasCustomPrompt="1"/>
          </p:nvPr>
        </p:nvSpPr>
        <p:spPr>
          <a:xfrm>
            <a:off x="640080" y="2011680"/>
            <a:ext cx="274320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7200" dirty="0">
                <a:solidFill>
                  <a:schemeClr val="accent1"/>
                </a:solidFill>
                <a:latin typeface="Fraunces SemiBold" pitchFamily="34" charset="0"/>
                <a:ea typeface="Fraunces SemiBold" pitchFamily="34" charset="-122"/>
                <a:cs typeface="Fraunces SemiBold" pitchFamily="34" charset="-120"/>
              </a:defRPr>
            </a:lvl1pPr>
          </a:lstStyle>
          <a:p>
            <a:pPr marL="0" indent="0" algn="l">
              <a:buNone/>
            </a:pPr>
            <a:endParaRPr lang="en-US" sz="7200" dirty="0"/>
          </a:p>
        </p:txBody>
      </p:sp>
      <p:sp>
        <p:nvSpPr>
          <p:cNvPr id="5" name="Text 1"/>
          <p:cNvSpPr>
            <a:spLocks noGrp="1"/>
          </p:cNvSpPr>
          <p:nvPr>
            <p:ph type="title" idx="103" hasCustomPrompt="1"/>
          </p:nvPr>
        </p:nvSpPr>
        <p:spPr>
          <a:xfrm>
            <a:off x="640080" y="3200400"/>
            <a:ext cx="658368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4200" dirty="0">
                <a:solidFill>
                  <a:schemeClr val="tx1"/>
                </a:solidFill>
                <a:latin typeface="Fraunces SemiBold" pitchFamily="34" charset="0"/>
                <a:ea typeface="Fraunces SemiBold" pitchFamily="34" charset="-122"/>
                <a:cs typeface="Fraunces SemiBold" pitchFamily="34" charset="-120"/>
              </a:defRPr>
            </a:lvl1pPr>
          </a:lstStyle>
          <a:p>
            <a:pPr marL="0" indent="0" algn="l">
              <a:buNone/>
            </a:pPr>
            <a:endParaRPr lang="en-US" sz="4200" dirty="0"/>
          </a:p>
        </p:txBody>
      </p:sp>
      <p:pic>
        <p:nvPicPr>
          <p:cNvPr id="6" name="Image 1" descr="img/mark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6336792"/>
            <a:ext cx="237744" cy="237744"/>
          </a:xfrm>
          <a:prstGeom prst="rect">
            <a:avLst/>
          </a:prstGeom>
        </p:spPr>
      </p:pic>
      <p:sp>
        <p:nvSpPr>
          <p:cNvPr id="7" name="Text 1"/>
          <p:cNvSpPr/>
          <p:nvPr/>
        </p:nvSpPr>
        <p:spPr>
          <a:xfrm>
            <a:off x="987552" y="6309360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300" dirty="0">
                <a:solidFill>
                  <a:schemeClr val="accent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DECIMAL INSIGHTS CONSULTING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re seul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640080" y="502920"/>
            <a:ext cx="10911535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3600" dirty="0">
                <a:solidFill>
                  <a:schemeClr val="tx1"/>
                </a:solidFill>
                <a:latin typeface="Fraunces SemiBold" pitchFamily="34" charset="0"/>
                <a:ea typeface="Fraunces SemiBold" pitchFamily="34" charset="-122"/>
                <a:cs typeface="Fraunces SemiBold" pitchFamily="34" charset="-120"/>
              </a:defRPr>
            </a:lvl1pPr>
          </a:lstStyle>
          <a:p>
            <a:pPr marL="0" indent="0" algn="l">
              <a:buNone/>
            </a:pPr>
            <a:endParaRPr lang="en-US" sz="3600" dirty="0"/>
          </a:p>
        </p:txBody>
      </p:sp>
      <p:pic>
        <p:nvPicPr>
          <p:cNvPr id="3" name="Image 0" descr="img/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336792"/>
            <a:ext cx="237744" cy="237744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987552" y="6309360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300" dirty="0">
                <a:solidFill>
                  <a:schemeClr val="accent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DECIMAL INSIGHTS CONSULTING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re et contenu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640080" y="502920"/>
            <a:ext cx="10911535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3600" dirty="0">
                <a:solidFill>
                  <a:schemeClr val="tx1"/>
                </a:solidFill>
                <a:latin typeface="Fraunces SemiBold" pitchFamily="34" charset="0"/>
                <a:ea typeface="Fraunces SemiBold" pitchFamily="34" charset="-122"/>
                <a:cs typeface="Fraunces SemiBold" pitchFamily="34" charset="-120"/>
              </a:defRPr>
            </a:lvl1pPr>
          </a:lstStyle>
          <a:p>
            <a:pPr marL="0" indent="0" algn="l">
              <a:buNone/>
            </a:pPr>
            <a:endParaRPr lang="en-US" sz="3600" dirty="0"/>
          </a:p>
        </p:txBody>
      </p:sp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640080" y="1737360"/>
            <a:ext cx="10911535" cy="420624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18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marL="0" indent="0" algn="l">
              <a:buNone/>
            </a:pPr>
            <a:endParaRPr lang="en-US" sz="1800" dirty="0"/>
          </a:p>
        </p:txBody>
      </p:sp>
      <p:pic>
        <p:nvPicPr>
          <p:cNvPr id="4" name="Image 0" descr="img/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336792"/>
            <a:ext cx="237744" cy="237744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987552" y="6309360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300" dirty="0">
                <a:solidFill>
                  <a:schemeClr val="accent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DECIMAL INSIGHTS CONSULTING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ux colonnes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640080" y="502920"/>
            <a:ext cx="10911535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3600" dirty="0">
                <a:solidFill>
                  <a:schemeClr val="tx1"/>
                </a:solidFill>
                <a:latin typeface="Fraunces SemiBold" pitchFamily="34" charset="0"/>
                <a:ea typeface="Fraunces SemiBold" pitchFamily="34" charset="-122"/>
                <a:cs typeface="Fraunces SemiBold" pitchFamily="34" charset="-120"/>
              </a:defRPr>
            </a:lvl1pPr>
          </a:lstStyle>
          <a:p>
            <a:pPr marL="0" indent="0" algn="l">
              <a:buNone/>
            </a:pPr>
            <a:endParaRPr lang="en-US" sz="3600" dirty="0"/>
          </a:p>
        </p:txBody>
      </p:sp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640080" y="1737360"/>
            <a:ext cx="5212080" cy="420624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18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marL="0" indent="0" algn="l">
              <a:buNone/>
            </a:pPr>
            <a:endParaRPr lang="en-US" sz="1800" dirty="0"/>
          </a:p>
        </p:txBody>
      </p:sp>
      <p:sp>
        <p:nvSpPr>
          <p:cNvPr id="4" name="Text 0"/>
          <p:cNvSpPr>
            <a:spLocks noGrp="1"/>
          </p:cNvSpPr>
          <p:nvPr>
            <p:ph type="body" idx="102" hasCustomPrompt="1"/>
          </p:nvPr>
        </p:nvSpPr>
        <p:spPr>
          <a:xfrm>
            <a:off x="6309360" y="1737360"/>
            <a:ext cx="5212080" cy="420624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18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marL="0" indent="0" algn="l">
              <a:buNone/>
            </a:pPr>
            <a:endParaRPr lang="en-US" sz="1800" dirty="0"/>
          </a:p>
        </p:txBody>
      </p:sp>
      <p:pic>
        <p:nvPicPr>
          <p:cNvPr id="5" name="Image 0" descr="img/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336792"/>
            <a:ext cx="237744" cy="237744"/>
          </a:xfrm>
          <a:prstGeom prst="rect">
            <a:avLst/>
          </a:prstGeom>
        </p:spPr>
      </p:pic>
      <p:sp>
        <p:nvSpPr>
          <p:cNvPr id="6" name="Text 0"/>
          <p:cNvSpPr/>
          <p:nvPr/>
        </p:nvSpPr>
        <p:spPr>
          <a:xfrm>
            <a:off x="987552" y="6309360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300" dirty="0">
                <a:solidFill>
                  <a:schemeClr val="accent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DECIMAL INSIGHTS CONSULTING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hiffres cles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640080" y="502920"/>
            <a:ext cx="10911535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3600" dirty="0">
                <a:solidFill>
                  <a:schemeClr val="tx1"/>
                </a:solidFill>
                <a:latin typeface="Fraunces SemiBold" pitchFamily="34" charset="0"/>
                <a:ea typeface="Fraunces SemiBold" pitchFamily="34" charset="-122"/>
                <a:cs typeface="Fraunces SemiBold" pitchFamily="34" charset="-120"/>
              </a:defRPr>
            </a:lvl1pPr>
          </a:lstStyle>
          <a:p>
            <a:pPr marL="0" indent="0" algn="l">
              <a:buNone/>
            </a:pPr>
            <a:endParaRPr lang="en-US" sz="3600" dirty="0"/>
          </a:p>
        </p:txBody>
      </p:sp>
      <p:sp>
        <p:nvSpPr>
          <p:cNvPr id="3" name="Shape 0"/>
          <p:cNvSpPr/>
          <p:nvPr/>
        </p:nvSpPr>
        <p:spPr>
          <a:xfrm>
            <a:off x="640080" y="1828800"/>
            <a:ext cx="3383280" cy="3017520"/>
          </a:xfrm>
          <a:prstGeom prst="rect">
            <a:avLst/>
          </a:prstGeom>
          <a:solidFill>
            <a:schemeClr val="bg2"/>
          </a:solidFill>
          <a:ln w="9525">
            <a:solidFill>
              <a:srgbClr val="2A4156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4389120" y="1828800"/>
            <a:ext cx="3383280" cy="3017520"/>
          </a:xfrm>
          <a:prstGeom prst="rect">
            <a:avLst/>
          </a:prstGeom>
          <a:solidFill>
            <a:schemeClr val="bg2"/>
          </a:solidFill>
          <a:ln w="9525">
            <a:solidFill>
              <a:srgbClr val="2A4156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8138160" y="1828800"/>
            <a:ext cx="3383280" cy="3017520"/>
          </a:xfrm>
          <a:prstGeom prst="rect">
            <a:avLst/>
          </a:prstGeom>
          <a:solidFill>
            <a:schemeClr val="bg2"/>
          </a:solidFill>
          <a:ln w="9525">
            <a:solidFill>
              <a:srgbClr val="2A415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960120" y="1828800"/>
            <a:ext cx="640080" cy="54864"/>
          </a:xfrm>
          <a:prstGeom prst="rect">
            <a:avLst/>
          </a:prstGeom>
          <a:solidFill>
            <a:srgbClr val="0F9B8E"/>
          </a:solidFill>
          <a:ln/>
        </p:spPr>
      </p:sp>
      <p:sp>
        <p:nvSpPr>
          <p:cNvPr id="7" name="Shape 4"/>
          <p:cNvSpPr/>
          <p:nvPr/>
        </p:nvSpPr>
        <p:spPr>
          <a:xfrm>
            <a:off x="4709160" y="1828800"/>
            <a:ext cx="640080" cy="54864"/>
          </a:xfrm>
          <a:prstGeom prst="rect">
            <a:avLst/>
          </a:prstGeom>
          <a:solidFill>
            <a:srgbClr val="0F9B8E"/>
          </a:solidFill>
          <a:ln/>
        </p:spPr>
      </p:sp>
      <p:sp>
        <p:nvSpPr>
          <p:cNvPr id="8" name="Shape 5"/>
          <p:cNvSpPr/>
          <p:nvPr/>
        </p:nvSpPr>
        <p:spPr>
          <a:xfrm>
            <a:off x="8458200" y="1828800"/>
            <a:ext cx="640080" cy="54864"/>
          </a:xfrm>
          <a:prstGeom prst="rect">
            <a:avLst/>
          </a:prstGeom>
          <a:solidFill>
            <a:srgbClr val="0F9B8E"/>
          </a:solidFill>
          <a:ln/>
        </p:spPr>
      </p:sp>
      <p:sp>
        <p:nvSpPr>
          <p:cNvPr id="9" name="Text 6"/>
          <p:cNvSpPr>
            <a:spLocks noGrp="1"/>
          </p:cNvSpPr>
          <p:nvPr>
            <p:ph type="body" idx="107" hasCustomPrompt="1"/>
          </p:nvPr>
        </p:nvSpPr>
        <p:spPr>
          <a:xfrm>
            <a:off x="960120" y="2148840"/>
            <a:ext cx="274320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6000" dirty="0">
                <a:solidFill>
                  <a:schemeClr val="accent1"/>
                </a:solidFill>
                <a:latin typeface="Fraunces SemiBold" pitchFamily="34" charset="0"/>
                <a:ea typeface="Fraunces SemiBold" pitchFamily="34" charset="-122"/>
                <a:cs typeface="Fraunces SemiBold" pitchFamily="34" charset="-120"/>
              </a:defRPr>
            </a:lvl1pPr>
          </a:lstStyle>
          <a:p>
            <a:pPr marL="0" indent="0" algn="l">
              <a:buNone/>
            </a:pPr>
            <a:endParaRPr lang="en-US" sz="6000" dirty="0"/>
          </a:p>
        </p:txBody>
      </p:sp>
      <p:sp>
        <p:nvSpPr>
          <p:cNvPr id="10" name="Text 6"/>
          <p:cNvSpPr>
            <a:spLocks noGrp="1"/>
          </p:cNvSpPr>
          <p:nvPr>
            <p:ph type="body" idx="108" hasCustomPrompt="1"/>
          </p:nvPr>
        </p:nvSpPr>
        <p:spPr>
          <a:xfrm>
            <a:off x="4709160" y="2148840"/>
            <a:ext cx="274320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6000" dirty="0">
                <a:solidFill>
                  <a:schemeClr val="accent1"/>
                </a:solidFill>
                <a:latin typeface="Fraunces SemiBold" pitchFamily="34" charset="0"/>
                <a:ea typeface="Fraunces SemiBold" pitchFamily="34" charset="-122"/>
                <a:cs typeface="Fraunces SemiBold" pitchFamily="34" charset="-120"/>
              </a:defRPr>
            </a:lvl1pPr>
          </a:lstStyle>
          <a:p>
            <a:pPr marL="0" indent="0" algn="l">
              <a:buNone/>
            </a:pPr>
            <a:endParaRPr lang="en-US" sz="6000" dirty="0"/>
          </a:p>
        </p:txBody>
      </p:sp>
      <p:sp>
        <p:nvSpPr>
          <p:cNvPr id="11" name="Text 6"/>
          <p:cNvSpPr>
            <a:spLocks noGrp="1"/>
          </p:cNvSpPr>
          <p:nvPr>
            <p:ph type="body" idx="109" hasCustomPrompt="1"/>
          </p:nvPr>
        </p:nvSpPr>
        <p:spPr>
          <a:xfrm>
            <a:off x="8458200" y="2148840"/>
            <a:ext cx="274320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6000" dirty="0">
                <a:solidFill>
                  <a:schemeClr val="accent1"/>
                </a:solidFill>
                <a:latin typeface="Fraunces SemiBold" pitchFamily="34" charset="0"/>
                <a:ea typeface="Fraunces SemiBold" pitchFamily="34" charset="-122"/>
                <a:cs typeface="Fraunces SemiBold" pitchFamily="34" charset="-120"/>
              </a:defRPr>
            </a:lvl1pPr>
          </a:lstStyle>
          <a:p>
            <a:pPr marL="0" indent="0" algn="l">
              <a:buNone/>
            </a:pPr>
            <a:endParaRPr lang="en-US" sz="6000" dirty="0"/>
          </a:p>
        </p:txBody>
      </p:sp>
      <p:sp>
        <p:nvSpPr>
          <p:cNvPr id="12" name="Text 6"/>
          <p:cNvSpPr>
            <a:spLocks noGrp="1"/>
          </p:cNvSpPr>
          <p:nvPr>
            <p:ph type="body" idx="110" hasCustomPrompt="1"/>
          </p:nvPr>
        </p:nvSpPr>
        <p:spPr>
          <a:xfrm>
            <a:off x="960120" y="3474720"/>
            <a:ext cx="274320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16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marL="0" indent="0" algn="l">
              <a:buNone/>
            </a:pPr>
            <a:endParaRPr lang="en-US" sz="1600" dirty="0"/>
          </a:p>
        </p:txBody>
      </p:sp>
      <p:sp>
        <p:nvSpPr>
          <p:cNvPr id="13" name="Text 6"/>
          <p:cNvSpPr>
            <a:spLocks noGrp="1"/>
          </p:cNvSpPr>
          <p:nvPr>
            <p:ph type="body" idx="111" hasCustomPrompt="1"/>
          </p:nvPr>
        </p:nvSpPr>
        <p:spPr>
          <a:xfrm>
            <a:off x="4709160" y="3474720"/>
            <a:ext cx="274320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16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marL="0" indent="0" algn="l">
              <a:buNone/>
            </a:pPr>
            <a:endParaRPr lang="en-US" sz="1600" dirty="0"/>
          </a:p>
        </p:txBody>
      </p:sp>
      <p:sp>
        <p:nvSpPr>
          <p:cNvPr id="14" name="Text 6"/>
          <p:cNvSpPr>
            <a:spLocks noGrp="1"/>
          </p:cNvSpPr>
          <p:nvPr>
            <p:ph type="body" idx="112" hasCustomPrompt="1"/>
          </p:nvPr>
        </p:nvSpPr>
        <p:spPr>
          <a:xfrm>
            <a:off x="8458200" y="3474720"/>
            <a:ext cx="274320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16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marL="0" indent="0" algn="l">
              <a:buNone/>
            </a:pPr>
            <a:endParaRPr lang="en-US" sz="1600" dirty="0"/>
          </a:p>
        </p:txBody>
      </p:sp>
      <p:sp>
        <p:nvSpPr>
          <p:cNvPr id="15" name="Text 6"/>
          <p:cNvSpPr>
            <a:spLocks noGrp="1"/>
          </p:cNvSpPr>
          <p:nvPr>
            <p:ph type="body" idx="113" hasCustomPrompt="1"/>
          </p:nvPr>
        </p:nvSpPr>
        <p:spPr>
          <a:xfrm>
            <a:off x="640080" y="5257800"/>
            <a:ext cx="10911535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1400" dirty="0">
                <a:solidFill>
                  <a:schemeClr val="accent3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marL="0" indent="0" algn="l">
              <a:buNone/>
            </a:pPr>
            <a:endParaRPr lang="en-US" sz="1400" dirty="0"/>
          </a:p>
        </p:txBody>
      </p:sp>
      <p:pic>
        <p:nvPicPr>
          <p:cNvPr id="16" name="Image 0" descr="img/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336792"/>
            <a:ext cx="237744" cy="237744"/>
          </a:xfrm>
          <a:prstGeom prst="rect">
            <a:avLst/>
          </a:prstGeom>
        </p:spPr>
      </p:pic>
      <p:sp>
        <p:nvSpPr>
          <p:cNvPr id="17" name="Text 6"/>
          <p:cNvSpPr/>
          <p:nvPr/>
        </p:nvSpPr>
        <p:spPr>
          <a:xfrm>
            <a:off x="987552" y="6309360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300" dirty="0">
                <a:solidFill>
                  <a:schemeClr val="accent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DECIMAL INSIGHTS CONSULTING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tion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mg/dec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0" y="548640"/>
            <a:ext cx="1920240" cy="1920240"/>
          </a:xfrm>
          <a:prstGeom prst="rect">
            <a:avLst/>
          </a:prstGeom>
        </p:spPr>
      </p:pic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1005840" y="1737360"/>
            <a:ext cx="8229600" cy="283464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3600" dirty="0">
                <a:solidFill>
                  <a:schemeClr val="tx1"/>
                </a:solidFill>
                <a:latin typeface="Fraunces SemiBold" pitchFamily="34" charset="0"/>
                <a:ea typeface="Fraunces SemiBold" pitchFamily="34" charset="-122"/>
                <a:cs typeface="Fraunces SemiBold" pitchFamily="34" charset="-120"/>
              </a:defRPr>
            </a:lvl1pPr>
          </a:lstStyle>
          <a:p>
            <a:pPr marL="0" indent="0" algn="l">
              <a:buNone/>
            </a:pPr>
            <a:endParaRPr lang="en-US" sz="3600" dirty="0"/>
          </a:p>
        </p:txBody>
      </p:sp>
      <p:sp>
        <p:nvSpPr>
          <p:cNvPr id="4" name="Text 0"/>
          <p:cNvSpPr>
            <a:spLocks noGrp="1"/>
          </p:cNvSpPr>
          <p:nvPr>
            <p:ph type="body" idx="102" hasCustomPrompt="1"/>
          </p:nvPr>
        </p:nvSpPr>
        <p:spPr>
          <a:xfrm>
            <a:off x="1005840" y="4754880"/>
            <a:ext cx="914400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1400" kern="0" spc="200" dirty="0">
                <a:solidFill>
                  <a:schemeClr val="accent2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marL="0" indent="0" algn="l">
              <a:buNone/>
            </a:pPr>
            <a:endParaRPr lang="en-US" sz="1400" dirty="0"/>
          </a:p>
        </p:txBody>
      </p:sp>
      <p:pic>
        <p:nvPicPr>
          <p:cNvPr id="5" name="Image 1" descr="img/mark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6336792"/>
            <a:ext cx="237744" cy="237744"/>
          </a:xfrm>
          <a:prstGeom prst="rect">
            <a:avLst/>
          </a:prstGeom>
        </p:spPr>
      </p:pic>
      <p:sp>
        <p:nvSpPr>
          <p:cNvPr id="6" name="Text 0"/>
          <p:cNvSpPr/>
          <p:nvPr/>
        </p:nvSpPr>
        <p:spPr>
          <a:xfrm>
            <a:off x="987552" y="6309360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300" dirty="0">
                <a:solidFill>
                  <a:schemeClr val="accent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DECIMAL INSIGHTS CONSULTING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ture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mg/dec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0" y="1280160"/>
            <a:ext cx="4572000" cy="4572000"/>
          </a:xfrm>
          <a:prstGeom prst="rect">
            <a:avLst/>
          </a:prstGeom>
        </p:spPr>
      </p:pic>
      <p:pic>
        <p:nvPicPr>
          <p:cNvPr id="3" name="Image 1" descr="img/logo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640080"/>
            <a:ext cx="3474720" cy="7315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640080" y="2148840"/>
            <a:ext cx="822960" cy="54864"/>
          </a:xfrm>
          <a:prstGeom prst="rect">
            <a:avLst/>
          </a:prstGeom>
          <a:solidFill>
            <a:srgbClr val="0F9B8E"/>
          </a:solidFill>
          <a:ln/>
        </p:spPr>
      </p:sp>
      <p:sp>
        <p:nvSpPr>
          <p:cNvPr id="5" name="Text 1"/>
          <p:cNvSpPr>
            <a:spLocks noGrp="1"/>
          </p:cNvSpPr>
          <p:nvPr>
            <p:ph type="title" idx="103" hasCustomPrompt="1"/>
          </p:nvPr>
        </p:nvSpPr>
        <p:spPr>
          <a:xfrm>
            <a:off x="640080" y="2377440"/>
            <a:ext cx="640080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4600" dirty="0">
                <a:solidFill>
                  <a:schemeClr val="tx1"/>
                </a:solidFill>
                <a:latin typeface="Fraunces SemiBold" pitchFamily="34" charset="0"/>
                <a:ea typeface="Fraunces SemiBold" pitchFamily="34" charset="-122"/>
                <a:cs typeface="Fraunces SemiBold" pitchFamily="34" charset="-120"/>
              </a:defRPr>
            </a:lvl1pPr>
          </a:lstStyle>
          <a:p>
            <a:pPr marL="0" indent="0" algn="l">
              <a:buNone/>
            </a:pPr>
            <a:endParaRPr lang="en-US" sz="4600" dirty="0"/>
          </a:p>
        </p:txBody>
      </p:sp>
      <p:sp>
        <p:nvSpPr>
          <p:cNvPr id="6" name="Text 1"/>
          <p:cNvSpPr>
            <a:spLocks noGrp="1"/>
          </p:cNvSpPr>
          <p:nvPr>
            <p:ph type="body" idx="104" hasCustomPrompt="1"/>
          </p:nvPr>
        </p:nvSpPr>
        <p:spPr>
          <a:xfrm>
            <a:off x="640080" y="4023360"/>
            <a:ext cx="640080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16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marL="0" indent="0" algn="l">
              <a:buNone/>
            </a:pPr>
            <a:endParaRPr lang="en-US" sz="1600" dirty="0"/>
          </a:p>
        </p:txBody>
      </p:sp>
      <p:sp>
        <p:nvSpPr>
          <p:cNvPr id="7" name="Text 1"/>
          <p:cNvSpPr>
            <a:spLocks noGrp="1"/>
          </p:cNvSpPr>
          <p:nvPr>
            <p:ph type="body" idx="105" hasCustomPrompt="1"/>
          </p:nvPr>
        </p:nvSpPr>
        <p:spPr>
          <a:xfrm>
            <a:off x="640080" y="6035040"/>
            <a:ext cx="73152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1200" kern="0" spc="200" dirty="0">
                <a:solidFill>
                  <a:schemeClr val="accent2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marL="0" indent="0" algn="l">
              <a:buNone/>
            </a:pPr>
            <a:endParaRPr lang="en-US" sz="12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‹N°›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9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9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9.png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4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9.png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3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4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4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4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4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9.png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3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4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4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4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4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3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4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4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4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3"/>
          </p:nvPr>
        </p:nvSpPr>
        <p:spPr/>
        <p:txBody>
          <a:bodyPr/>
          <a:lstStyle/>
          <a:p>
            <a:r>
              <a:t>Livrable de groupe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4"/>
          </p:nvPr>
        </p:nvSpPr>
        <p:spPr/>
        <p:txBody>
          <a:bodyPr/>
          <a:lstStyle/>
          <a:p>
            <a:r>
              <a:t>TD AssurConnect : gouvernance, profilage et qualité des données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5"/>
          </p:nvPr>
        </p:nvSpPr>
        <p:spPr/>
        <p:txBody>
          <a:bodyPr/>
          <a:lstStyle/>
          <a:p>
            <a:r>
              <a:rPr dirty="0"/>
              <a:t>GROUPE [N°01] · [NOMS DES MEMBRES] · [DATE]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Comment remplir ce modèle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2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MODE D'EMPLOI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080" y="1371600"/>
            <a:ext cx="10908792" cy="804672"/>
          </a:xfrm>
          <a:prstGeom prst="rect">
            <a:avLst/>
          </a:prstGeom>
          <a:solidFill>
            <a:srgbClr val="1C2E3D"/>
          </a:solidFill>
          <a:ln w="9525">
            <a:solidFill>
              <a:srgbClr val="2A41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8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1572768"/>
            <a:ext cx="402336" cy="402336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1463040" y="1444752"/>
            <a:ext cx="329184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400" b="1" i="0">
                <a:solidFill>
                  <a:srgbClr val="F7F6F2"/>
                </a:solidFill>
                <a:latin typeface="Inter"/>
              </a:rPr>
              <a:t>Encadré ambre « Attendu »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46320" y="1444752"/>
            <a:ext cx="658368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300" b="0" i="0">
                <a:solidFill>
                  <a:srgbClr val="B8C0C8"/>
                </a:solidFill>
                <a:latin typeface="Inter"/>
              </a:rPr>
              <a:t>Ce qui doit apparaître sur la page. À lire avant de rédiger ; ne pas supprimer.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0080" y="2286000"/>
            <a:ext cx="10908792" cy="804672"/>
          </a:xfrm>
          <a:prstGeom prst="rect">
            <a:avLst/>
          </a:prstGeom>
          <a:solidFill>
            <a:srgbClr val="1C2E3D"/>
          </a:solidFill>
          <a:ln w="9525">
            <a:solidFill>
              <a:srgbClr val="2A41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2" name="Icône pen" descr="Icône pen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2487168"/>
            <a:ext cx="402336" cy="402336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1463040" y="2359152"/>
            <a:ext cx="329184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400" b="1" i="0">
                <a:solidFill>
                  <a:srgbClr val="F7F6F2"/>
                </a:solidFill>
                <a:latin typeface="Inter"/>
              </a:rPr>
              <a:t>Cellule ou zone ambre sombre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846320" y="2359152"/>
            <a:ext cx="658368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300" b="0" i="0">
                <a:solidFill>
                  <a:srgbClr val="B8C0C8"/>
                </a:solidFill>
                <a:latin typeface="Inter"/>
              </a:rPr>
              <a:t>À compléter : remplacez « … » ou le texte gris entre crochets par votre contenu.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40080" y="3200400"/>
            <a:ext cx="10908792" cy="804672"/>
          </a:xfrm>
          <a:prstGeom prst="rect">
            <a:avLst/>
          </a:prstGeom>
          <a:solidFill>
            <a:srgbClr val="1C2E3D"/>
          </a:solidFill>
          <a:ln w="9525">
            <a:solidFill>
              <a:srgbClr val="2A41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6" name="Icône chart" descr="Icône chart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8680" y="3401568"/>
            <a:ext cx="402336" cy="402336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1463040" y="3273552"/>
            <a:ext cx="329184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400" b="1" i="0">
                <a:solidFill>
                  <a:srgbClr val="F7F6F2"/>
                </a:solidFill>
                <a:latin typeface="Inter"/>
              </a:rPr>
              <a:t>Une page prouve, elle ne raconte pas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846320" y="3273552"/>
            <a:ext cx="658368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300" b="0" i="0">
                <a:solidFill>
                  <a:srgbClr val="B8C0C8"/>
                </a:solidFill>
                <a:latin typeface="Inter"/>
              </a:rPr>
              <a:t>Pour chaque constat : un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chiffre mesuré</a:t>
            </a:r>
            <a:r>
              <a:rPr sz="1300" b="0" i="0">
                <a:solidFill>
                  <a:srgbClr val="B8C0C8"/>
                </a:solidFill>
                <a:latin typeface="Inter"/>
              </a:rPr>
              <a:t> (règle RQ, couche), la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preuve</a:t>
            </a:r>
            <a:r>
              <a:rPr sz="1300" b="0" i="0">
                <a:solidFill>
                  <a:srgbClr val="B8C0C8"/>
                </a:solidFill>
                <a:latin typeface="Inter"/>
              </a:rPr>
              <a:t> (chemin du dépôt), la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conséquence</a:t>
            </a:r>
            <a:r>
              <a:rPr sz="1300" b="0" i="0">
                <a:solidFill>
                  <a:srgbClr val="B8C0C8"/>
                </a:solidFill>
                <a:latin typeface="Inter"/>
              </a:rPr>
              <a:t> attribuée à un rôle.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40080" y="4114800"/>
            <a:ext cx="10908792" cy="804672"/>
          </a:xfrm>
          <a:prstGeom prst="rect">
            <a:avLst/>
          </a:prstGeom>
          <a:solidFill>
            <a:srgbClr val="1C2E3D"/>
          </a:solidFill>
          <a:ln w="9525">
            <a:solidFill>
              <a:srgbClr val="2A41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0" name="Icône branch" descr="Icône branch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8680" y="4315968"/>
            <a:ext cx="402336" cy="402336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1463040" y="4187952"/>
            <a:ext cx="329184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400" b="1" i="0">
                <a:solidFill>
                  <a:srgbClr val="F7F6F2"/>
                </a:solidFill>
                <a:latin typeface="Inter"/>
              </a:rPr>
              <a:t>Le dépôt Git est la preuve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846320" y="4187952"/>
            <a:ext cx="658368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300" b="0" i="0">
                <a:solidFill>
                  <a:srgbClr val="B8C0C8"/>
                </a:solidFill>
                <a:latin typeface="Inter"/>
              </a:rPr>
              <a:t>Chaque chemin cité existe dans votre dépôt. Étiquette </a:t>
            </a:r>
            <a:r>
              <a:rPr sz="1300" b="0" i="0">
                <a:solidFill>
                  <a:srgbClr val="F7F6F2"/>
                </a:solidFill>
                <a:latin typeface="Consolas"/>
              </a:rPr>
              <a:t>seance-N</a:t>
            </a:r>
            <a:r>
              <a:rPr sz="1300" b="0" i="0">
                <a:solidFill>
                  <a:srgbClr val="B8C0C8"/>
                </a:solidFill>
                <a:latin typeface="Inter"/>
              </a:rPr>
              <a:t> posée en fin de chaque séance.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40080" y="5029200"/>
            <a:ext cx="10908792" cy="804672"/>
          </a:xfrm>
          <a:prstGeom prst="rect">
            <a:avLst/>
          </a:prstGeom>
          <a:solidFill>
            <a:srgbClr val="1C2E3D"/>
          </a:solidFill>
          <a:ln w="9525">
            <a:solidFill>
              <a:srgbClr val="2A41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4" name="Icône warn" descr="Icône warn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68680" y="5230368"/>
            <a:ext cx="402336" cy="402336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1463040" y="5102352"/>
            <a:ext cx="329184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400" b="1" i="0">
                <a:solidFill>
                  <a:srgbClr val="F7F6F2"/>
                </a:solidFill>
                <a:latin typeface="Inter"/>
              </a:rPr>
              <a:t>Si vous n'avez pas fini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846320" y="5102352"/>
            <a:ext cx="658368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300" b="0" i="0">
                <a:solidFill>
                  <a:srgbClr val="B8C0C8"/>
                </a:solidFill>
                <a:latin typeface="Inter"/>
              </a:rPr>
              <a:t>Laissez les zones ambre visibles : un livrable inachevé doit le rester. Ne mettez jamais un chiffre sans l'avoir mesuré.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0080" y="5989320"/>
            <a:ext cx="1090879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0" i="1">
                <a:solidFill>
                  <a:srgbClr val="8E99A4"/>
                </a:solidFill>
                <a:latin typeface="Inter"/>
              </a:rPr>
              <a:t>Si le texte déborde d'une cellule, réduisez la police à 11 pt plutôt que d'étendre le tableau hors de la page.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Où se trouve quoi, et ce que pèse chaque critère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3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PLAN DU LIVRABLE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640080" y="1371600"/>
          <a:ext cx="10908792" cy="3072384"/>
        </p:xfrm>
        <a:graphic>
          <a:graphicData uri="http://schemas.openxmlformats.org/drawingml/2006/table">
            <a:tbl>
              <a:tblPr/>
              <a:tblGrid>
                <a:gridCol w="4023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69087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r>
                        <a:rPr sz="1200" b="1" i="0" spc="60">
                          <a:solidFill>
                            <a:srgbClr val="F5A623"/>
                          </a:solidFill>
                          <a:latin typeface="Inter"/>
                        </a:rPr>
                        <a:t>Partie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 spc="60">
                          <a:solidFill>
                            <a:srgbClr val="F5A623"/>
                          </a:solidFill>
                          <a:latin typeface="Inter"/>
                        </a:rPr>
                        <a:t>Pages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 spc="60">
                          <a:solidFill>
                            <a:srgbClr val="F5A623"/>
                          </a:solidFill>
                          <a:latin typeface="Inter"/>
                        </a:rPr>
                        <a:t>Critère de la grille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 spc="60">
                          <a:solidFill>
                            <a:srgbClr val="F5A623"/>
                          </a:solidFill>
                          <a:latin typeface="Inter"/>
                        </a:rPr>
                        <a:t>Poids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F7F6F2"/>
                          </a:solidFill>
                          <a:latin typeface="Inter"/>
                        </a:rPr>
                        <a:t>Équipe et mandat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F7F6F2"/>
                          </a:solidFill>
                          <a:latin typeface="Inter"/>
                        </a:rPr>
                        <a:t>4 à 5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F7F6F2"/>
                          </a:solidFill>
                          <a:latin typeface="Inter"/>
                        </a:rPr>
                        <a:t>Contribution individuelle (vérifiée dans l'historique Git)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F7F6F2"/>
                          </a:solidFill>
                          <a:latin typeface="Inter"/>
                        </a:rPr>
                        <a:t>—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F7F6F2"/>
                          </a:solidFill>
                          <a:latin typeface="Inter"/>
                        </a:rPr>
                        <a:t>S1 : bronze, porte B, profilage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F7F6F2"/>
                          </a:solidFill>
                          <a:latin typeface="Inter"/>
                        </a:rPr>
                        <a:t>S1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F7F6F2"/>
                          </a:solidFill>
                          <a:latin typeface="Inter"/>
                        </a:rPr>
                        <a:t>Profilage et diagnostic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F7F6F2"/>
                          </a:solidFill>
                          <a:latin typeface="Inter"/>
                        </a:rPr>
                        <a:t>20 %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F7F6F2"/>
                          </a:solidFill>
                          <a:latin typeface="Inter"/>
                        </a:rPr>
                        <a:t>S2 : règles en tests (Great Expectations)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F7F6F2"/>
                          </a:solidFill>
                          <a:latin typeface="Inter"/>
                        </a:rPr>
                        <a:t>S2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F7F6F2"/>
                          </a:solidFill>
                          <a:latin typeface="Inter"/>
                        </a:rPr>
                        <a:t>Règles et tests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F7F6F2"/>
                          </a:solidFill>
                          <a:latin typeface="Inter"/>
                        </a:rPr>
                        <a:t>20 %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F7F6F2"/>
                          </a:solidFill>
                          <a:latin typeface="Inter"/>
                        </a:rPr>
                        <a:t>S3 : intégrité et portes (Soda Core)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F7F6F2"/>
                          </a:solidFill>
                          <a:latin typeface="Inter"/>
                        </a:rPr>
                        <a:t>S3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F7F6F2"/>
                          </a:solidFill>
                          <a:latin typeface="Inter"/>
                        </a:rPr>
                        <a:t>Règles et tests (suite)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F7F6F2"/>
                          </a:solidFill>
                          <a:latin typeface="Inter"/>
                        </a:rPr>
                        <a:t>inclus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F7F6F2"/>
                          </a:solidFill>
                          <a:latin typeface="Inter"/>
                        </a:rPr>
                        <a:t>S4 : silver, gold, traçabilité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F7F6F2"/>
                          </a:solidFill>
                          <a:latin typeface="Inter"/>
                        </a:rPr>
                        <a:t>S4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F7F6F2"/>
                          </a:solidFill>
                          <a:latin typeface="Inter"/>
                        </a:rPr>
                        <a:t>Silver, gold et traçabilité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F7F6F2"/>
                          </a:solidFill>
                          <a:latin typeface="Inter"/>
                        </a:rPr>
                        <a:t>25 %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F7F6F2"/>
                          </a:solidFill>
                          <a:latin typeface="Inter"/>
                        </a:rPr>
                        <a:t>S5 : certificat, publication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F7F6F2"/>
                          </a:solidFill>
                          <a:latin typeface="Inter"/>
                        </a:rPr>
                        <a:t>S5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F7F6F2"/>
                          </a:solidFill>
                          <a:latin typeface="Inter"/>
                        </a:rPr>
                        <a:t>Preuve et certificat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F7F6F2"/>
                          </a:solidFill>
                          <a:latin typeface="Inter"/>
                        </a:rPr>
                        <a:t>20 %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F7F6F2"/>
                          </a:solidFill>
                          <a:latin typeface="Inter"/>
                        </a:rPr>
                        <a:t>Dossier go/no-go, journal des décisions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F7F6F2"/>
                          </a:solidFill>
                          <a:latin typeface="Inter"/>
                        </a:rPr>
                        <a:t>Dossier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F7F6F2"/>
                          </a:solidFill>
                          <a:latin typeface="Inter"/>
                        </a:rPr>
                        <a:t>Gouvernance et décision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F7F6F2"/>
                          </a:solidFill>
                          <a:latin typeface="Inter"/>
                        </a:rPr>
                        <a:t>15 %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28" name="TextBox 27"/>
          <p:cNvSpPr txBox="1"/>
          <p:nvPr/>
        </p:nvSpPr>
        <p:spPr>
          <a:xfrm>
            <a:off x="640080" y="4581144"/>
            <a:ext cx="1090879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0" i="1">
                <a:solidFill>
                  <a:srgbClr val="8E99A4"/>
                </a:solidFill>
                <a:latin typeface="Inter"/>
              </a:rPr>
              <a:t>Définition de « terminé » pour une story : critères démontrés avec les chiffres, règle identifiée par son RQ et la couche mesurée, décision attribuée à un rôle, aucune donnée modifiée en place.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Membres, rôles par séance et contribution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ÉQUIPE</a:t>
            </a:r>
          </a:p>
        </p:txBody>
      </p:sp>
      <p:sp>
        <p:nvSpPr>
          <p:cNvPr id="27" name="Attendu"/>
          <p:cNvSpPr/>
          <p:nvPr/>
        </p:nvSpPr>
        <p:spPr>
          <a:xfrm>
            <a:off x="640080" y="1325880"/>
            <a:ext cx="10908792" cy="1071067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Attendu barre"/>
          <p:cNvSpPr/>
          <p:nvPr/>
        </p:nvSpPr>
        <p:spPr>
          <a:xfrm>
            <a:off x="640080" y="1325880"/>
            <a:ext cx="82296" cy="1071067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9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4400" y="1783080"/>
            <a:ext cx="10360152" cy="5681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Les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rôles tournent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à chaque séance et un rôle est tenu par une personne à la fois.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La contribution déclarée est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vérifiable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dans l'historique Git : une ligne par membre, deux lignes de texte.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63170306"/>
              </p:ext>
            </p:extLst>
          </p:nvPr>
        </p:nvGraphicFramePr>
        <p:xfrm>
          <a:off x="640080" y="2579827"/>
          <a:ext cx="10908792" cy="1828800"/>
        </p:xfrm>
        <a:graphic>
          <a:graphicData uri="http://schemas.openxmlformats.org/drawingml/2006/table">
            <a:tbl>
              <a:tblPr/>
              <a:tblGrid>
                <a:gridCol w="2560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30759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Membre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Identifiant Git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S1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S2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S3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S4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S5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Sami Rezig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Meriem </a:t>
                      </a:r>
                      <a:r>
                        <a:rPr lang="fr-FR" sz="1200" b="0" i="0" dirty="0" err="1">
                          <a:solidFill>
                            <a:srgbClr val="F5A623"/>
                          </a:solidFill>
                          <a:latin typeface="Inter"/>
                        </a:rPr>
                        <a:t>Benayache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Housni </a:t>
                      </a:r>
                      <a:r>
                        <a:rPr lang="fr-FR" sz="1200" b="0" i="0" dirty="0" err="1">
                          <a:solidFill>
                            <a:srgbClr val="F5A623"/>
                          </a:solidFill>
                          <a:latin typeface="Inter"/>
                        </a:rPr>
                        <a:t>Achbouq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Mohamed </a:t>
                      </a:r>
                      <a:r>
                        <a:rPr lang="fr-FR" sz="1200" b="0" i="0" dirty="0" err="1">
                          <a:solidFill>
                            <a:srgbClr val="F5A623"/>
                          </a:solidFill>
                          <a:latin typeface="Inter"/>
                        </a:rPr>
                        <a:t>Gourainy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640080" y="4481779"/>
            <a:ext cx="1090879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0" i="1">
                <a:solidFill>
                  <a:srgbClr val="8E99A4"/>
                </a:solidFill>
                <a:latin typeface="Inter"/>
              </a:rPr>
              <a:t>Rôles : Data Owner (décide des seuils et du GO) · Data Steward (définit les règles et leur sévérité) · Ingénieur qualité (mesure, implémente) · Rédacteur du livrable.</a:t>
            </a:r>
          </a:p>
        </p:txBody>
      </p:sp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640080" y="4865827"/>
          <a:ext cx="10908792" cy="1828800"/>
        </p:xfrm>
        <a:graphic>
          <a:graphicData uri="http://schemas.openxmlformats.org/drawingml/2006/table">
            <a:tbl>
              <a:tblPr/>
              <a:tblGrid>
                <a:gridCol w="2560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0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1343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Membre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Contribution (deux lignes)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Stories principales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Notre compréhension du mandat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5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CONTEXTE</a:t>
            </a:r>
          </a:p>
        </p:txBody>
      </p:sp>
      <p:sp>
        <p:nvSpPr>
          <p:cNvPr id="27" name="Attendu"/>
          <p:cNvSpPr/>
          <p:nvPr/>
        </p:nvSpPr>
        <p:spPr>
          <a:xfrm>
            <a:off x="640080" y="1325880"/>
            <a:ext cx="10908792" cy="1323136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Attendu barre"/>
          <p:cNvSpPr/>
          <p:nvPr/>
        </p:nvSpPr>
        <p:spPr>
          <a:xfrm>
            <a:off x="640080" y="1325880"/>
            <a:ext cx="82296" cy="1323136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9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4400" y="1783080"/>
            <a:ext cx="10360152" cy="8202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La condition posée par la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Direction Générale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reformulée avec vos mots.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périmètre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: sources, couches du médaillon, portes B, S, G et C.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Les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trois rôles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de gouvernance et ce que chacun décide.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2831896"/>
            <a:ext cx="530352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MANDAT ET CONDITION DE LA DG</a:t>
            </a:r>
          </a:p>
        </p:txBody>
      </p:sp>
      <p:sp>
        <p:nvSpPr>
          <p:cNvPr id="33" name="Zone à rédiger"/>
          <p:cNvSpPr/>
          <p:nvPr/>
        </p:nvSpPr>
        <p:spPr>
          <a:xfrm>
            <a:off x="640080" y="3124504"/>
            <a:ext cx="5303520" cy="3001975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[Rédigez ici, cinq lignes au plus]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45352" y="2831896"/>
            <a:ext cx="530352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PÉRIMÈTRE ET RÔLES</a:t>
            </a:r>
          </a:p>
        </p:txBody>
      </p:sp>
      <p:sp>
        <p:nvSpPr>
          <p:cNvPr id="35" name="Zone à rédiger"/>
          <p:cNvSpPr/>
          <p:nvPr/>
        </p:nvSpPr>
        <p:spPr>
          <a:xfrm>
            <a:off x="6245352" y="3124504"/>
            <a:ext cx="5303520" cy="3001975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[Rédigez ici, cinq lignes au plus]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r>
              <a:t>01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3"/>
          </p:nvPr>
        </p:nvSpPr>
        <p:spPr/>
        <p:txBody>
          <a:bodyPr/>
          <a:lstStyle/>
          <a:p>
            <a:r>
              <a:t>Stack, profilage, bronze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6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4892040"/>
            <a:ext cx="640080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600" b="0" i="0">
                <a:solidFill>
                  <a:srgbClr val="B8C0C8"/>
                </a:solidFill>
                <a:latin typeface="Inter"/>
              </a:rPr>
              <a:t>Séance 1 · Porte B · US-01 à 09. Inventaire des sources, bronze, réconciliation, profil de crm.client, dictionnaire du CIF, client actif.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Inventaire des sources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7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S1 · US-01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PROFILAGE ET DIAGNOSTIC · 20 %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188720"/>
            <a:ext cx="10908792" cy="1071067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/>
          </a:p>
        </p:txBody>
      </p:sp>
      <p:sp>
        <p:nvSpPr>
          <p:cNvPr id="29" name="Attendu barre"/>
          <p:cNvSpPr/>
          <p:nvPr/>
        </p:nvSpPr>
        <p:spPr>
          <a:xfrm>
            <a:off x="640080" y="1188720"/>
            <a:ext cx="82296" cy="1071067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29844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340485"/>
            <a:ext cx="7315200" cy="19024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645920"/>
            <a:ext cx="10360152" cy="46063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1" i="0" dirty="0">
                <a:solidFill>
                  <a:srgbClr val="F7F6F2"/>
                </a:solidFill>
                <a:latin typeface="Inter"/>
              </a:rPr>
              <a:t>Les </a:t>
            </a:r>
            <a:r>
              <a:rPr sz="1300" b="1" i="0" dirty="0">
                <a:solidFill>
                  <a:srgbClr val="F5A623"/>
                </a:solidFill>
                <a:latin typeface="Inter"/>
              </a:rPr>
              <a:t>sept tables</a:t>
            </a:r>
            <a:r>
              <a:rPr sz="1300" b="1" i="0" dirty="0">
                <a:solidFill>
                  <a:srgbClr val="F7F6F2"/>
                </a:solidFill>
                <a:latin typeface="Inter"/>
              </a:rPr>
              <a:t> des deux sources, avec le </a:t>
            </a:r>
            <a:r>
              <a:rPr sz="1300" b="1" i="0" dirty="0" err="1">
                <a:solidFill>
                  <a:srgbClr val="F5A623"/>
                </a:solidFill>
                <a:latin typeface="Inter"/>
              </a:rPr>
              <a:t>nombre</a:t>
            </a:r>
            <a:r>
              <a:rPr sz="1300" b="1" i="0" dirty="0">
                <a:solidFill>
                  <a:srgbClr val="F5A623"/>
                </a:solidFill>
                <a:latin typeface="Inter"/>
              </a:rPr>
              <a:t> de </a:t>
            </a:r>
            <a:r>
              <a:rPr sz="1300" b="1" i="0" dirty="0" err="1">
                <a:solidFill>
                  <a:srgbClr val="F5A623"/>
                </a:solidFill>
                <a:latin typeface="Inter"/>
              </a:rPr>
              <a:t>lignes</a:t>
            </a:r>
            <a:r>
              <a:rPr sz="1300" b="1" i="0" dirty="0">
                <a:solidFill>
                  <a:srgbClr val="F7F6F2"/>
                </a:solidFill>
                <a:latin typeface="Inter"/>
              </a:rPr>
              <a:t> </a:t>
            </a:r>
            <a:r>
              <a:rPr sz="1300" b="1" i="0" dirty="0" err="1">
                <a:solidFill>
                  <a:srgbClr val="F7F6F2"/>
                </a:solidFill>
                <a:latin typeface="Inter"/>
              </a:rPr>
              <a:t>mesuré</a:t>
            </a:r>
            <a:r>
              <a:rPr sz="1300" b="1" i="0" dirty="0">
                <a:solidFill>
                  <a:srgbClr val="F7F6F2"/>
                </a:solidFill>
                <a:latin typeface="Inter"/>
              </a:rPr>
              <a:t> et la </a:t>
            </a:r>
            <a:r>
              <a:rPr sz="1300" b="1" i="0" dirty="0" err="1">
                <a:solidFill>
                  <a:srgbClr val="F5A623"/>
                </a:solidFill>
                <a:latin typeface="Inter"/>
              </a:rPr>
              <a:t>clé</a:t>
            </a:r>
            <a:r>
              <a:rPr sz="1300" b="1" i="0" dirty="0">
                <a:solidFill>
                  <a:srgbClr val="F5A623"/>
                </a:solidFill>
                <a:latin typeface="Inter"/>
              </a:rPr>
              <a:t> </a:t>
            </a:r>
            <a:r>
              <a:rPr sz="1300" b="1" i="0" dirty="0" err="1">
                <a:solidFill>
                  <a:srgbClr val="F5A623"/>
                </a:solidFill>
                <a:latin typeface="Inter"/>
              </a:rPr>
              <a:t>primaire</a:t>
            </a:r>
            <a:r>
              <a:rPr sz="1300" b="1" i="0" dirty="0">
                <a:solidFill>
                  <a:srgbClr val="F7F6F2"/>
                </a:solidFill>
                <a:latin typeface="Inter"/>
              </a:rPr>
              <a:t>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1" i="0" dirty="0">
                <a:solidFill>
                  <a:srgbClr val="F7F6F2"/>
                </a:solidFill>
                <a:latin typeface="Inter"/>
              </a:rPr>
              <a:t>Une </a:t>
            </a:r>
            <a:r>
              <a:rPr sz="1300" b="1" i="0" dirty="0">
                <a:solidFill>
                  <a:srgbClr val="F5A623"/>
                </a:solidFill>
                <a:latin typeface="Inter"/>
              </a:rPr>
              <a:t>observation </a:t>
            </a:r>
            <a:r>
              <a:rPr sz="1300" b="1" i="0" dirty="0" err="1">
                <a:solidFill>
                  <a:srgbClr val="F5A623"/>
                </a:solidFill>
                <a:latin typeface="Inter"/>
              </a:rPr>
              <a:t>chiffrée</a:t>
            </a:r>
            <a:r>
              <a:rPr sz="1300" b="1" i="0" dirty="0">
                <a:solidFill>
                  <a:srgbClr val="F7F6F2"/>
                </a:solidFill>
                <a:latin typeface="Inter"/>
              </a:rPr>
              <a:t> par table (nulls, </a:t>
            </a:r>
            <a:r>
              <a:rPr sz="1300" b="1" i="0" dirty="0" err="1">
                <a:solidFill>
                  <a:srgbClr val="F7F6F2"/>
                </a:solidFill>
                <a:latin typeface="Inter"/>
              </a:rPr>
              <a:t>doublons</a:t>
            </a:r>
            <a:r>
              <a:rPr sz="1300" b="1" i="0" dirty="0">
                <a:solidFill>
                  <a:srgbClr val="F7F6F2"/>
                </a:solidFill>
                <a:latin typeface="Inter"/>
              </a:rPr>
              <a:t> de </a:t>
            </a:r>
            <a:r>
              <a:rPr sz="1300" b="1" i="0" dirty="0" err="1">
                <a:solidFill>
                  <a:srgbClr val="F7F6F2"/>
                </a:solidFill>
                <a:latin typeface="Inter"/>
              </a:rPr>
              <a:t>clé</a:t>
            </a:r>
            <a:r>
              <a:rPr sz="1300" b="1" i="0" dirty="0">
                <a:solidFill>
                  <a:srgbClr val="F7F6F2"/>
                </a:solidFill>
                <a:latin typeface="Inter"/>
              </a:rPr>
              <a:t>, </a:t>
            </a:r>
            <a:r>
              <a:rPr sz="1300" b="1" i="0" dirty="0" err="1">
                <a:solidFill>
                  <a:srgbClr val="F7F6F2"/>
                </a:solidFill>
                <a:latin typeface="Inter"/>
              </a:rPr>
              <a:t>particularités</a:t>
            </a:r>
            <a:r>
              <a:rPr sz="1300" b="1" i="0" dirty="0">
                <a:solidFill>
                  <a:srgbClr val="F7F6F2"/>
                </a:solidFill>
                <a:latin typeface="Inter"/>
              </a:rPr>
              <a:t>).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48262253"/>
              </p:ext>
            </p:extLst>
          </p:nvPr>
        </p:nvGraphicFramePr>
        <p:xfrm>
          <a:off x="640080" y="2309190"/>
          <a:ext cx="10908791" cy="3642360"/>
        </p:xfrm>
        <a:graphic>
          <a:graphicData uri="http://schemas.openxmlformats.org/drawingml/2006/table">
            <a:tbl>
              <a:tblPr/>
              <a:tblGrid>
                <a:gridCol w="1188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05079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09996"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Source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Table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Lignes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 dirty="0">
                          <a:solidFill>
                            <a:srgbClr val="F5A623"/>
                          </a:solidFill>
                          <a:latin typeface="Inter"/>
                        </a:rPr>
                        <a:t>Clé </a:t>
                      </a:r>
                      <a:r>
                        <a:rPr sz="1100" b="1" i="0" spc="60" dirty="0" err="1">
                          <a:solidFill>
                            <a:srgbClr val="F5A623"/>
                          </a:solidFill>
                          <a:latin typeface="Inter"/>
                        </a:rPr>
                        <a:t>primaire</a:t>
                      </a:r>
                      <a:endParaRPr sz="1100" b="1" i="0" spc="6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Observation chiffrée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8813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crm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7F6F2"/>
                          </a:solidFill>
                          <a:latin typeface="Inter"/>
                        </a:rPr>
                        <a:t>client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10000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 err="1">
                          <a:solidFill>
                            <a:srgbClr val="F5A623"/>
                          </a:solidFill>
                          <a:latin typeface="Inter"/>
                        </a:rPr>
                        <a:t>Client_id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0 doublon de clé ; 133918 nuls sur 6 colonne(s), max sur </a:t>
                      </a:r>
                      <a:r>
                        <a:rPr lang="fr-FR" sz="1200" b="0" i="0" dirty="0" err="1">
                          <a:solidFill>
                            <a:srgbClr val="F5A623"/>
                          </a:solidFill>
                          <a:latin typeface="+mn-lt"/>
                        </a:rPr>
                        <a:t>raison_sociale</a:t>
                      </a:r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 (95723) ; 4277 personnes morales (</a:t>
                      </a:r>
                      <a:r>
                        <a:rPr lang="fr-FR" sz="1200" b="0" i="0" dirty="0" err="1">
                          <a:solidFill>
                            <a:srgbClr val="F5A623"/>
                          </a:solidFill>
                          <a:latin typeface="+mn-lt"/>
                        </a:rPr>
                        <a:t>raison_sociale</a:t>
                      </a:r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 renseignée, nom vide)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8813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crm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7F6F2"/>
                          </a:solidFill>
                          <a:latin typeface="Inter"/>
                        </a:rPr>
                        <a:t>contrat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100000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 err="1">
                          <a:solidFill>
                            <a:srgbClr val="F5A623"/>
                          </a:solidFill>
                          <a:latin typeface="Inter"/>
                        </a:rPr>
                        <a:t>Contrat_id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0 doublon de clé ; 7460 nuls sur 1 colonne(s), max sur </a:t>
                      </a:r>
                      <a:r>
                        <a:rPr lang="fr-FR" sz="1200" b="0" i="0" dirty="0" err="1">
                          <a:solidFill>
                            <a:srgbClr val="F5A623"/>
                          </a:solidFill>
                          <a:latin typeface="+mn-lt"/>
                        </a:rPr>
                        <a:t>date_derniere_cotisation</a:t>
                      </a:r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 (7460) ; 40000 contrats avec </a:t>
                      </a:r>
                      <a:r>
                        <a:rPr lang="fr-FR" sz="1200" b="0" i="0" dirty="0" err="1">
                          <a:solidFill>
                            <a:srgbClr val="F5A623"/>
                          </a:solidFill>
                          <a:latin typeface="+mn-lt"/>
                        </a:rPr>
                        <a:t>assure_id</a:t>
                      </a:r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 = '0' (valeur sentinelle)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58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crm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7F6F2"/>
                          </a:solidFill>
                          <a:latin typeface="Inter"/>
                        </a:rPr>
                        <a:t>sinistre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100000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 err="1">
                          <a:solidFill>
                            <a:srgbClr val="F5A623"/>
                          </a:solidFill>
                          <a:latin typeface="Inter"/>
                        </a:rPr>
                        <a:t>Sinistre_id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0 doublon de clé ; aucun nul ; 4 canaux de saisie, 62782 contrats distincts concernés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23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crm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7F6F2"/>
                          </a:solidFill>
                          <a:latin typeface="Inter"/>
                        </a:rPr>
                        <a:t>type_contrat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12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 err="1">
                          <a:solidFill>
                            <a:srgbClr val="F5A623"/>
                          </a:solidFill>
                          <a:latin typeface="Inter"/>
                        </a:rPr>
                        <a:t>Code_type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0 doublon de clé ; aucun nul ; 12 types répartis sur 3 branches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18813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cif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7F6F2"/>
                          </a:solidFill>
                          <a:latin typeface="Inter"/>
                        </a:rPr>
                        <a:t>clients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40000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column0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0 doublon de clé ; 26486 nuls sur 4 colonne(s), max sur column9 (18872) ; 10 colonnes aux noms anonymes (column0 à column9), sans documentation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058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cif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7F6F2"/>
                          </a:solidFill>
                          <a:latin typeface="Inter"/>
                        </a:rPr>
                        <a:t>compte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45000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column0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0 doublon de clé ; aucun nul ; 45000 comptes pour 40000 identifiants CIF distincts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223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cif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7F6F2"/>
                          </a:solidFill>
                          <a:latin typeface="Inter"/>
                        </a:rPr>
                        <a:t>pays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250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 err="1">
                          <a:solidFill>
                            <a:srgbClr val="F5A623"/>
                          </a:solidFill>
                          <a:latin typeface="Inter"/>
                        </a:rPr>
                        <a:t>Code_pays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0 doublon de clé ; aucun nul ; 250 pays dans le référentiel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681228" y="6035332"/>
            <a:ext cx="10908792" cy="19024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lang="fr-FR" sz="1200" dirty="0">
                <a:solidFill>
                  <a:srgbClr val="B8C0C8"/>
                </a:solidFill>
              </a:rPr>
              <a:t>Preuve (chemin du notebook, du fichier ou de la requête dans le dépôt) : notebooks/S1_01.ipynb, US-01 cellule 7</a:t>
            </a:r>
            <a:endParaRPr sz="1200" b="1" i="0" dirty="0">
              <a:solidFill>
                <a:srgbClr val="F5A623"/>
              </a:solidFill>
              <a:latin typeface="Inter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 dirty="0"/>
              <a:t>Bronze et </a:t>
            </a:r>
            <a:r>
              <a:rPr sz="2800" dirty="0" err="1"/>
              <a:t>porte</a:t>
            </a:r>
            <a:r>
              <a:rPr sz="2800" dirty="0"/>
              <a:t> B : la </a:t>
            </a:r>
            <a:r>
              <a:rPr sz="2800" dirty="0" err="1"/>
              <a:t>copie</a:t>
            </a:r>
            <a:r>
              <a:rPr sz="2800" dirty="0"/>
              <a:t> est-</a:t>
            </a:r>
            <a:r>
              <a:rPr sz="2800" dirty="0" err="1"/>
              <a:t>elle</a:t>
            </a:r>
            <a:r>
              <a:rPr sz="2800" dirty="0"/>
              <a:t> </a:t>
            </a:r>
            <a:r>
              <a:rPr sz="2800" dirty="0" err="1"/>
              <a:t>fidèle</a:t>
            </a:r>
            <a:r>
              <a:rPr sz="2800" dirty="0"/>
              <a:t> ?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8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 dirty="0">
                <a:solidFill>
                  <a:srgbClr val="F5A623"/>
                </a:solidFill>
                <a:latin typeface="Inter"/>
              </a:rPr>
              <a:t>S1 · US-02, 03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PROFILAGE ET DIAGNOSTIC · 20 %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071067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071067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5681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1" i="0">
                <a:solidFill>
                  <a:srgbClr val="F5A623"/>
                </a:solidFill>
                <a:latin typeface="Inter"/>
              </a:rPr>
              <a:t>RQ-021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(comptage) et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RQ-022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(somme de contrôle) mesurées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table par table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, même quand l'écart est nul.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Chaque ligne bronze porte ses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quatre métadonnées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(lot, source, horodatage, empreinte de ligne).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95966001"/>
              </p:ext>
            </p:extLst>
          </p:nvPr>
        </p:nvGraphicFramePr>
        <p:xfrm>
          <a:off x="640080" y="2579827"/>
          <a:ext cx="10908792" cy="2926080"/>
        </p:xfrm>
        <a:graphic>
          <a:graphicData uri="http://schemas.openxmlformats.org/drawingml/2006/table">
            <a:tbl>
              <a:tblPr/>
              <a:tblGrid>
                <a:gridCol w="26517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Table bronze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 dirty="0" err="1">
                          <a:solidFill>
                            <a:srgbClr val="F5A623"/>
                          </a:solidFill>
                          <a:latin typeface="Inter"/>
                        </a:rPr>
                        <a:t>Lignes</a:t>
                      </a:r>
                      <a:r>
                        <a:rPr sz="1100" b="1" i="0" spc="60" dirty="0">
                          <a:solidFill>
                            <a:srgbClr val="F5A623"/>
                          </a:solidFill>
                          <a:latin typeface="Inter"/>
                        </a:rPr>
                        <a:t> source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Lignes bronze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Écart de comptage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Écart de somme de contrôle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crm_client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100000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100000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crm_contrat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100000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100000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1" i="0" dirty="0" err="1">
                          <a:solidFill>
                            <a:srgbClr val="F7F6F2"/>
                          </a:solidFill>
                          <a:latin typeface="Inter"/>
                        </a:rPr>
                        <a:t>crm_sinistre</a:t>
                      </a:r>
                      <a:endParaRPr sz="1200" b="1" i="0" dirty="0">
                        <a:solidFill>
                          <a:srgbClr val="F7F6F2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100000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100000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crm_type_contrat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12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12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cif_clients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40000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40000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cif_compte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45000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45000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1" i="0" dirty="0" err="1">
                          <a:solidFill>
                            <a:srgbClr val="F7F6F2"/>
                          </a:solidFill>
                          <a:latin typeface="Inter"/>
                        </a:rPr>
                        <a:t>cif_pays</a:t>
                      </a:r>
                      <a:endParaRPr sz="1200" b="1" i="0" dirty="0">
                        <a:solidFill>
                          <a:srgbClr val="F7F6F2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250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250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640080" y="5894197"/>
            <a:ext cx="10908792" cy="19024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200" b="0" i="0" dirty="0" err="1">
                <a:solidFill>
                  <a:srgbClr val="B8C0C8"/>
                </a:solidFill>
                <a:latin typeface="Inter"/>
              </a:rPr>
              <a:t>Preuve</a:t>
            </a:r>
            <a:r>
              <a:rPr sz="1200" b="0" i="0" dirty="0">
                <a:solidFill>
                  <a:srgbClr val="B8C0C8"/>
                </a:solidFill>
                <a:latin typeface="Inter"/>
              </a:rPr>
              <a:t> (chemin du notebook, du </a:t>
            </a:r>
            <a:r>
              <a:rPr sz="1200" b="0" i="0" dirty="0" err="1">
                <a:solidFill>
                  <a:srgbClr val="B8C0C8"/>
                </a:solidFill>
                <a:latin typeface="Inter"/>
              </a:rPr>
              <a:t>fichier</a:t>
            </a:r>
            <a:r>
              <a:rPr sz="1200" b="0" i="0" dirty="0">
                <a:solidFill>
                  <a:srgbClr val="B8C0C8"/>
                </a:solidFill>
                <a:latin typeface="Inter"/>
              </a:rPr>
              <a:t> </a:t>
            </a:r>
            <a:r>
              <a:rPr sz="1200" b="0" i="0" dirty="0" err="1">
                <a:solidFill>
                  <a:srgbClr val="B8C0C8"/>
                </a:solidFill>
                <a:latin typeface="Inter"/>
              </a:rPr>
              <a:t>ou</a:t>
            </a:r>
            <a:r>
              <a:rPr sz="1200" b="0" i="0" dirty="0">
                <a:solidFill>
                  <a:srgbClr val="B8C0C8"/>
                </a:solidFill>
                <a:latin typeface="Inter"/>
              </a:rPr>
              <a:t> de la </a:t>
            </a:r>
            <a:r>
              <a:rPr sz="1200" b="0" i="0" dirty="0" err="1">
                <a:solidFill>
                  <a:srgbClr val="B8C0C8"/>
                </a:solidFill>
                <a:latin typeface="Inter"/>
              </a:rPr>
              <a:t>requête</a:t>
            </a:r>
            <a:r>
              <a:rPr sz="1200" b="0" i="0" dirty="0">
                <a:solidFill>
                  <a:srgbClr val="B8C0C8"/>
                </a:solidFill>
                <a:latin typeface="Inter"/>
              </a:rPr>
              <a:t> dans le </a:t>
            </a:r>
            <a:r>
              <a:rPr sz="1200" b="0" i="0" dirty="0" err="1">
                <a:solidFill>
                  <a:srgbClr val="B8C0C8"/>
                </a:solidFill>
                <a:latin typeface="Inter"/>
              </a:rPr>
              <a:t>dépôt</a:t>
            </a:r>
            <a:r>
              <a:rPr sz="1200" b="0" i="0" dirty="0">
                <a:solidFill>
                  <a:srgbClr val="B8C0C8"/>
                </a:solidFill>
                <a:latin typeface="Inter"/>
              </a:rPr>
              <a:t>) : </a:t>
            </a:r>
            <a:r>
              <a:rPr lang="en-US" sz="1200" b="0" i="0" dirty="0">
                <a:solidFill>
                  <a:srgbClr val="B8C0C8"/>
                </a:solidFill>
                <a:latin typeface="Inter"/>
              </a:rPr>
              <a:t>notebooks/S1_01.ipynb, US-02 cellule 5 + US-03 cellule 3</a:t>
            </a:r>
            <a:endParaRPr sz="1200" b="1" i="0" dirty="0">
              <a:solidFill>
                <a:srgbClr val="F5A623"/>
              </a:solidFill>
              <a:latin typeface="Inter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Épreuves de la porte B et méthode d'ingestion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9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S1 · US-02, 03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PROFILAGE ET DIAGNOSTIC · 20 %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071067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071067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5681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Les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trois épreuves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documentées, chacune avec son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résultat obtenu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et sa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preuve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La méthode d'ingestion en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trois lignes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: lecture, conversion, métadonnées, relance du lot.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93013622"/>
              </p:ext>
            </p:extLst>
          </p:nvPr>
        </p:nvGraphicFramePr>
        <p:xfrm>
          <a:off x="640080" y="2579827"/>
          <a:ext cx="10908792" cy="2468880"/>
        </p:xfrm>
        <a:graphic>
          <a:graphicData uri="http://schemas.openxmlformats.org/drawingml/2006/table">
            <a:tbl>
              <a:tblPr/>
              <a:tblGrid>
                <a:gridCol w="5120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08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7919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Épreuve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Résultat obtenu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Preuve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Relance du même lot : doublons créés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0 doublon : 100 000 lignes dans </a:t>
                      </a:r>
                      <a:r>
                        <a:rPr lang="fr-FR" sz="1200" b="0" i="0" dirty="0" err="1">
                          <a:solidFill>
                            <a:srgbClr val="F5A623"/>
                          </a:solidFill>
                          <a:latin typeface="+mn-lt"/>
                        </a:rPr>
                        <a:t>bronze.crm_client</a:t>
                      </a:r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 avant et après relance du lot L-2026-10-01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notebooks/S1_01.ipynb, US-02 cellule 6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r>
                        <a:rPr sz="1200" b="1" i="0" dirty="0" err="1">
                          <a:solidFill>
                            <a:srgbClr val="F7F6F2"/>
                          </a:solidFill>
                          <a:latin typeface="Inter"/>
                        </a:rPr>
                        <a:t>Écart</a:t>
                      </a:r>
                      <a:r>
                        <a:rPr sz="1200" b="1" i="0" dirty="0">
                          <a:solidFill>
                            <a:srgbClr val="F7F6F2"/>
                          </a:solidFill>
                          <a:latin typeface="Inter"/>
                        </a:rPr>
                        <a:t> </a:t>
                      </a:r>
                      <a:r>
                        <a:rPr sz="1200" b="1" i="0" dirty="0" err="1">
                          <a:solidFill>
                            <a:srgbClr val="F7F6F2"/>
                          </a:solidFill>
                          <a:latin typeface="Inter"/>
                        </a:rPr>
                        <a:t>introduit</a:t>
                      </a:r>
                      <a:r>
                        <a:rPr sz="1200" b="1" i="0" dirty="0">
                          <a:solidFill>
                            <a:srgbClr val="F7F6F2"/>
                          </a:solidFill>
                          <a:latin typeface="Inter"/>
                        </a:rPr>
                        <a:t> </a:t>
                      </a:r>
                      <a:r>
                        <a:rPr sz="1200" b="1" i="0" dirty="0" err="1">
                          <a:solidFill>
                            <a:srgbClr val="F7F6F2"/>
                          </a:solidFill>
                          <a:latin typeface="Inter"/>
                        </a:rPr>
                        <a:t>volontairement</a:t>
                      </a:r>
                      <a:r>
                        <a:rPr sz="1200" b="1" i="0" dirty="0">
                          <a:solidFill>
                            <a:srgbClr val="F7F6F2"/>
                          </a:solidFill>
                          <a:latin typeface="Inter"/>
                        </a:rPr>
                        <a:t> sur </a:t>
                      </a:r>
                      <a:r>
                        <a:rPr sz="1200" b="1" i="0" dirty="0" err="1">
                          <a:solidFill>
                            <a:srgbClr val="F7F6F2"/>
                          </a:solidFill>
                          <a:latin typeface="Inter"/>
                        </a:rPr>
                        <a:t>une</a:t>
                      </a:r>
                      <a:r>
                        <a:rPr sz="1200" b="1" i="0" dirty="0">
                          <a:solidFill>
                            <a:srgbClr val="F7F6F2"/>
                          </a:solidFill>
                          <a:latin typeface="Inter"/>
                        </a:rPr>
                        <a:t> </a:t>
                      </a:r>
                      <a:r>
                        <a:rPr sz="1200" b="1" i="0" dirty="0" err="1">
                          <a:solidFill>
                            <a:srgbClr val="F7F6F2"/>
                          </a:solidFill>
                          <a:latin typeface="Inter"/>
                        </a:rPr>
                        <a:t>copie</a:t>
                      </a:r>
                      <a:r>
                        <a:rPr sz="1200" b="1" i="0" dirty="0">
                          <a:solidFill>
                            <a:srgbClr val="F7F6F2"/>
                          </a:solidFill>
                          <a:latin typeface="Inter"/>
                        </a:rPr>
                        <a:t> : la </a:t>
                      </a:r>
                      <a:r>
                        <a:rPr sz="1200" b="1" i="0" dirty="0" err="1">
                          <a:solidFill>
                            <a:srgbClr val="F7F6F2"/>
                          </a:solidFill>
                          <a:latin typeface="Inter"/>
                        </a:rPr>
                        <a:t>porte</a:t>
                      </a:r>
                      <a:r>
                        <a:rPr sz="1200" b="1" i="0" dirty="0">
                          <a:solidFill>
                            <a:srgbClr val="F7F6F2"/>
                          </a:solidFill>
                          <a:latin typeface="Inter"/>
                        </a:rPr>
                        <a:t> </a:t>
                      </a:r>
                      <a:r>
                        <a:rPr sz="1200" b="1" i="0" dirty="0" err="1">
                          <a:solidFill>
                            <a:srgbClr val="F7F6F2"/>
                          </a:solidFill>
                          <a:latin typeface="Inter"/>
                        </a:rPr>
                        <a:t>échoue</a:t>
                      </a:r>
                      <a:r>
                        <a:rPr sz="1200" b="1" i="0" dirty="0">
                          <a:solidFill>
                            <a:srgbClr val="F7F6F2"/>
                          </a:solidFill>
                          <a:latin typeface="Inter"/>
                        </a:rPr>
                        <a:t>-t-</a:t>
                      </a:r>
                      <a:r>
                        <a:rPr sz="1200" b="1" i="0" dirty="0" err="1">
                          <a:solidFill>
                            <a:srgbClr val="F7F6F2"/>
                          </a:solidFill>
                          <a:latin typeface="Inter"/>
                        </a:rPr>
                        <a:t>elle</a:t>
                      </a:r>
                      <a:r>
                        <a:rPr sz="1200" b="1" i="0" dirty="0">
                          <a:solidFill>
                            <a:srgbClr val="F7F6F2"/>
                          </a:solidFill>
                          <a:latin typeface="Inter"/>
                        </a:rPr>
                        <a:t> ?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MA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OUI, la porte échoue pour chaque type de modification 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notebooks/S1_01.ipynb, US-02 cellule 6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r>
                        <a:rPr sz="1200" b="1" i="0" dirty="0">
                          <a:solidFill>
                            <a:srgbClr val="F7F6F2"/>
                          </a:solidFill>
                          <a:latin typeface="Inter"/>
                        </a:rPr>
                        <a:t>Un </a:t>
                      </a:r>
                      <a:r>
                        <a:rPr sz="1200" b="1" i="0" dirty="0" err="1">
                          <a:solidFill>
                            <a:srgbClr val="F7F6F2"/>
                          </a:solidFill>
                          <a:latin typeface="Inter"/>
                        </a:rPr>
                        <a:t>problème</a:t>
                      </a:r>
                      <a:r>
                        <a:rPr sz="1200" b="1" i="0" dirty="0">
                          <a:solidFill>
                            <a:srgbClr val="F7F6F2"/>
                          </a:solidFill>
                          <a:latin typeface="Inter"/>
                        </a:rPr>
                        <a:t> de conversion </a:t>
                      </a:r>
                      <a:r>
                        <a:rPr sz="1200" b="1" i="0" dirty="0" err="1">
                          <a:solidFill>
                            <a:srgbClr val="F7F6F2"/>
                          </a:solidFill>
                          <a:latin typeface="Inter"/>
                        </a:rPr>
                        <a:t>rencontré</a:t>
                      </a:r>
                      <a:r>
                        <a:rPr sz="1200" b="1" i="0" dirty="0">
                          <a:solidFill>
                            <a:srgbClr val="F7F6F2"/>
                          </a:solidFill>
                          <a:latin typeface="Inter"/>
                        </a:rPr>
                        <a:t> (</a:t>
                      </a:r>
                      <a:r>
                        <a:rPr sz="1200" b="1" i="0" dirty="0" err="1">
                          <a:solidFill>
                            <a:srgbClr val="F7F6F2"/>
                          </a:solidFill>
                          <a:latin typeface="Inter"/>
                        </a:rPr>
                        <a:t>décimales</a:t>
                      </a:r>
                      <a:r>
                        <a:rPr sz="1200" b="1" i="0" dirty="0">
                          <a:solidFill>
                            <a:srgbClr val="F7F6F2"/>
                          </a:solidFill>
                          <a:latin typeface="Inter"/>
                        </a:rPr>
                        <a:t>, NULL, accents) et </a:t>
                      </a:r>
                      <a:r>
                        <a:rPr sz="1200" b="1" i="0" dirty="0" err="1">
                          <a:solidFill>
                            <a:srgbClr val="F7F6F2"/>
                          </a:solidFill>
                          <a:latin typeface="Inter"/>
                        </a:rPr>
                        <a:t>sa</a:t>
                      </a:r>
                      <a:r>
                        <a:rPr sz="1200" b="1" i="0" dirty="0">
                          <a:solidFill>
                            <a:srgbClr val="F7F6F2"/>
                          </a:solidFill>
                          <a:latin typeface="Inter"/>
                        </a:rPr>
                        <a:t> correction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9 912 montants sur 100 000 (</a:t>
                      </a:r>
                      <a:r>
                        <a:rPr lang="fr-FR" sz="1200" b="0" i="0" dirty="0" err="1">
                          <a:solidFill>
                            <a:srgbClr val="F5A623"/>
                          </a:solidFill>
                          <a:latin typeface="+mn-lt"/>
                        </a:rPr>
                        <a:t>prime_annuelle</a:t>
                      </a:r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) perdent leur zéro final (184.10 → 184.1). Corrigé avec </a:t>
                      </a:r>
                      <a:r>
                        <a:rPr lang="fr-FR" sz="1200" b="0" i="0" dirty="0" err="1">
                          <a:solidFill>
                            <a:srgbClr val="F5A623"/>
                          </a:solidFill>
                          <a:latin typeface="+mn-lt"/>
                        </a:rPr>
                        <a:t>coerce_float</a:t>
                      </a:r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=False : écart de somme = 0.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notebooks/S1_01.ipynb, US-03 cellule 8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640080" y="5094428"/>
            <a:ext cx="1090879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 dirty="0">
                <a:solidFill>
                  <a:srgbClr val="F5A623"/>
                </a:solidFill>
                <a:latin typeface="Inter"/>
              </a:rPr>
              <a:t>MÉTHODE D'INGESTION EN TROIS LIGNES</a:t>
            </a:r>
          </a:p>
        </p:txBody>
      </p:sp>
      <p:sp>
        <p:nvSpPr>
          <p:cNvPr id="35" name="Zone à rédiger"/>
          <p:cNvSpPr/>
          <p:nvPr/>
        </p:nvSpPr>
        <p:spPr>
          <a:xfrm>
            <a:off x="640080" y="5350460"/>
            <a:ext cx="10908792" cy="912707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fr-FR" sz="1200" b="1" i="1" dirty="0">
                <a:solidFill>
                  <a:srgbClr val="8E99A4"/>
                </a:solidFill>
                <a:latin typeface="Inter"/>
              </a:rPr>
              <a:t>Lecture : </a:t>
            </a:r>
            <a:r>
              <a:rPr lang="fr-FR" sz="1200" i="1" dirty="0">
                <a:solidFill>
                  <a:srgbClr val="8E99A4"/>
                </a:solidFill>
                <a:latin typeface="Inter"/>
              </a:rPr>
              <a:t>les 7 tables sources sont lues avec le compte </a:t>
            </a:r>
            <a:r>
              <a:rPr lang="fr-FR" sz="1200" i="1" dirty="0" err="1">
                <a:solidFill>
                  <a:srgbClr val="8E99A4"/>
                </a:solidFill>
                <a:latin typeface="Inter"/>
              </a:rPr>
              <a:t>reader</a:t>
            </a:r>
            <a:r>
              <a:rPr lang="fr-FR" sz="1200" i="1" dirty="0">
                <a:solidFill>
                  <a:srgbClr val="8E99A4"/>
                </a:solidFill>
                <a:latin typeface="Inter"/>
              </a:rPr>
              <a:t>, qui n’a que le droit de lecture, et copiées dans bronze sans aucune correction.</a:t>
            </a:r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fr-FR" sz="1200" b="1" i="1" dirty="0">
                <a:solidFill>
                  <a:srgbClr val="8E99A4"/>
                </a:solidFill>
                <a:latin typeface="Inter"/>
              </a:rPr>
              <a:t>Conversion et métadonnées : </a:t>
            </a:r>
            <a:r>
              <a:rPr lang="fr-FR" sz="1200" i="1" dirty="0">
                <a:solidFill>
                  <a:srgbClr val="8E99A4"/>
                </a:solidFill>
                <a:latin typeface="Inter"/>
              </a:rPr>
              <a:t>tout est gardé en texte (</a:t>
            </a:r>
            <a:r>
              <a:rPr lang="fr-FR" sz="1200" i="1" dirty="0" err="1">
                <a:solidFill>
                  <a:srgbClr val="8E99A4"/>
                </a:solidFill>
                <a:latin typeface="Inter"/>
              </a:rPr>
              <a:t>coerce_float</a:t>
            </a:r>
            <a:r>
              <a:rPr lang="fr-FR" sz="1200" i="1" dirty="0">
                <a:solidFill>
                  <a:srgbClr val="8E99A4"/>
                </a:solidFill>
                <a:latin typeface="Inter"/>
              </a:rPr>
              <a:t>=False pour ne pas perdre les décimales), et chaque ligne reçoit son lot, sa source, son horodatage et son empreinte.</a:t>
            </a:r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fr-FR" sz="1200" b="1" i="1" dirty="0">
                <a:solidFill>
                  <a:srgbClr val="8E99A4"/>
                </a:solidFill>
                <a:latin typeface="Inter"/>
              </a:rPr>
              <a:t>Relance du lot : </a:t>
            </a:r>
            <a:r>
              <a:rPr lang="fr-FR" sz="1200" i="1" dirty="0">
                <a:solidFill>
                  <a:srgbClr val="8E99A4"/>
                </a:solidFill>
                <a:latin typeface="Inter"/>
              </a:rPr>
              <a:t>on supprime d’abord les lignes du lot, puis on les réinsère, donc relancer ne crée aucun doublon.</a:t>
            </a:r>
            <a:endParaRPr sz="1200" i="1" dirty="0">
              <a:solidFill>
                <a:srgbClr val="8E99A4"/>
              </a:solidFill>
              <a:latin typeface="Inter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Profil de crm.client et motifs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10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S1 · US-06, 07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PROFILAGE ET DIAGNOSTIC · 20 %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045159"/>
            <a:ext cx="10908792" cy="1071067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/>
          </a:p>
        </p:txBody>
      </p:sp>
      <p:sp>
        <p:nvSpPr>
          <p:cNvPr id="29" name="Attendu barre"/>
          <p:cNvSpPr/>
          <p:nvPr/>
        </p:nvSpPr>
        <p:spPr>
          <a:xfrm>
            <a:off x="640080" y="1045159"/>
            <a:ext cx="82296" cy="1071067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154886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196924"/>
            <a:ext cx="7315200" cy="19024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502359"/>
            <a:ext cx="10360152" cy="46063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1" i="0">
                <a:solidFill>
                  <a:srgbClr val="F7F6F2"/>
                </a:solidFill>
                <a:latin typeface="Inter"/>
              </a:rPr>
              <a:t>Au moins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cinq constats chiffrés</a:t>
            </a:r>
            <a:r>
              <a:rPr sz="1300" b="1" i="0">
                <a:solidFill>
                  <a:srgbClr val="F7F6F2"/>
                </a:solidFill>
                <a:latin typeface="Inter"/>
              </a:rPr>
              <a:t> : colonne, indicateur, valeur mesurée, conséquence pour la qualité.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1" i="0">
                <a:solidFill>
                  <a:srgbClr val="F7F6F2"/>
                </a:solidFill>
                <a:latin typeface="Inter"/>
              </a:rPr>
              <a:t>Les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motifs</a:t>
            </a:r>
            <a:r>
              <a:rPr sz="1300" b="1" i="0">
                <a:solidFill>
                  <a:srgbClr val="F7F6F2"/>
                </a:solidFill>
                <a:latin typeface="Inter"/>
              </a:rPr>
              <a:t> de code postal, de téléphone et de pays : lignes conformes, non conformes, un exemple.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56046236"/>
              </p:ext>
            </p:extLst>
          </p:nvPr>
        </p:nvGraphicFramePr>
        <p:xfrm>
          <a:off x="640080" y="2224582"/>
          <a:ext cx="10908792" cy="2313432"/>
        </p:xfrm>
        <a:graphic>
          <a:graphicData uri="http://schemas.openxmlformats.org/drawingml/2006/table">
            <a:tbl>
              <a:tblPr/>
              <a:tblGrid>
                <a:gridCol w="548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918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50215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N°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Colonne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 dirty="0" err="1">
                          <a:solidFill>
                            <a:srgbClr val="F5A623"/>
                          </a:solidFill>
                          <a:latin typeface="Inter"/>
                        </a:rPr>
                        <a:t>Indicateur</a:t>
                      </a:r>
                      <a:r>
                        <a:rPr sz="1050" b="1" i="0" spc="60" dirty="0">
                          <a:solidFill>
                            <a:srgbClr val="F5A623"/>
                          </a:solidFill>
                          <a:latin typeface="Inter"/>
                        </a:rPr>
                        <a:t> (nulls, vides, </a:t>
                      </a:r>
                      <a:r>
                        <a:rPr sz="1050" b="1" i="0" spc="60" dirty="0" err="1">
                          <a:solidFill>
                            <a:srgbClr val="F5A623"/>
                          </a:solidFill>
                          <a:latin typeface="Inter"/>
                        </a:rPr>
                        <a:t>distincts</a:t>
                      </a:r>
                      <a:r>
                        <a:rPr sz="1050" b="1" i="0" spc="60" dirty="0">
                          <a:solidFill>
                            <a:srgbClr val="F5A623"/>
                          </a:solidFill>
                          <a:latin typeface="Inter"/>
                        </a:rPr>
                        <a:t>, motif)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 dirty="0">
                          <a:solidFill>
                            <a:srgbClr val="F5A623"/>
                          </a:solidFill>
                          <a:latin typeface="Inter"/>
                        </a:rPr>
                        <a:t>Valeur </a:t>
                      </a:r>
                      <a:r>
                        <a:rPr sz="1050" b="1" i="0" spc="60" dirty="0" err="1">
                          <a:solidFill>
                            <a:srgbClr val="F5A623"/>
                          </a:solidFill>
                          <a:latin typeface="Inter"/>
                        </a:rPr>
                        <a:t>mesurée</a:t>
                      </a:r>
                      <a:endParaRPr sz="1050" b="1" i="0" spc="6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Ce que cela change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1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dirty="0" err="1">
                          <a:solidFill>
                            <a:srgbClr val="F5A623"/>
                          </a:solidFill>
                          <a:latin typeface="+mn-lt"/>
                        </a:rPr>
                        <a:t>client_id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dirty="0">
                          <a:solidFill>
                            <a:srgbClr val="F5A623"/>
                          </a:solidFill>
                          <a:latin typeface="+mn-lt"/>
                        </a:rPr>
                        <a:t>distincts, nuls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dirty="0">
                          <a:solidFill>
                            <a:srgbClr val="F5A623"/>
                          </a:solidFill>
                          <a:latin typeface="+mn-lt"/>
                        </a:rPr>
                        <a:t>100 000 distincts / 100 000, 0 nul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dirty="0">
                          <a:solidFill>
                            <a:srgbClr val="F5A623"/>
                          </a:solidFill>
                          <a:latin typeface="+mn-lt"/>
                        </a:rPr>
                        <a:t>Clé unique, fiable pour les jointures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2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dirty="0">
                          <a:solidFill>
                            <a:srgbClr val="F5A623"/>
                          </a:solidFill>
                          <a:latin typeface="+mn-lt"/>
                        </a:rPr>
                        <a:t>nom / </a:t>
                      </a:r>
                      <a:r>
                        <a:rPr lang="fr-FR" sz="1150" b="0" i="0" dirty="0" err="1">
                          <a:solidFill>
                            <a:srgbClr val="F5A623"/>
                          </a:solidFill>
                          <a:latin typeface="+mn-lt"/>
                        </a:rPr>
                        <a:t>raison_sociale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dirty="0">
                          <a:solidFill>
                            <a:srgbClr val="F5A623"/>
                          </a:solidFill>
                          <a:latin typeface="+mn-lt"/>
                        </a:rPr>
                        <a:t>nuls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dirty="0">
                          <a:solidFill>
                            <a:srgbClr val="F5A623"/>
                          </a:solidFill>
                          <a:latin typeface="+mn-lt"/>
                        </a:rPr>
                        <a:t>4 277 / 95 723, jamais les deux vides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dirty="0">
                          <a:solidFill>
                            <a:srgbClr val="F5A623"/>
                          </a:solidFill>
                          <a:latin typeface="+mn-lt"/>
                        </a:rPr>
                        <a:t>Manques normaux (entreprises / particuliers)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3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150" b="0" i="0" dirty="0" err="1">
                          <a:solidFill>
                            <a:srgbClr val="F5A623"/>
                          </a:solidFill>
                          <a:latin typeface="+mn-lt"/>
                        </a:rPr>
                        <a:t>telephone</a:t>
                      </a:r>
                      <a:endParaRPr lang="fr-FR" sz="1150" b="0" i="0" dirty="0">
                        <a:solidFill>
                          <a:srgbClr val="F5A623"/>
                        </a:solidFill>
                        <a:latin typeface="+mn-lt"/>
                      </a:endParaRPr>
                    </a:p>
                    <a:p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150" b="0" i="0" dirty="0">
                          <a:solidFill>
                            <a:srgbClr val="F5A623"/>
                          </a:solidFill>
                          <a:latin typeface="+mn-lt"/>
                        </a:rPr>
                        <a:t>nuls + vides + blancs</a:t>
                      </a:r>
                    </a:p>
                    <a:p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dirty="0">
                          <a:solidFill>
                            <a:srgbClr val="F5A623"/>
                          </a:solidFill>
                          <a:latin typeface="+mn-lt"/>
                        </a:rPr>
                        <a:t>5 999 + 2 000 + 2 000 = 9 999 (10 %)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dirty="0">
                          <a:solidFill>
                            <a:srgbClr val="F5A623"/>
                          </a:solidFill>
                          <a:latin typeface="+mn-lt"/>
                        </a:rPr>
                        <a:t>4 000 manques cachés, pas comptés comme NULL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4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dirty="0">
                          <a:solidFill>
                            <a:srgbClr val="F5A623"/>
                          </a:solidFill>
                          <a:latin typeface="Inter"/>
                        </a:rPr>
                        <a:t>email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dirty="0">
                          <a:solidFill>
                            <a:srgbClr val="F5A623"/>
                          </a:solidFill>
                          <a:latin typeface="Inter"/>
                        </a:rPr>
                        <a:t>nuls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dirty="0">
                          <a:solidFill>
                            <a:srgbClr val="F5A623"/>
                          </a:solidFill>
                          <a:latin typeface="+mn-lt"/>
                        </a:rPr>
                        <a:t>19 365 (19,4 %)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dirty="0">
                          <a:solidFill>
                            <a:srgbClr val="F5A623"/>
                          </a:solidFill>
                          <a:latin typeface="+mn-lt"/>
                        </a:rPr>
                        <a:t>1 client sur 5 sans email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5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dirty="0" err="1">
                          <a:solidFill>
                            <a:srgbClr val="F5A623"/>
                          </a:solidFill>
                          <a:latin typeface="+mn-lt"/>
                        </a:rPr>
                        <a:t>type_personne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dirty="0">
                          <a:solidFill>
                            <a:srgbClr val="F5A623"/>
                          </a:solidFill>
                          <a:latin typeface="+mn-lt"/>
                        </a:rPr>
                        <a:t>distincts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dirty="0">
                          <a:solidFill>
                            <a:srgbClr val="F5A623"/>
                          </a:solidFill>
                          <a:latin typeface="+mn-lt"/>
                        </a:rPr>
                        <a:t>8 valeurs au lieu de 3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dirty="0">
                          <a:solidFill>
                            <a:srgbClr val="F5A623"/>
                          </a:solidFill>
                          <a:latin typeface="+mn-lt"/>
                        </a:rPr>
                        <a:t>Libellés à normaliser avant silver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34" name="Table 3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61584863"/>
              </p:ext>
            </p:extLst>
          </p:nvPr>
        </p:nvGraphicFramePr>
        <p:xfrm>
          <a:off x="640080" y="4561002"/>
          <a:ext cx="10908792" cy="1542288"/>
        </p:xfrm>
        <a:graphic>
          <a:graphicData uri="http://schemas.openxmlformats.org/drawingml/2006/table">
            <a:tbl>
              <a:tblPr/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08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67919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Attribut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 dirty="0">
                          <a:solidFill>
                            <a:srgbClr val="F5A623"/>
                          </a:solidFill>
                          <a:latin typeface="Inter"/>
                        </a:rPr>
                        <a:t>Motif </a:t>
                      </a:r>
                      <a:r>
                        <a:rPr sz="1050" b="1" i="0" spc="60" dirty="0" err="1">
                          <a:solidFill>
                            <a:srgbClr val="F5A623"/>
                          </a:solidFill>
                          <a:latin typeface="Inter"/>
                        </a:rPr>
                        <a:t>testé</a:t>
                      </a:r>
                      <a:endParaRPr sz="1050" b="1" i="0" spc="6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Conformes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Non conformes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 dirty="0" err="1">
                          <a:solidFill>
                            <a:srgbClr val="F5A623"/>
                          </a:solidFill>
                          <a:latin typeface="Inter"/>
                        </a:rPr>
                        <a:t>Exemple</a:t>
                      </a:r>
                      <a:r>
                        <a:rPr sz="1050" b="1" i="0" spc="60" dirty="0">
                          <a:solidFill>
                            <a:srgbClr val="F5A623"/>
                          </a:solidFill>
                          <a:latin typeface="Inter"/>
                        </a:rPr>
                        <a:t> non </a:t>
                      </a:r>
                      <a:r>
                        <a:rPr sz="1050" b="1" i="0" spc="60" dirty="0" err="1">
                          <a:solidFill>
                            <a:srgbClr val="F5A623"/>
                          </a:solidFill>
                          <a:latin typeface="Inter"/>
                        </a:rPr>
                        <a:t>conforme</a:t>
                      </a:r>
                      <a:endParaRPr sz="1050" b="1" i="0" spc="6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150" b="1" i="0" dirty="0">
                          <a:solidFill>
                            <a:srgbClr val="F7F6F2"/>
                          </a:solidFill>
                          <a:latin typeface="Inter"/>
                        </a:rPr>
                        <a:t>Code postal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dirty="0">
                          <a:solidFill>
                            <a:srgbClr val="F5A623"/>
                          </a:solidFill>
                          <a:latin typeface="+mn-lt"/>
                        </a:rPr>
                        <a:t>[0-9]{5} (adresses FR)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dirty="0">
                          <a:solidFill>
                            <a:srgbClr val="F5A623"/>
                          </a:solidFill>
                          <a:latin typeface="+mn-lt"/>
                        </a:rPr>
                        <a:t>93 981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dirty="0">
                          <a:solidFill>
                            <a:srgbClr val="F5A623"/>
                          </a:solidFill>
                          <a:latin typeface="+mn-lt"/>
                        </a:rPr>
                        <a:t>1 456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dirty="0">
                          <a:solidFill>
                            <a:srgbClr val="F5A623"/>
                          </a:solidFill>
                          <a:latin typeface="+mn-lt"/>
                        </a:rPr>
                        <a:t>7110 (Ardèche, au lieu de 07110) : anomalie A01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Téléphone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dirty="0">
                          <a:solidFill>
                            <a:srgbClr val="F5A623"/>
                          </a:solidFill>
                          <a:latin typeface="+mn-lt"/>
                        </a:rPr>
                        <a:t>(?:0|\+33 ?|0033 ?)[1-9](?:[ .-]?[0-9]{2}){4} ou + international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dirty="0">
                          <a:solidFill>
                            <a:srgbClr val="F5A623"/>
                          </a:solidFill>
                          <a:latin typeface="+mn-lt"/>
                        </a:rPr>
                        <a:t>89 115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dirty="0">
                          <a:solidFill>
                            <a:srgbClr val="F5A623"/>
                          </a:solidFill>
                          <a:latin typeface="+mn-lt"/>
                        </a:rPr>
                        <a:t>886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dirty="0">
                          <a:solidFill>
                            <a:srgbClr val="F5A623"/>
                          </a:solidFill>
                          <a:latin typeface="+mn-lt"/>
                        </a:rPr>
                        <a:t>0362O07301 (lettre O au lieu du zéro)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Pays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dirty="0">
                          <a:solidFill>
                            <a:srgbClr val="F5A623"/>
                          </a:solidFill>
                          <a:latin typeface="Inter"/>
                        </a:rPr>
                        <a:t>Code présent dans </a:t>
                      </a:r>
                      <a:r>
                        <a:rPr lang="fr-FR" sz="1150" b="0" i="0" dirty="0" err="1">
                          <a:solidFill>
                            <a:srgbClr val="F5A623"/>
                          </a:solidFill>
                          <a:latin typeface="Inter"/>
                        </a:rPr>
                        <a:t>silver.ref_pays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dirty="0">
                          <a:solidFill>
                            <a:srgbClr val="F5A623"/>
                          </a:solidFill>
                          <a:latin typeface="+mn-lt"/>
                        </a:rPr>
                        <a:t>96 950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dirty="0">
                          <a:solidFill>
                            <a:srgbClr val="F5A623"/>
                          </a:solidFill>
                          <a:latin typeface="Inter"/>
                        </a:rPr>
                        <a:t>3050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dirty="0" err="1">
                          <a:solidFill>
                            <a:srgbClr val="F5A623"/>
                          </a:solidFill>
                          <a:latin typeface="Inter"/>
                        </a:rPr>
                        <a:t>Frnace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5" name="TextBox 34"/>
          <p:cNvSpPr txBox="1"/>
          <p:nvPr/>
        </p:nvSpPr>
        <p:spPr>
          <a:xfrm>
            <a:off x="640080" y="6111202"/>
            <a:ext cx="10908792" cy="19024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200" b="0" i="0" dirty="0" err="1">
                <a:solidFill>
                  <a:srgbClr val="B8C0C8"/>
                </a:solidFill>
                <a:latin typeface="Inter"/>
              </a:rPr>
              <a:t>Preuve</a:t>
            </a:r>
            <a:r>
              <a:rPr sz="1200" b="0" i="0" dirty="0">
                <a:solidFill>
                  <a:srgbClr val="B8C0C8"/>
                </a:solidFill>
                <a:latin typeface="Inter"/>
              </a:rPr>
              <a:t> (chemin du notebook, du </a:t>
            </a:r>
            <a:r>
              <a:rPr sz="1200" b="0" i="0" dirty="0" err="1">
                <a:solidFill>
                  <a:srgbClr val="B8C0C8"/>
                </a:solidFill>
                <a:latin typeface="Inter"/>
              </a:rPr>
              <a:t>fichier</a:t>
            </a:r>
            <a:r>
              <a:rPr sz="1200" b="0" i="0" dirty="0">
                <a:solidFill>
                  <a:srgbClr val="B8C0C8"/>
                </a:solidFill>
                <a:latin typeface="Inter"/>
              </a:rPr>
              <a:t> </a:t>
            </a:r>
            <a:r>
              <a:rPr sz="1200" b="0" i="0" dirty="0" err="1">
                <a:solidFill>
                  <a:srgbClr val="B8C0C8"/>
                </a:solidFill>
                <a:latin typeface="Inter"/>
              </a:rPr>
              <a:t>ou</a:t>
            </a:r>
            <a:r>
              <a:rPr sz="1200" b="0" i="0" dirty="0">
                <a:solidFill>
                  <a:srgbClr val="B8C0C8"/>
                </a:solidFill>
                <a:latin typeface="Inter"/>
              </a:rPr>
              <a:t> de la </a:t>
            </a:r>
            <a:r>
              <a:rPr sz="1200" b="0" i="0" dirty="0" err="1">
                <a:solidFill>
                  <a:srgbClr val="B8C0C8"/>
                </a:solidFill>
                <a:latin typeface="Inter"/>
              </a:rPr>
              <a:t>requête</a:t>
            </a:r>
            <a:r>
              <a:rPr sz="1200" b="0" i="0" dirty="0">
                <a:solidFill>
                  <a:srgbClr val="B8C0C8"/>
                </a:solidFill>
                <a:latin typeface="Inter"/>
              </a:rPr>
              <a:t> dans le </a:t>
            </a:r>
            <a:r>
              <a:rPr sz="1200" b="0" i="0" dirty="0" err="1">
                <a:solidFill>
                  <a:srgbClr val="B8C0C8"/>
                </a:solidFill>
                <a:latin typeface="Inter"/>
              </a:rPr>
              <a:t>dépôt</a:t>
            </a:r>
            <a:r>
              <a:rPr sz="1200" b="0" i="0" dirty="0">
                <a:solidFill>
                  <a:srgbClr val="B8C0C8"/>
                </a:solidFill>
                <a:latin typeface="Inter"/>
              </a:rPr>
              <a:t>) : </a:t>
            </a:r>
            <a:r>
              <a:rPr lang="en-US" sz="1200" b="0" i="0" dirty="0">
                <a:solidFill>
                  <a:srgbClr val="B8C0C8"/>
                </a:solidFill>
                <a:latin typeface="Inter"/>
              </a:rPr>
              <a:t>notebooks/S1_01.ipynb, cellules US-06 + US-07 ; reports/ydata_profiling_client.html</a:t>
            </a:r>
            <a:endParaRPr sz="1200" b="1" i="0" dirty="0">
              <a:solidFill>
                <a:srgbClr val="F5A623"/>
              </a:solidFill>
              <a:latin typeface="Inter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Dictionnaire du CIF : dix colonnes anonymes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11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S1 · US-04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PROFILAGE ET DIAGNOSTIC · 20 %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032967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032967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5300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Pour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chacune des dix colonnes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: un nom proposé, un type et une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justification chiffrée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(comment l'avez-vous déduit ?).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34879362"/>
              </p:ext>
            </p:extLst>
          </p:nvPr>
        </p:nvGraphicFramePr>
        <p:xfrm>
          <a:off x="642823" y="2395423"/>
          <a:ext cx="10908792" cy="3832122"/>
        </p:xfrm>
        <a:graphic>
          <a:graphicData uri="http://schemas.openxmlformats.org/drawingml/2006/table">
            <a:tbl>
              <a:tblPr/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42239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6914"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Colonne d'origine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Nom proposé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Type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Justification chiffrée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641"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+mn-lt"/>
                        </a:rPr>
                        <a:t>column0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 err="1">
                          <a:solidFill>
                            <a:srgbClr val="F5A623"/>
                          </a:solidFill>
                          <a:latin typeface="+mn-lt"/>
                        </a:rPr>
                        <a:t>id_cif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+mn-lt"/>
                        </a:rPr>
                        <a:t>VARCHAR(7)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+mn-lt"/>
                        </a:rPr>
                        <a:t>40 000 distincts / 40 000, 0 nul ; motif K + 6 chiffres à 100 % ; retrouvé à 100 % dans </a:t>
                      </a:r>
                      <a:r>
                        <a:rPr lang="fr-FR" sz="1100" b="0" i="0" dirty="0" err="1">
                          <a:solidFill>
                            <a:srgbClr val="F5A623"/>
                          </a:solidFill>
                          <a:latin typeface="+mn-lt"/>
                        </a:rPr>
                        <a:t>cif_compte</a:t>
                      </a:r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+mn-lt"/>
                        </a:rPr>
                        <a:t> → clé primaire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641"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+mn-lt"/>
                        </a:rPr>
                        <a:t>column1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 err="1">
                          <a:solidFill>
                            <a:srgbClr val="F5A623"/>
                          </a:solidFill>
                          <a:latin typeface="Inter"/>
                        </a:rPr>
                        <a:t>nom_ou_raison_sociale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+mn-lt"/>
                        </a:rPr>
                        <a:t>VARCHAR(120)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+mn-lt"/>
                        </a:rPr>
                        <a:t>0 nul, 731 distincts, 3 à 31 car., 100 % majuscules ; contient des SARL/SA → nom ou entreprise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6914"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Inter"/>
                        </a:rPr>
                        <a:t>column2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 err="1">
                          <a:solidFill>
                            <a:srgbClr val="F5A623"/>
                          </a:solidFill>
                          <a:latin typeface="+mn-lt"/>
                        </a:rPr>
                        <a:t>prenom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+mn-lt"/>
                        </a:rPr>
                        <a:t>VARCHAR(80)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+mn-lt"/>
                        </a:rPr>
                        <a:t>645 nuls, sur les mêmes lignes que column3 (entreprises) ; 180 distincts, 3 à 10 car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1641"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+mn-lt"/>
                        </a:rPr>
                        <a:t>column3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 err="1">
                          <a:solidFill>
                            <a:srgbClr val="F5A623"/>
                          </a:solidFill>
                          <a:latin typeface="Inter"/>
                        </a:rPr>
                        <a:t>date_naissance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+mn-lt"/>
                        </a:rPr>
                        <a:t>DATE (JJ/MM/AAAA)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+mn-lt"/>
                        </a:rPr>
                        <a:t>longueur toujours 10, motif 99/99/9999 ; 39 355 dates valides (1938 à 2026) ; 645 nuls = entreprises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96914"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Inter"/>
                        </a:rPr>
                        <a:t>column4 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Inter"/>
                        </a:rPr>
                        <a:t>adresse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Inter"/>
                        </a:rPr>
                        <a:t>VARCHAR(120)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+mn-lt"/>
                        </a:rPr>
                        <a:t>9 811 distincts, 11 à 31 car. ; numéro + type de voie (35 avenue des Platanes)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96914"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Inter"/>
                        </a:rPr>
                        <a:t>column5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 err="1">
                          <a:solidFill>
                            <a:srgbClr val="F5A623"/>
                          </a:solidFill>
                          <a:latin typeface="Inter"/>
                        </a:rPr>
                        <a:t>code_postal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Inter"/>
                        </a:rPr>
                        <a:t>VARCHAR(10)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+mn-lt"/>
                        </a:rPr>
                        <a:t>99,1 % au motif 99999 ; 188 </a:t>
                      </a:r>
                      <a:r>
                        <a:rPr lang="fr-FR" sz="1100" b="0" i="0">
                          <a:solidFill>
                            <a:srgbClr val="F5A623"/>
                          </a:solidFill>
                          <a:latin typeface="+mn-lt"/>
                        </a:rPr>
                        <a:t>distincts 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96914"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Inter"/>
                        </a:rPr>
                        <a:t>column6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Inter"/>
                        </a:rPr>
                        <a:t>ville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Inter"/>
                        </a:rPr>
                        <a:t>VARCHAR(80)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+mn-lt"/>
                        </a:rPr>
                        <a:t>172 distincts, 3 à 24 car., en majuscules (LARGENTIERE, ANTIBES)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96914"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Inter"/>
                        </a:rPr>
                        <a:t>column7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 err="1">
                          <a:solidFill>
                            <a:srgbClr val="F5A623"/>
                          </a:solidFill>
                          <a:latin typeface="Inter"/>
                        </a:rPr>
                        <a:t>code_pays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Inter"/>
                        </a:rPr>
                        <a:t>CHAR(2)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+mn-lt"/>
                        </a:rPr>
                        <a:t>longueur toujours 2, motif AA à 100 %, 9 valeurs ; FR = 98,5 % → code ISO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11641"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Inter"/>
                        </a:rPr>
                        <a:t>column8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 err="1">
                          <a:solidFill>
                            <a:srgbClr val="F5A623"/>
                          </a:solidFill>
                          <a:latin typeface="Inter"/>
                        </a:rPr>
                        <a:t>telephone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Inter"/>
                        </a:rPr>
                        <a:t>VARCHAR(25)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+mn-lt"/>
                        </a:rPr>
                        <a:t>longueur toujours 10, 0 + 9 chiffres sur 100 % des valeurs renseignées ; 6 324 nuls</a:t>
                      </a:r>
                    </a:p>
                    <a:p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43758"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Inter"/>
                        </a:rPr>
                        <a:t>column9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Inter"/>
                        </a:rPr>
                        <a:t>email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Inter"/>
                        </a:rPr>
                        <a:t>VARCHAR(120)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+mn-lt"/>
                        </a:rPr>
                        <a:t>100 % des 21 128 valeurs renseignées contiennent @ ; 18 872 nuls (47 %)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Trois directions, trois définitions du « client actif »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12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S1 · US-09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PROFILAGE ET DIAGNOSTIC · 20 %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071067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071067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5681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nombre de clients actifs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selon chaque direction, avec la définition utilisée.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L'</a:t>
            </a:r>
            <a:r>
              <a:rPr sz="1300" b="1" i="0">
                <a:solidFill>
                  <a:srgbClr val="F5A623"/>
                </a:solidFill>
                <a:latin typeface="Inter"/>
              </a:rPr>
              <a:t>écart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avec la définition de la fiche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CD-001</a:t>
            </a:r>
            <a:r>
              <a:rPr sz="1300" b="0" i="0">
                <a:solidFill>
                  <a:srgbClr val="F7F6F2"/>
                </a:solidFill>
                <a:latin typeface="Inter"/>
              </a:rPr>
              <a:t>, et la conséquence pour la gouvernance.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94774884"/>
              </p:ext>
            </p:extLst>
          </p:nvPr>
        </p:nvGraphicFramePr>
        <p:xfrm>
          <a:off x="640080" y="2579827"/>
          <a:ext cx="10908792" cy="1536192"/>
        </p:xfrm>
        <a:graphic>
          <a:graphicData uri="http://schemas.openxmlformats.org/drawingml/2006/table">
            <a:tbl>
              <a:tblPr/>
              <a:tblGrid>
                <a:gridCol w="2011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7548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3055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Direction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Définition utilisée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Nombre de clients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Écart avec CD-001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Commerciale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au moins un contrat en cours, ou terminé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50508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12 459 (32,7 %)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Sinistres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un contrat en cours au 01/10/2026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44116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6 067 (15,9 %)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Risques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contrat en cours ET cotisation payée depuis le 01/07/2026 (= CD-001)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38049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0 (définition de référence)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640080" y="4344619"/>
            <a:ext cx="1090879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CONSÉQUENCE POUR LA GOUVERNANCE, EN TROIS PHRASES</a:t>
            </a:r>
          </a:p>
        </p:txBody>
      </p:sp>
      <p:sp>
        <p:nvSpPr>
          <p:cNvPr id="35" name="Zone à rédiger"/>
          <p:cNvSpPr/>
          <p:nvPr/>
        </p:nvSpPr>
        <p:spPr>
          <a:xfrm>
            <a:off x="640080" y="4637227"/>
            <a:ext cx="10908792" cy="1489252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lang="fr-FR" sz="1200" i="1" dirty="0">
                <a:solidFill>
                  <a:srgbClr val="8E99A4"/>
                </a:solidFill>
                <a:latin typeface="Inter"/>
              </a:rPr>
              <a:t>Selon la direction, le nombre de clients actifs varie de 38 049 à 50 508, soit jusqu’à 33 % d’écart pour le même indicateur. Chaque direction utilise sa propre définition, donc leurs chiffres ne peuvent pas être comparés. Il faut adopter une seule définition, celle de la fiche CD-001 validée par la Data </a:t>
            </a:r>
            <a:r>
              <a:rPr lang="fr-FR" sz="1200" i="1" dirty="0" err="1">
                <a:solidFill>
                  <a:srgbClr val="8E99A4"/>
                </a:solidFill>
                <a:latin typeface="Inter"/>
              </a:rPr>
              <a:t>Owner</a:t>
            </a:r>
            <a:r>
              <a:rPr lang="fr-FR" sz="1200" i="1" dirty="0">
                <a:solidFill>
                  <a:srgbClr val="8E99A4"/>
                </a:solidFill>
                <a:latin typeface="Inter"/>
              </a:rPr>
              <a:t>, et corriger les contrats sans date de cotisation, qui faussent le calcul.</a:t>
            </a:r>
            <a:endParaRPr sz="1200" i="1" dirty="0">
              <a:solidFill>
                <a:srgbClr val="8E99A4"/>
              </a:solidFill>
              <a:latin typeface="Inter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Bilan de S1 : critères de fin et difficultés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13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S1 · BILAN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PROFILAGE ET DIAGNOSTIC · 20 %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071067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071067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5681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Chaque critère coché est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démontré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par une page de ce livrable ou par un fichier du dépôt.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Les difficultés sont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chiffrées en temps perdu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; un point de reprise utilisé est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déclaré</a:t>
            </a:r>
            <a:r>
              <a:rPr sz="1300" b="0" i="0">
                <a:solidFill>
                  <a:srgbClr val="F7F6F2"/>
                </a:solidFill>
                <a:latin typeface="Inter"/>
              </a:rPr>
              <a:t>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" y="2579827"/>
            <a:ext cx="5120640" cy="3546652"/>
          </a:xfrm>
          <a:prstGeom prst="rect">
            <a:avLst/>
          </a:prstGeom>
          <a:solidFill>
            <a:srgbClr val="1C2E3D"/>
          </a:solidFill>
          <a:ln w="9525">
            <a:solidFill>
              <a:srgbClr val="2A41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4" name="Icône ok" descr="Icône ok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2735275"/>
            <a:ext cx="310896" cy="310896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1289304" y="2753563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300" b="1" i="0" spc="120">
                <a:solidFill>
                  <a:srgbClr val="F7F6F2"/>
                </a:solidFill>
                <a:latin typeface="Inter"/>
              </a:rPr>
              <a:t>CRITÈRES DE FIN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68680" y="3219907"/>
            <a:ext cx="4663440" cy="28151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5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250" b="0" i="0">
                <a:solidFill>
                  <a:srgbClr val="F7F6F2"/>
                </a:solidFill>
                <a:latin typeface="Inter"/>
              </a:rPr>
              <a:t> Les sept tables bronze existent et chaque ligne porte ses quatre métadonnées.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5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250" b="0" i="0">
                <a:solidFill>
                  <a:srgbClr val="F7F6F2"/>
                </a:solidFill>
                <a:latin typeface="Inter"/>
              </a:rPr>
              <a:t> La porte B ne montre aucun écart de comptage ni de somme de contrôle.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5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250" b="0" i="0">
                <a:solidFill>
                  <a:srgbClr val="F7F6F2"/>
                </a:solidFill>
                <a:latin typeface="Inter"/>
              </a:rPr>
              <a:t> Relancer l'ingestion du même lot ne crée aucun doublon.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5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250" b="0" i="0">
                <a:solidFill>
                  <a:srgbClr val="F7F6F2"/>
                </a:solidFill>
                <a:latin typeface="Inter"/>
              </a:rPr>
              <a:t> Un écart introduit volontairement fait échouer la porte.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5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250" b="0" i="0">
                <a:solidFill>
                  <a:srgbClr val="F7F6F2"/>
                </a:solidFill>
                <a:latin typeface="Inter"/>
              </a:rPr>
              <a:t> RQ-021 est écrite dans dq.dq_history (couche BRONZE).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" y="5852160"/>
            <a:ext cx="1090879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0" i="1">
                <a:solidFill>
                  <a:srgbClr val="8E99A4"/>
                </a:solidFill>
                <a:latin typeface="Inter"/>
              </a:rPr>
              <a:t>Remplacez [ ] par [x] une fois le critère démontré.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943600" y="2579827"/>
            <a:ext cx="560527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DIFFICULTÉS RENCONTRÉES ET TEMPS PERDU</a:t>
            </a:r>
          </a:p>
        </p:txBody>
      </p:sp>
      <p:sp>
        <p:nvSpPr>
          <p:cNvPr id="39" name="Zone à rédiger"/>
          <p:cNvSpPr/>
          <p:nvPr/>
        </p:nvSpPr>
        <p:spPr>
          <a:xfrm>
            <a:off x="5943600" y="2872435"/>
            <a:ext cx="5605272" cy="1170432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[Rédigez ici]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943600" y="4180027"/>
            <a:ext cx="560527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POINT DE REPRISE UTILISÉ (OUI / NON, LEQUEL)</a:t>
            </a:r>
          </a:p>
        </p:txBody>
      </p:sp>
      <p:sp>
        <p:nvSpPr>
          <p:cNvPr id="41" name="Zone à rédiger"/>
          <p:cNvSpPr/>
          <p:nvPr/>
        </p:nvSpPr>
        <p:spPr>
          <a:xfrm>
            <a:off x="5943600" y="4472635"/>
            <a:ext cx="5605272" cy="621792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[Rédigez ici]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943600" y="5231587"/>
            <a:ext cx="560527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CE QUE NOUS FERIONS AUTREMENT</a:t>
            </a:r>
          </a:p>
        </p:txBody>
      </p:sp>
      <p:sp>
        <p:nvSpPr>
          <p:cNvPr id="43" name="Zone à rédiger"/>
          <p:cNvSpPr/>
          <p:nvPr/>
        </p:nvSpPr>
        <p:spPr>
          <a:xfrm>
            <a:off x="5943600" y="5524195"/>
            <a:ext cx="5605272" cy="602284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[Rédigez ici]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r>
              <a:t>02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3"/>
          </p:nvPr>
        </p:nvSpPr>
        <p:spPr/>
        <p:txBody>
          <a:bodyPr/>
          <a:lstStyle/>
          <a:p>
            <a:r>
              <a:t>Règles en tests automatisés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14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4892040"/>
            <a:ext cx="640080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600" b="0" i="0">
                <a:solidFill>
                  <a:srgbClr val="B8C0C8"/>
                </a:solidFill>
                <a:latin typeface="Inter"/>
              </a:rPr>
              <a:t>Séance 2 · Great Expectations · US-10, 11, 13, 15. Une règle métier devient un test nommé par son identifiant RQ.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Règles en tests : une expectation par règle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15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S2 · US-10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RÈGLES ET TESTS · 20 %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285036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285036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7821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Pour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RQ-001, 002, 003, 005, 009, 010 et 020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: l'expectation porte son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rule_id</a:t>
            </a:r>
            <a:r>
              <a:rPr sz="1300" b="0" i="0">
                <a:solidFill>
                  <a:srgbClr val="F7F6F2"/>
                </a:solidFill>
                <a:latin typeface="Inter"/>
              </a:rPr>
              <a:t>, avec lignes testées, échecs, taux et sévérité.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La base et la table visées sont des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paramètres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: la suite se relance sur silver sans modification.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30878709"/>
              </p:ext>
            </p:extLst>
          </p:nvPr>
        </p:nvGraphicFramePr>
        <p:xfrm>
          <a:off x="640080" y="2793796"/>
          <a:ext cx="10908792" cy="3474720"/>
        </p:xfrm>
        <a:graphic>
          <a:graphicData uri="http://schemas.openxmlformats.org/drawingml/2006/table">
            <a:tbl>
              <a:tblPr/>
              <a:tblGrid>
                <a:gridCol w="1005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734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6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779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239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1094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r>
                        <a:rPr sz="1100" b="1" i="0" spc="60" dirty="0" err="1">
                          <a:solidFill>
                            <a:srgbClr val="F5A623"/>
                          </a:solidFill>
                          <a:latin typeface="Inter"/>
                        </a:rPr>
                        <a:t>Règle</a:t>
                      </a:r>
                      <a:endParaRPr sz="1100" b="1" i="0" spc="6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Table bronze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 dirty="0">
                          <a:solidFill>
                            <a:srgbClr val="F5A623"/>
                          </a:solidFill>
                          <a:latin typeface="Inter"/>
                        </a:rPr>
                        <a:t>Expectation (type)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Testées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 dirty="0" err="1">
                          <a:solidFill>
                            <a:srgbClr val="F5A623"/>
                          </a:solidFill>
                          <a:latin typeface="Inter"/>
                        </a:rPr>
                        <a:t>En</a:t>
                      </a:r>
                      <a:r>
                        <a:rPr sz="1100" b="1" i="0" spc="60" dirty="0">
                          <a:solidFill>
                            <a:srgbClr val="F5A623"/>
                          </a:solidFill>
                          <a:latin typeface="Inter"/>
                        </a:rPr>
                        <a:t> </a:t>
                      </a:r>
                      <a:r>
                        <a:rPr sz="1100" b="1" i="0" spc="60" dirty="0" err="1">
                          <a:solidFill>
                            <a:srgbClr val="F5A623"/>
                          </a:solidFill>
                          <a:latin typeface="Inter"/>
                        </a:rPr>
                        <a:t>échec</a:t>
                      </a:r>
                      <a:endParaRPr sz="1100" b="1" i="0" spc="6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 dirty="0" err="1">
                          <a:solidFill>
                            <a:srgbClr val="F5A623"/>
                          </a:solidFill>
                          <a:latin typeface="Inter"/>
                        </a:rPr>
                        <a:t>Taux</a:t>
                      </a:r>
                      <a:endParaRPr sz="1100" b="1" i="0" spc="6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Sévérité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RQ-001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i="0" kern="1200" dirty="0" err="1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crm_contrat</a:t>
                      </a:r>
                      <a:endParaRPr sz="1200" b="0" i="0" kern="1200" dirty="0">
                        <a:solidFill>
                          <a:srgbClr val="F5A623"/>
                        </a:solidFill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i="0" kern="1200" dirty="0" err="1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column_pair_values_A_to_be_greater_than_B</a:t>
                      </a:r>
                      <a:r>
                        <a:rPr lang="en-US" sz="120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 (</a:t>
                      </a:r>
                      <a:r>
                        <a:rPr lang="en-US" sz="1200" b="0" i="0" kern="1200" dirty="0" err="1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date_fin</a:t>
                      </a:r>
                      <a:r>
                        <a:rPr lang="en-US" sz="120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 &gt; </a:t>
                      </a:r>
                      <a:r>
                        <a:rPr lang="en-US" sz="1200" b="0" i="0" kern="1200" dirty="0" err="1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date_debut</a:t>
                      </a:r>
                      <a:r>
                        <a:rPr lang="en-US" sz="120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)</a:t>
                      </a:r>
                      <a:endParaRPr sz="1200" b="0" i="0" kern="1200" dirty="0">
                        <a:solidFill>
                          <a:srgbClr val="F5A623"/>
                        </a:solidFill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100 000</a:t>
                      </a:r>
                      <a:endParaRPr sz="1200" b="0" i="0" kern="1200" dirty="0">
                        <a:solidFill>
                          <a:srgbClr val="F5A623"/>
                        </a:solidFill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800</a:t>
                      </a:r>
                      <a:endParaRPr sz="1200" b="0" i="0" kern="1200" dirty="0">
                        <a:solidFill>
                          <a:srgbClr val="F5A623"/>
                        </a:solidFill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99,200 %</a:t>
                      </a:r>
                      <a:endParaRPr sz="1200" b="0" i="0" kern="1200" dirty="0">
                        <a:solidFill>
                          <a:srgbClr val="F5A623"/>
                        </a:solidFill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i="0" kern="1200" dirty="0" err="1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Bloquante</a:t>
                      </a:r>
                      <a:endParaRPr sz="1200" b="0" i="0" kern="1200" dirty="0">
                        <a:solidFill>
                          <a:srgbClr val="F5A623"/>
                        </a:solidFill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RQ-002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i="0" kern="1200" dirty="0" err="1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crm_contrat</a:t>
                      </a:r>
                      <a:endParaRPr sz="1200" b="0" i="0" kern="1200" dirty="0">
                        <a:solidFill>
                          <a:srgbClr val="F5A623"/>
                        </a:solidFill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i="0" kern="1200" dirty="0" err="1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column_values_to_be_between</a:t>
                      </a:r>
                      <a:r>
                        <a:rPr lang="en-US" sz="120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 (</a:t>
                      </a:r>
                      <a:r>
                        <a:rPr lang="en-US" sz="1200" b="0" i="0" kern="1200" dirty="0" err="1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age_debut</a:t>
                      </a:r>
                      <a:r>
                        <a:rPr lang="en-US" sz="120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 ≥ 18)</a:t>
                      </a:r>
                      <a:endParaRPr sz="1200" b="0" i="0" kern="1200" dirty="0">
                        <a:solidFill>
                          <a:srgbClr val="F5A623"/>
                        </a:solidFill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92996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301</a:t>
                      </a:r>
                      <a:endParaRPr sz="1200" b="0" i="0" kern="1200" dirty="0">
                        <a:solidFill>
                          <a:srgbClr val="F5A623"/>
                        </a:solidFill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99,676 %</a:t>
                      </a:r>
                      <a:endParaRPr sz="1200" b="0" i="0" kern="1200" dirty="0">
                        <a:solidFill>
                          <a:srgbClr val="F5A623"/>
                        </a:solidFill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i="0" kern="1200" dirty="0" err="1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Bloquante</a:t>
                      </a:r>
                      <a:endParaRPr sz="1200" b="0" i="0" kern="1200" dirty="0">
                        <a:solidFill>
                          <a:srgbClr val="F5A623"/>
                        </a:solidFill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RQ-003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i="0" kern="1200" dirty="0" err="1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crm_client</a:t>
                      </a:r>
                      <a:endParaRPr sz="1200" b="0" i="0" kern="1200" dirty="0">
                        <a:solidFill>
                          <a:srgbClr val="F5A623"/>
                        </a:solidFill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i="0" kern="1200" dirty="0" err="1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column_values_to_not_be_null</a:t>
                      </a:r>
                      <a:r>
                        <a:rPr lang="en-US" sz="120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 + </a:t>
                      </a:r>
                      <a:r>
                        <a:rPr lang="en-US" sz="1200" b="0" i="0" kern="1200" dirty="0" err="1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match_regex</a:t>
                      </a:r>
                      <a:r>
                        <a:rPr lang="en-US" sz="120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 \S (</a:t>
                      </a:r>
                      <a:r>
                        <a:rPr lang="en-US" sz="1200" b="0" i="0" kern="1200" dirty="0" err="1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souscripteurs</a:t>
                      </a:r>
                      <a:r>
                        <a:rPr lang="en-US" sz="120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)</a:t>
                      </a:r>
                      <a:endParaRPr sz="1200" b="0" i="0" kern="1200" dirty="0">
                        <a:solidFill>
                          <a:srgbClr val="F5A623"/>
                        </a:solidFill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49 898</a:t>
                      </a:r>
                      <a:endParaRPr sz="1200" b="0" i="0" kern="1200" dirty="0">
                        <a:solidFill>
                          <a:srgbClr val="F5A623"/>
                        </a:solidFill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5989</a:t>
                      </a:r>
                      <a:endParaRPr sz="1200" b="0" i="0" kern="1200" dirty="0">
                        <a:solidFill>
                          <a:srgbClr val="F5A623"/>
                        </a:solidFill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87,998 %</a:t>
                      </a:r>
                      <a:endParaRPr sz="1200" b="0" i="0" kern="1200" dirty="0">
                        <a:solidFill>
                          <a:srgbClr val="F5A623"/>
                        </a:solidFill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i="0" kern="1200" dirty="0" err="1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Avertissement</a:t>
                      </a:r>
                      <a:endParaRPr sz="1200" b="0" i="0" kern="1200" dirty="0">
                        <a:solidFill>
                          <a:srgbClr val="F5A623"/>
                        </a:solidFill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RQ-005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i="0" kern="1200" dirty="0" err="1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crm_client</a:t>
                      </a:r>
                      <a:r>
                        <a:rPr lang="en-US" sz="120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, </a:t>
                      </a:r>
                      <a:r>
                        <a:rPr lang="en-US" sz="1200" b="0" i="0" kern="1200" dirty="0" err="1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cif_client</a:t>
                      </a:r>
                      <a:endParaRPr sz="1200" b="0" i="0" kern="1200" dirty="0">
                        <a:solidFill>
                          <a:srgbClr val="F5A623"/>
                        </a:solidFill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i="0" kern="1200" dirty="0" err="1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column_values_to_match_regex</a:t>
                      </a:r>
                      <a:r>
                        <a:rPr lang="en-US" sz="120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 ^\d{5}$ (</a:t>
                      </a:r>
                      <a:r>
                        <a:rPr lang="en-US" sz="1200" b="0" i="0" kern="1200" dirty="0" err="1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adresses</a:t>
                      </a:r>
                      <a:r>
                        <a:rPr lang="en-US" sz="120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 FR)</a:t>
                      </a:r>
                      <a:endParaRPr sz="1200" b="0" i="0" kern="1200" dirty="0">
                        <a:solidFill>
                          <a:srgbClr val="F5A623"/>
                        </a:solidFill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20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95437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20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39401</a:t>
                      </a:r>
                      <a:endParaRPr lang="en-US" sz="1200" b="0" i="0" kern="1200" dirty="0">
                        <a:solidFill>
                          <a:srgbClr val="F5A623"/>
                        </a:solidFill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1456</a:t>
                      </a:r>
                    </a:p>
                    <a:p>
                      <a:r>
                        <a:rPr lang="fr-FR" sz="120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0</a:t>
                      </a:r>
                      <a:endParaRPr sz="1200" b="0" i="0" kern="1200" dirty="0">
                        <a:solidFill>
                          <a:srgbClr val="F5A623"/>
                        </a:solidFill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98,474 %</a:t>
                      </a:r>
                    </a:p>
                    <a:p>
                      <a:r>
                        <a:rPr lang="fr-FR" sz="120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100,00%</a:t>
                      </a:r>
                      <a:endParaRPr sz="1200" b="0" i="0" kern="1200" dirty="0">
                        <a:solidFill>
                          <a:srgbClr val="F5A623"/>
                        </a:solidFill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i="0" kern="1200" dirty="0" err="1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Avertissement</a:t>
                      </a:r>
                      <a:endParaRPr sz="1200" b="0" i="0" kern="1200" dirty="0">
                        <a:solidFill>
                          <a:srgbClr val="F5A623"/>
                        </a:solidFill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1" i="0" dirty="0">
                          <a:solidFill>
                            <a:srgbClr val="F7F6F2"/>
                          </a:solidFill>
                          <a:latin typeface="Inter"/>
                        </a:rPr>
                        <a:t>RQ-009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i="0" kern="1200" dirty="0" err="1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crm_client</a:t>
                      </a:r>
                      <a:r>
                        <a:rPr lang="en-US" sz="120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, </a:t>
                      </a:r>
                      <a:endParaRPr sz="1200" b="0" i="0" kern="1200" dirty="0">
                        <a:solidFill>
                          <a:srgbClr val="F5A623"/>
                        </a:solidFill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i="0" kern="1200" dirty="0" err="1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column_values_to_be_in_set</a:t>
                      </a:r>
                      <a:r>
                        <a:rPr lang="en-US" sz="120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 (prospect, </a:t>
                      </a:r>
                      <a:r>
                        <a:rPr lang="en-US" sz="1200" b="0" i="0" kern="1200" dirty="0" err="1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souscripteur</a:t>
                      </a:r>
                      <a:r>
                        <a:rPr lang="en-US" sz="120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, assure)</a:t>
                      </a:r>
                      <a:endParaRPr sz="1200" b="0" i="0" kern="1200" dirty="0">
                        <a:solidFill>
                          <a:srgbClr val="F5A623"/>
                        </a:solidFill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100 000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200</a:t>
                      </a:r>
                      <a:endParaRPr sz="1200" b="0" i="0" kern="1200" dirty="0">
                        <a:solidFill>
                          <a:srgbClr val="F5A623"/>
                        </a:solidFill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99,800 %</a:t>
                      </a:r>
                      <a:endParaRPr sz="1200" b="0" i="0" kern="1200" dirty="0">
                        <a:solidFill>
                          <a:srgbClr val="F5A623"/>
                        </a:solidFill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i="0" kern="1200" dirty="0" err="1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Bloquante</a:t>
                      </a:r>
                      <a:endParaRPr sz="1200" b="0" i="0" kern="1200" dirty="0">
                        <a:solidFill>
                          <a:srgbClr val="F5A623"/>
                        </a:solidFill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RQ-010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i="0" kern="1200" dirty="0" err="1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crm_contrat</a:t>
                      </a:r>
                      <a:endParaRPr sz="1200" b="0" i="0" kern="1200" dirty="0">
                        <a:solidFill>
                          <a:srgbClr val="F5A623"/>
                        </a:solidFill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i="0" kern="1200" dirty="0" err="1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column_values_to_be_in_set</a:t>
                      </a:r>
                      <a:r>
                        <a:rPr lang="en-US" sz="120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 (12, 24, 36, 60)</a:t>
                      </a:r>
                      <a:endParaRPr sz="1200" b="0" i="0" kern="1200" dirty="0">
                        <a:solidFill>
                          <a:srgbClr val="F5A623"/>
                        </a:solidFill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100 000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600</a:t>
                      </a:r>
                      <a:endParaRPr sz="1200" b="0" i="0" kern="1200" dirty="0">
                        <a:solidFill>
                          <a:srgbClr val="F5A623"/>
                        </a:solidFill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99,400 %</a:t>
                      </a:r>
                      <a:endParaRPr sz="1200" b="0" i="0" kern="1200" dirty="0">
                        <a:solidFill>
                          <a:srgbClr val="F5A623"/>
                        </a:solidFill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i="0" kern="1200" dirty="0" err="1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Bloquante</a:t>
                      </a:r>
                      <a:endParaRPr sz="1200" b="0" i="0" kern="1200" dirty="0">
                        <a:solidFill>
                          <a:srgbClr val="F5A623"/>
                        </a:solidFill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RQ-020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 err="1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cif_client</a:t>
                      </a:r>
                      <a:r>
                        <a:rPr lang="en-US" sz="120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,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 err="1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crm_client</a:t>
                      </a:r>
                      <a:r>
                        <a:rPr lang="en-US" sz="120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, </a:t>
                      </a:r>
                      <a:r>
                        <a:rPr lang="en-US" sz="1200" b="0" i="0" kern="1200" dirty="0" err="1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crm_contrat</a:t>
                      </a:r>
                      <a:r>
                        <a:rPr lang="en-US" sz="120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, </a:t>
                      </a:r>
                      <a:r>
                        <a:rPr lang="en-US" sz="1200" b="0" i="0" kern="1200" dirty="0" err="1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crm_sinister</a:t>
                      </a:r>
                      <a:endParaRPr lang="en-US" sz="1200" b="0" i="0" kern="1200" dirty="0">
                        <a:solidFill>
                          <a:srgbClr val="F5A623"/>
                        </a:solidFill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i="0" kern="1200" dirty="0" err="1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column_values_to_not_be_null</a:t>
                      </a:r>
                      <a:r>
                        <a:rPr lang="en-US" sz="120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 + </a:t>
                      </a:r>
                      <a:r>
                        <a:rPr lang="en-US" sz="1200" b="0" i="0" kern="1200" dirty="0" err="1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to_be_unique</a:t>
                      </a:r>
                      <a:r>
                        <a:rPr lang="en-US" sz="120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 (</a:t>
                      </a:r>
                      <a:r>
                        <a:rPr lang="en-US" sz="1200" b="0" i="0" kern="1200" dirty="0" err="1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clé</a:t>
                      </a:r>
                      <a:r>
                        <a:rPr lang="en-US" sz="120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)</a:t>
                      </a:r>
                      <a:endParaRPr sz="1200" b="0" i="0" kern="1200" dirty="0">
                        <a:solidFill>
                          <a:srgbClr val="F5A623"/>
                        </a:solidFill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 100000</a:t>
                      </a:r>
                      <a:endParaRPr sz="1200" b="0" i="0" kern="1200" dirty="0">
                        <a:solidFill>
                          <a:srgbClr val="F5A623"/>
                        </a:solidFill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0</a:t>
                      </a:r>
                      <a:endParaRPr sz="1200" b="0" i="0" kern="1200" dirty="0">
                        <a:solidFill>
                          <a:srgbClr val="F5A623"/>
                        </a:solidFill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100,000 %</a:t>
                      </a:r>
                      <a:endParaRPr sz="1200" b="0" i="0" kern="1200" dirty="0">
                        <a:solidFill>
                          <a:srgbClr val="F5A623"/>
                        </a:solidFill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i="0" kern="1200" dirty="0" err="1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Bloquante</a:t>
                      </a:r>
                      <a:endParaRPr sz="1200" b="0" i="0" kern="1200" dirty="0">
                        <a:solidFill>
                          <a:srgbClr val="F5A623"/>
                        </a:solidFill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Pièges rencontrés et lignes en échec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16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S2 · US-10, 11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RÈGLES ET TESTS · 20 %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285036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285036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7821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Les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pièges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(nul, vide, blanc ; adresses étrangères ; comparaisons exactes) avec le chiffre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avant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et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après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correction.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Un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échantillon commenté de 20 lignes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en échec : famille d'erreur, cause probable, action proposée.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48313970"/>
              </p:ext>
            </p:extLst>
          </p:nvPr>
        </p:nvGraphicFramePr>
        <p:xfrm>
          <a:off x="640080" y="2748076"/>
          <a:ext cx="10908792" cy="1389888"/>
        </p:xfrm>
        <a:graphic>
          <a:graphicData uri="http://schemas.openxmlformats.org/drawingml/2006/table">
            <a:tbl>
              <a:tblPr/>
              <a:tblGrid>
                <a:gridCol w="1097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404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49631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r>
                        <a:rPr sz="1050" b="1" i="0" spc="60" dirty="0" err="1">
                          <a:solidFill>
                            <a:srgbClr val="F5A623"/>
                          </a:solidFill>
                          <a:latin typeface="Inter"/>
                        </a:rPr>
                        <a:t>Règle</a:t>
                      </a:r>
                      <a:endParaRPr sz="1050" b="1" i="0" spc="6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 dirty="0" err="1">
                          <a:solidFill>
                            <a:srgbClr val="F5A623"/>
                          </a:solidFill>
                          <a:latin typeface="Inter"/>
                        </a:rPr>
                        <a:t>Piège</a:t>
                      </a:r>
                      <a:endParaRPr sz="1050" b="1" i="0" spc="6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 cap="flat" cmpd="sng" algn="ctr">
                      <a:solidFill>
                        <a:srgbClr val="2A41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Avant correction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 cap="flat" cmpd="sng" algn="ctr">
                      <a:solidFill>
                        <a:srgbClr val="2A41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Après correction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Preuve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lang="en-US" sz="115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RQ-003</a:t>
                      </a:r>
                      <a:endParaRPr sz="1150" b="0" i="0" kern="1200" dirty="0">
                        <a:solidFill>
                          <a:srgbClr val="F5A623"/>
                        </a:solidFill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 cap="flat" cmpd="sng" algn="ctr">
                      <a:solidFill>
                        <a:srgbClr val="2A41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15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nul, vide et blanc : tester seulement NULL</a:t>
                      </a:r>
                    </a:p>
                  </a:txBody>
                  <a:tcPr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15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1995</a:t>
                      </a:r>
                    </a:p>
                  </a:txBody>
                  <a:tcPr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5989</a:t>
                      </a:r>
                      <a:endParaRPr sz="1150" b="0" i="0" kern="1200" dirty="0">
                        <a:solidFill>
                          <a:srgbClr val="F5A623"/>
                        </a:solidFill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73152" marR="73152" anchor="ctr">
                    <a:lnL w="6350" cap="flat" cmpd="sng" algn="ctr">
                      <a:solidFill>
                        <a:srgbClr val="2A41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b="0" i="0" dirty="0">
                          <a:solidFill>
                            <a:srgbClr val="F5A623"/>
                          </a:solidFill>
                          <a:latin typeface="+mn-lt"/>
                        </a:rPr>
                        <a:t>notebooks/S2_01.ipynb, US-010 cellule 9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lang="en-US" sz="115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RQ-005</a:t>
                      </a:r>
                      <a:endParaRPr sz="1150" b="0" i="0" kern="1200" dirty="0">
                        <a:solidFill>
                          <a:srgbClr val="F5A623"/>
                        </a:solidFill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 cap="flat" cmpd="sng" algn="ctr">
                      <a:solidFill>
                        <a:srgbClr val="2A41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adresses étrangères (CRM) : filtre pays = FR</a:t>
                      </a:r>
                      <a:endParaRPr sz="1150" b="0" i="0" kern="1200" dirty="0">
                        <a:solidFill>
                          <a:srgbClr val="F5A623"/>
                        </a:solidFill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 cap="flat" cmpd="sng" algn="ctr">
                      <a:solidFill>
                        <a:srgbClr val="2A41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1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5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2317</a:t>
                      </a:r>
                      <a:endParaRPr sz="1150" b="0" i="0" kern="1200" dirty="0">
                        <a:solidFill>
                          <a:srgbClr val="F5A623"/>
                        </a:solidFill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 cap="flat" cmpd="sng" algn="ctr">
                      <a:solidFill>
                        <a:srgbClr val="2A41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1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1456</a:t>
                      </a:r>
                      <a:endParaRPr sz="1150" b="0" i="0" kern="1200" dirty="0">
                        <a:solidFill>
                          <a:srgbClr val="F5A623"/>
                        </a:solidFill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 cap="flat" cmpd="sng" algn="ctr">
                      <a:solidFill>
                        <a:srgbClr val="2A41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b="0" i="0" dirty="0">
                          <a:solidFill>
                            <a:srgbClr val="F5A623"/>
                          </a:solidFill>
                          <a:latin typeface="+mn-lt"/>
                        </a:rPr>
                        <a:t>notebooks/S2_01.ipynb, US-10 cellule 9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 cap="flat" cmpd="sng" algn="ctr">
                      <a:solidFill>
                        <a:srgbClr val="2A41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lang="fr-FR" sz="115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RQ-009</a:t>
                      </a:r>
                      <a:endParaRPr sz="1150" b="0" i="0" kern="1200" dirty="0">
                        <a:solidFill>
                          <a:srgbClr val="F5A623"/>
                        </a:solidFill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 cap="flat" cmpd="sng" algn="ctr">
                      <a:solidFill>
                        <a:srgbClr val="2A41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comparaison exacte (casse) vs insensible</a:t>
                      </a:r>
                      <a:endParaRPr sz="1150" b="0" i="0" kern="1200" dirty="0">
                        <a:solidFill>
                          <a:srgbClr val="F5A623"/>
                        </a:solidFill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73152" marR="73152" anchor="ctr">
                    <a:lnL w="6350" cap="flat" cmpd="sng" algn="ctr">
                      <a:solidFill>
                        <a:srgbClr val="2A41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1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1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120</a:t>
                      </a:r>
                      <a:endParaRPr sz="1150" b="0" i="0" kern="1200" dirty="0">
                        <a:solidFill>
                          <a:srgbClr val="F5A623"/>
                        </a:solidFill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73152" marR="73152" anchor="ctr">
                    <a:lnL w="6350" cap="flat" cmpd="sng" algn="ctr">
                      <a:solidFill>
                        <a:srgbClr val="2A41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1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1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200</a:t>
                      </a:r>
                      <a:endParaRPr sz="1150" b="0" i="0" kern="1200" dirty="0">
                        <a:solidFill>
                          <a:srgbClr val="F5A623"/>
                        </a:solidFill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73152" marR="73152" anchor="ctr">
                    <a:lnL w="6350" cap="flat" cmpd="sng" algn="ctr">
                      <a:solidFill>
                        <a:srgbClr val="2A41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1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b="0" i="0" dirty="0">
                          <a:solidFill>
                            <a:srgbClr val="F5A623"/>
                          </a:solidFill>
                          <a:latin typeface="+mn-lt"/>
                        </a:rPr>
                        <a:t>notebooks/S2_01.ipynb, US-10 cellule 9</a:t>
                      </a:r>
                    </a:p>
                  </a:txBody>
                  <a:tcPr marL="73152" marR="73152" anchor="ctr">
                    <a:lnL w="6350" cap="flat" cmpd="sng" algn="ctr">
                      <a:solidFill>
                        <a:srgbClr val="2A41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604023"/>
                  </a:ext>
                </a:extLst>
              </a:tr>
            </a:tbl>
          </a:graphicData>
        </a:graphic>
      </p:graphicFrame>
      <p:graphicFrame>
        <p:nvGraphicFramePr>
          <p:cNvPr id="34" name="Table 3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68598244"/>
              </p:ext>
            </p:extLst>
          </p:nvPr>
        </p:nvGraphicFramePr>
        <p:xfrm>
          <a:off x="640080" y="4185239"/>
          <a:ext cx="10908792" cy="1848612"/>
        </p:xfrm>
        <a:graphic>
          <a:graphicData uri="http://schemas.openxmlformats.org/drawingml/2006/table">
            <a:tbl>
              <a:tblPr/>
              <a:tblGrid>
                <a:gridCol w="104502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7833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9260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49631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r>
                        <a:rPr sz="1050" b="1" i="0" spc="60" dirty="0" err="1">
                          <a:solidFill>
                            <a:srgbClr val="F5A623"/>
                          </a:solidFill>
                          <a:latin typeface="Inter"/>
                        </a:rPr>
                        <a:t>Règle</a:t>
                      </a:r>
                      <a:endParaRPr sz="1050" b="1" i="0" spc="6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 dirty="0">
                          <a:solidFill>
                            <a:srgbClr val="F5A623"/>
                          </a:solidFill>
                          <a:latin typeface="Inter"/>
                        </a:rPr>
                        <a:t>Famille </a:t>
                      </a:r>
                      <a:r>
                        <a:rPr sz="1050" b="1" i="0" spc="60" dirty="0" err="1">
                          <a:solidFill>
                            <a:srgbClr val="F5A623"/>
                          </a:solidFill>
                          <a:latin typeface="Inter"/>
                        </a:rPr>
                        <a:t>d'erreur</a:t>
                      </a:r>
                      <a:endParaRPr sz="1050" b="1" i="0" spc="6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Lignes (sur 20)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Cause probable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Action proposée (à qui ?)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lang="en-US" sz="1150" b="0" i="0" dirty="0">
                          <a:solidFill>
                            <a:srgbClr val="F5A623"/>
                          </a:solidFill>
                          <a:latin typeface="Inter"/>
                        </a:rPr>
                        <a:t>RQ-001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kern="1200" dirty="0">
                          <a:solidFill>
                            <a:srgbClr val="F5A623"/>
                          </a:solidFill>
                          <a:latin typeface="+mn-lt"/>
                          <a:ea typeface="+mn-ea"/>
                          <a:cs typeface="+mn-cs"/>
                        </a:rPr>
                        <a:t>Durée nulle (fin = début) et dates inversées (fin avant début)</a:t>
                      </a:r>
                      <a:endParaRPr sz="1150" b="0" i="0" kern="1200" dirty="0">
                        <a:solidFill>
                          <a:srgbClr val="F5A623"/>
                        </a:solidFill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5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4</a:t>
                      </a:r>
                      <a:endParaRPr sz="1150" b="0" i="0" kern="1200" dirty="0">
                        <a:solidFill>
                          <a:srgbClr val="F5A623"/>
                        </a:solidFill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5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Dates </a:t>
                      </a:r>
                      <a:r>
                        <a:rPr lang="en-US" sz="1150" b="0" i="0" kern="1200" dirty="0" err="1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saisies</a:t>
                      </a:r>
                      <a:r>
                        <a:rPr lang="en-US" sz="115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 à la main, </a:t>
                      </a:r>
                      <a:r>
                        <a:rPr lang="en-US" sz="1150" b="0" i="0" kern="1200" dirty="0">
                          <a:solidFill>
                            <a:srgbClr val="F5A623"/>
                          </a:solidFill>
                          <a:latin typeface="+mn-lt"/>
                          <a:ea typeface="+mn-ea"/>
                          <a:cs typeface="+mn-cs"/>
                        </a:rPr>
                        <a:t>sans </a:t>
                      </a:r>
                      <a:r>
                        <a:rPr lang="en-US" sz="1150" b="0" i="0" kern="1200" dirty="0" err="1">
                          <a:solidFill>
                            <a:srgbClr val="F5A623"/>
                          </a:solidFill>
                          <a:latin typeface="+mn-lt"/>
                          <a:ea typeface="+mn-ea"/>
                          <a:cs typeface="+mn-cs"/>
                        </a:rPr>
                        <a:t>contrôle</a:t>
                      </a:r>
                      <a:r>
                        <a:rPr lang="en-US" sz="1150" b="0" i="0" kern="1200" dirty="0">
                          <a:solidFill>
                            <a:srgbClr val="F5A623"/>
                          </a:solidFill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US" sz="115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de </a:t>
                      </a:r>
                      <a:r>
                        <a:rPr lang="en-US" sz="1150" b="0" i="0" kern="1200" dirty="0" err="1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cohérance</a:t>
                      </a:r>
                      <a:endParaRPr sz="1150" b="0" i="0" kern="1200" dirty="0">
                        <a:solidFill>
                          <a:srgbClr val="F5A623"/>
                        </a:solidFill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kern="1200" dirty="0">
                          <a:solidFill>
                            <a:srgbClr val="F5A623"/>
                          </a:solidFill>
                          <a:latin typeface="+mn-lt"/>
                          <a:ea typeface="+mn-ea"/>
                          <a:cs typeface="+mn-cs"/>
                        </a:rPr>
                        <a:t>Équipe contrats : corriger les dates ; Data Steward : ajouter un contrôle à la saisie</a:t>
                      </a:r>
                      <a:endParaRPr sz="1150" b="0" i="0" kern="1200" dirty="0">
                        <a:solidFill>
                          <a:srgbClr val="F5A623"/>
                        </a:solidFill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lang="fr-FR" sz="1150" b="0" i="0" dirty="0">
                          <a:solidFill>
                            <a:srgbClr val="F5A623"/>
                          </a:solidFill>
                          <a:latin typeface="+mn-lt"/>
                        </a:rPr>
                        <a:t>RQ-002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kern="1200" dirty="0">
                          <a:solidFill>
                            <a:srgbClr val="F5A623"/>
                          </a:solidFill>
                          <a:latin typeface="+mn-lt"/>
                          <a:ea typeface="+mn-ea"/>
                          <a:cs typeface="+mn-cs"/>
                        </a:rPr>
                        <a:t>Souscripteur de 16 ou 17 ans au début du contrat</a:t>
                      </a:r>
                      <a:endParaRPr sz="1150" b="0" i="0" kern="1200" dirty="0">
                        <a:solidFill>
                          <a:srgbClr val="F5A623"/>
                        </a:solidFill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5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3</a:t>
                      </a:r>
                      <a:endParaRPr sz="1150" b="0" i="0" kern="1200" dirty="0">
                        <a:solidFill>
                          <a:srgbClr val="F5A623"/>
                        </a:solidFill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kern="1200" dirty="0">
                          <a:solidFill>
                            <a:srgbClr val="F5A623"/>
                          </a:solidFill>
                          <a:latin typeface="+mn-lt"/>
                          <a:ea typeface="+mn-ea"/>
                          <a:cs typeface="+mn-cs"/>
                        </a:rPr>
                        <a:t>Contrats jeunes conducteurs souscrits par un mineur, ou date de naissance erronée</a:t>
                      </a:r>
                      <a:endParaRPr sz="1150" b="0" i="0" kern="1200" dirty="0">
                        <a:solidFill>
                          <a:srgbClr val="F5A623"/>
                        </a:solidFill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kern="1200" dirty="0">
                          <a:solidFill>
                            <a:srgbClr val="F5A623"/>
                          </a:solidFill>
                          <a:latin typeface="+mn-lt"/>
                          <a:ea typeface="+mn-ea"/>
                          <a:cs typeface="+mn-cs"/>
                        </a:rPr>
                        <a:t>Data </a:t>
                      </a:r>
                      <a:r>
                        <a:rPr lang="fr-FR" sz="1150" b="0" i="0" kern="1200" dirty="0" err="1">
                          <a:solidFill>
                            <a:srgbClr val="F5A623"/>
                          </a:solidFill>
                          <a:latin typeface="+mn-lt"/>
                          <a:ea typeface="+mn-ea"/>
                          <a:cs typeface="+mn-cs"/>
                        </a:rPr>
                        <a:t>Owner</a:t>
                      </a:r>
                      <a:r>
                        <a:rPr lang="fr-FR" sz="1150" b="0" i="0" kern="1200" dirty="0">
                          <a:solidFill>
                            <a:srgbClr val="F5A623"/>
                          </a:solidFill>
                          <a:latin typeface="+mn-lt"/>
                          <a:ea typeface="+mn-ea"/>
                          <a:cs typeface="+mn-cs"/>
                        </a:rPr>
                        <a:t> : décider si un mineur peut souscrire (avec garant ?)</a:t>
                      </a:r>
                      <a:endParaRPr sz="1150" b="0" i="0" kern="1200" dirty="0">
                        <a:solidFill>
                          <a:srgbClr val="F5A623"/>
                        </a:solidFill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lang="en-US" sz="1150" b="0" i="0" dirty="0">
                          <a:solidFill>
                            <a:srgbClr val="F5A623"/>
                          </a:solidFill>
                          <a:latin typeface="+mn-lt"/>
                        </a:rPr>
                        <a:t>RQ-003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50" b="0" i="0" kern="1200" dirty="0" err="1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Téléphone</a:t>
                      </a:r>
                      <a:r>
                        <a:rPr lang="en-US" sz="115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 NULL, </a:t>
                      </a:r>
                      <a:r>
                        <a:rPr lang="en-US" sz="1150" b="0" i="0" kern="1200" dirty="0" err="1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chaine</a:t>
                      </a:r>
                      <a:r>
                        <a:rPr lang="en-US" sz="115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 vide </a:t>
                      </a:r>
                      <a:r>
                        <a:rPr lang="en-US" sz="1150" b="0" i="0" kern="1200" dirty="0" err="1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ou</a:t>
                      </a:r>
                      <a:r>
                        <a:rPr lang="en-US" sz="115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 </a:t>
                      </a:r>
                      <a:r>
                        <a:rPr lang="en-US" sz="1150" b="0" i="0" kern="1200" dirty="0" err="1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espaces</a:t>
                      </a:r>
                      <a:r>
                        <a:rPr lang="en-US" sz="115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 seuls</a:t>
                      </a:r>
                      <a:endParaRPr sz="1150" b="0" i="0" kern="1200" dirty="0">
                        <a:solidFill>
                          <a:srgbClr val="F5A623"/>
                        </a:solidFill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5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3</a:t>
                      </a:r>
                      <a:endParaRPr sz="1150" b="0" i="0" kern="1200" dirty="0">
                        <a:solidFill>
                          <a:srgbClr val="F5A623"/>
                        </a:solidFill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kern="1200" dirty="0">
                          <a:solidFill>
                            <a:srgbClr val="F5A623"/>
                          </a:solidFill>
                          <a:latin typeface="+mn-lt"/>
                          <a:ea typeface="+mn-ea"/>
                          <a:cs typeface="+mn-cs"/>
                        </a:rPr>
                        <a:t>Champ téléphone facultatif dans le CRM</a:t>
                      </a:r>
                      <a:endParaRPr sz="1150" b="0" i="0" kern="1200" dirty="0">
                        <a:solidFill>
                          <a:srgbClr val="F5A623"/>
                        </a:solidFill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kern="1200" dirty="0">
                          <a:solidFill>
                            <a:srgbClr val="F5A623"/>
                          </a:solidFill>
                          <a:latin typeface="+mn-lt"/>
                          <a:ea typeface="+mn-ea"/>
                          <a:cs typeface="+mn-cs"/>
                        </a:rPr>
                        <a:t>Équipe CRM : rendre le téléphone obligatoire pour un souscripteur</a:t>
                      </a:r>
                      <a:endParaRPr sz="1150" b="0" i="0" kern="1200" dirty="0">
                        <a:solidFill>
                          <a:srgbClr val="F5A623"/>
                        </a:solidFill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5" name="TextBox 34"/>
          <p:cNvSpPr txBox="1"/>
          <p:nvPr/>
        </p:nvSpPr>
        <p:spPr>
          <a:xfrm>
            <a:off x="640080" y="6089233"/>
            <a:ext cx="10908792" cy="17440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lang="fr-FR" sz="1100" b="0" i="1" dirty="0">
                <a:solidFill>
                  <a:srgbClr val="8E99A4"/>
                </a:solidFill>
                <a:latin typeface="Inter"/>
              </a:rPr>
              <a:t>export complet reports/</a:t>
            </a:r>
            <a:r>
              <a:rPr lang="fr-FR" sz="1100" b="0" i="1" dirty="0" err="1">
                <a:solidFill>
                  <a:srgbClr val="8E99A4"/>
                </a:solidFill>
                <a:latin typeface="Inter"/>
              </a:rPr>
              <a:t>ge</a:t>
            </a:r>
            <a:r>
              <a:rPr lang="fr-FR" sz="1100" b="0" i="1" dirty="0">
                <a:solidFill>
                  <a:srgbClr val="8E99A4"/>
                </a:solidFill>
                <a:latin typeface="Inter"/>
              </a:rPr>
              <a:t>/us11_lignes_en_echec.csv ; échantillon commenté reports/</a:t>
            </a:r>
            <a:r>
              <a:rPr lang="fr-FR" sz="1100" b="0" i="1" dirty="0" err="1">
                <a:solidFill>
                  <a:srgbClr val="8E99A4"/>
                </a:solidFill>
                <a:latin typeface="Inter"/>
              </a:rPr>
              <a:t>ge</a:t>
            </a:r>
            <a:r>
              <a:rPr lang="fr-FR" sz="1100" b="0" i="1" dirty="0">
                <a:solidFill>
                  <a:srgbClr val="8E99A4"/>
                </a:solidFill>
                <a:latin typeface="Inter"/>
              </a:rPr>
              <a:t>/us11_echantillon_20_lignes_commentees.csv</a:t>
            </a:r>
            <a:endParaRPr sz="1100" b="0" i="1" dirty="0">
              <a:solidFill>
                <a:srgbClr val="8E99A4"/>
              </a:solidFill>
              <a:latin typeface="Inter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350827"/>
            <a:ext cx="10908792" cy="731520"/>
          </a:xfrm>
        </p:spPr>
        <p:txBody>
          <a:bodyPr lIns="0" tIns="0" rIns="0" bIns="0"/>
          <a:lstStyle/>
          <a:p>
            <a:r>
              <a:rPr sz="2800"/>
              <a:t>Âge à la bonne date et mesure de référence sur bronze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55805" y="6518748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17</a:t>
            </a:fld>
            <a:endParaRPr lang="en-US" dirty="0"/>
          </a:p>
        </p:txBody>
      </p:sp>
      <p:sp>
        <p:nvSpPr>
          <p:cNvPr id="26" name="TextBox 25"/>
          <p:cNvSpPr txBox="1"/>
          <p:nvPr/>
        </p:nvSpPr>
        <p:spPr>
          <a:xfrm>
            <a:off x="640080" y="103939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 dirty="0">
                <a:solidFill>
                  <a:srgbClr val="F5A623"/>
                </a:solidFill>
                <a:latin typeface="Inter"/>
              </a:rPr>
              <a:t>S2 · US-13, 15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RÈGLES ET TESTS · 20 %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843991"/>
            <a:ext cx="10908792" cy="1323136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843991"/>
            <a:ext cx="82296" cy="1323136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953718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962863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301191"/>
            <a:ext cx="10360152" cy="8202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1" i="0" dirty="0">
                <a:solidFill>
                  <a:srgbClr val="F5A623"/>
                </a:solidFill>
                <a:latin typeface="Inter"/>
              </a:rPr>
              <a:t>RQ-002</a:t>
            </a:r>
            <a:r>
              <a:rPr sz="1300" b="0" i="0" dirty="0">
                <a:solidFill>
                  <a:srgbClr val="F7F6F2"/>
                </a:solidFill>
                <a:latin typeface="Inter"/>
              </a:rPr>
              <a:t> </a:t>
            </a:r>
            <a:r>
              <a:rPr sz="1300" b="0" i="0" dirty="0" err="1">
                <a:solidFill>
                  <a:srgbClr val="F7F6F2"/>
                </a:solidFill>
                <a:latin typeface="Inter"/>
              </a:rPr>
              <a:t>documentée</a:t>
            </a:r>
            <a:r>
              <a:rPr sz="1300" b="0" i="0" dirty="0">
                <a:solidFill>
                  <a:srgbClr val="F7F6F2"/>
                </a:solidFill>
                <a:latin typeface="Inter"/>
              </a:rPr>
              <a:t> avec </a:t>
            </a:r>
            <a:r>
              <a:rPr sz="1300" b="0" i="0" dirty="0" err="1">
                <a:solidFill>
                  <a:srgbClr val="F7F6F2"/>
                </a:solidFill>
                <a:latin typeface="Inter"/>
              </a:rPr>
              <a:t>sa</a:t>
            </a:r>
            <a:r>
              <a:rPr sz="1300" b="0" i="0" dirty="0">
                <a:solidFill>
                  <a:srgbClr val="F7F6F2"/>
                </a:solidFill>
                <a:latin typeface="Inter"/>
              </a:rPr>
              <a:t> </a:t>
            </a:r>
            <a:r>
              <a:rPr sz="1300" b="1" i="0" dirty="0">
                <a:solidFill>
                  <a:srgbClr val="F5A623"/>
                </a:solidFill>
                <a:latin typeface="Inter"/>
              </a:rPr>
              <a:t>date de </a:t>
            </a:r>
            <a:r>
              <a:rPr sz="1300" b="1" i="0" dirty="0" err="1">
                <a:solidFill>
                  <a:srgbClr val="F5A623"/>
                </a:solidFill>
                <a:latin typeface="Inter"/>
              </a:rPr>
              <a:t>référence</a:t>
            </a:r>
            <a:r>
              <a:rPr sz="1300" b="0" i="0" dirty="0">
                <a:solidFill>
                  <a:srgbClr val="F7F6F2"/>
                </a:solidFill>
                <a:latin typeface="Inter"/>
              </a:rPr>
              <a:t>, et un </a:t>
            </a:r>
            <a:r>
              <a:rPr sz="1300" b="0" i="0" dirty="0" err="1">
                <a:solidFill>
                  <a:srgbClr val="F7F6F2"/>
                </a:solidFill>
                <a:latin typeface="Inter"/>
              </a:rPr>
              <a:t>cas</a:t>
            </a:r>
            <a:r>
              <a:rPr sz="1300" b="0" i="0" dirty="0">
                <a:solidFill>
                  <a:srgbClr val="F7F6F2"/>
                </a:solidFill>
                <a:latin typeface="Inter"/>
              </a:rPr>
              <a:t> </a:t>
            </a:r>
            <a:r>
              <a:rPr sz="1300" b="0" i="0" dirty="0" err="1">
                <a:solidFill>
                  <a:srgbClr val="F7F6F2"/>
                </a:solidFill>
                <a:latin typeface="Inter"/>
              </a:rPr>
              <a:t>où</a:t>
            </a:r>
            <a:r>
              <a:rPr sz="1300" b="0" i="0" dirty="0">
                <a:solidFill>
                  <a:srgbClr val="F7F6F2"/>
                </a:solidFill>
                <a:latin typeface="Inter"/>
              </a:rPr>
              <a:t> « à la date du jour » </a:t>
            </a:r>
            <a:r>
              <a:rPr sz="1300" b="0" i="0" dirty="0" err="1">
                <a:solidFill>
                  <a:srgbClr val="F7F6F2"/>
                </a:solidFill>
                <a:latin typeface="Inter"/>
              </a:rPr>
              <a:t>donne</a:t>
            </a:r>
            <a:r>
              <a:rPr sz="1300" b="0" i="0" dirty="0">
                <a:solidFill>
                  <a:srgbClr val="F7F6F2"/>
                </a:solidFill>
                <a:latin typeface="Inter"/>
              </a:rPr>
              <a:t> un </a:t>
            </a:r>
            <a:r>
              <a:rPr sz="1300" b="0" i="0" dirty="0" err="1">
                <a:solidFill>
                  <a:srgbClr val="F7F6F2"/>
                </a:solidFill>
                <a:latin typeface="Inter"/>
              </a:rPr>
              <a:t>autre</a:t>
            </a:r>
            <a:r>
              <a:rPr sz="1300" b="0" i="0" dirty="0">
                <a:solidFill>
                  <a:srgbClr val="F7F6F2"/>
                </a:solidFill>
                <a:latin typeface="Inter"/>
              </a:rPr>
              <a:t> </a:t>
            </a:r>
            <a:r>
              <a:rPr sz="1300" b="0" i="0" dirty="0" err="1">
                <a:solidFill>
                  <a:srgbClr val="F7F6F2"/>
                </a:solidFill>
                <a:latin typeface="Inter"/>
              </a:rPr>
              <a:t>résultat</a:t>
            </a:r>
            <a:r>
              <a:rPr sz="1300" b="0" i="0" dirty="0">
                <a:solidFill>
                  <a:srgbClr val="F7F6F2"/>
                </a:solidFill>
                <a:latin typeface="Inter"/>
              </a:rPr>
              <a:t>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 dirty="0">
                <a:solidFill>
                  <a:srgbClr val="F7F6F2"/>
                </a:solidFill>
                <a:latin typeface="Inter"/>
              </a:rPr>
              <a:t>La </a:t>
            </a:r>
            <a:r>
              <a:rPr sz="1300" b="1" i="0" dirty="0" err="1">
                <a:solidFill>
                  <a:srgbClr val="F5A623"/>
                </a:solidFill>
                <a:latin typeface="Inter"/>
              </a:rPr>
              <a:t>mesure</a:t>
            </a:r>
            <a:r>
              <a:rPr sz="1300" b="1" i="0" dirty="0">
                <a:solidFill>
                  <a:srgbClr val="F5A623"/>
                </a:solidFill>
                <a:latin typeface="Inter"/>
              </a:rPr>
              <a:t> de </a:t>
            </a:r>
            <a:r>
              <a:rPr sz="1300" b="1" i="0" dirty="0" err="1">
                <a:solidFill>
                  <a:srgbClr val="F5A623"/>
                </a:solidFill>
                <a:latin typeface="Inter"/>
              </a:rPr>
              <a:t>référence</a:t>
            </a:r>
            <a:r>
              <a:rPr sz="1300" b="0" i="0" dirty="0">
                <a:solidFill>
                  <a:srgbClr val="F7F6F2"/>
                </a:solidFill>
                <a:latin typeface="Inter"/>
              </a:rPr>
              <a:t> </a:t>
            </a:r>
            <a:r>
              <a:rPr sz="1300" b="0" i="0" dirty="0" err="1">
                <a:solidFill>
                  <a:srgbClr val="F7F6F2"/>
                </a:solidFill>
                <a:latin typeface="Inter"/>
              </a:rPr>
              <a:t>écrite</a:t>
            </a:r>
            <a:r>
              <a:rPr sz="1300" b="0" i="0" dirty="0">
                <a:solidFill>
                  <a:srgbClr val="F7F6F2"/>
                </a:solidFill>
                <a:latin typeface="Inter"/>
              </a:rPr>
              <a:t> dans </a:t>
            </a:r>
            <a:r>
              <a:rPr sz="1300" b="0" i="0" dirty="0" err="1">
                <a:solidFill>
                  <a:srgbClr val="F7F6F2"/>
                </a:solidFill>
                <a:latin typeface="Inter"/>
              </a:rPr>
              <a:t>dq.dq_history</a:t>
            </a:r>
            <a:r>
              <a:rPr sz="1300" b="0" i="0" dirty="0">
                <a:solidFill>
                  <a:srgbClr val="F7F6F2"/>
                </a:solidFill>
                <a:latin typeface="Inter"/>
              </a:rPr>
              <a:t> (couche BRONZE), avec la </a:t>
            </a:r>
            <a:r>
              <a:rPr sz="1300" b="0" i="0" dirty="0" err="1">
                <a:solidFill>
                  <a:srgbClr val="F7F6F2"/>
                </a:solidFill>
                <a:latin typeface="Inter"/>
              </a:rPr>
              <a:t>synthèse</a:t>
            </a:r>
            <a:r>
              <a:rPr sz="1300" b="0" i="0" dirty="0">
                <a:solidFill>
                  <a:srgbClr val="F7F6F2"/>
                </a:solidFill>
                <a:latin typeface="Inter"/>
              </a:rPr>
              <a:t> </a:t>
            </a:r>
            <a:r>
              <a:rPr sz="1300" b="1" i="0" dirty="0">
                <a:solidFill>
                  <a:srgbClr val="F5A623"/>
                </a:solidFill>
                <a:latin typeface="Inter"/>
              </a:rPr>
              <a:t>par dimension</a:t>
            </a:r>
            <a:r>
              <a:rPr sz="1300" b="0" i="0" dirty="0">
                <a:solidFill>
                  <a:srgbClr val="F7F6F2"/>
                </a:solidFill>
                <a:latin typeface="Inter"/>
              </a:rPr>
              <a:t>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 dirty="0">
                <a:solidFill>
                  <a:srgbClr val="F7F6F2"/>
                </a:solidFill>
                <a:latin typeface="Inter"/>
              </a:rPr>
              <a:t>Une </a:t>
            </a:r>
            <a:r>
              <a:rPr sz="1300" b="1" i="0" dirty="0">
                <a:solidFill>
                  <a:srgbClr val="F5A623"/>
                </a:solidFill>
                <a:latin typeface="Inter"/>
              </a:rPr>
              <a:t>phrase de </a:t>
            </a:r>
            <a:r>
              <a:rPr sz="1300" b="1" i="0" dirty="0" err="1">
                <a:solidFill>
                  <a:srgbClr val="F5A623"/>
                </a:solidFill>
                <a:latin typeface="Inter"/>
              </a:rPr>
              <a:t>synthèse</a:t>
            </a:r>
            <a:r>
              <a:rPr sz="1300" b="0" i="0" dirty="0">
                <a:solidFill>
                  <a:srgbClr val="F7F6F2"/>
                </a:solidFill>
                <a:latin typeface="Inter"/>
              </a:rPr>
              <a:t> </a:t>
            </a:r>
            <a:r>
              <a:rPr sz="1300" b="0" i="0" dirty="0" err="1">
                <a:solidFill>
                  <a:srgbClr val="F7F6F2"/>
                </a:solidFill>
                <a:latin typeface="Inter"/>
              </a:rPr>
              <a:t>chiffrée</a:t>
            </a:r>
            <a:r>
              <a:rPr sz="1300" b="0" i="0" dirty="0">
                <a:solidFill>
                  <a:srgbClr val="F7F6F2"/>
                </a:solidFill>
                <a:latin typeface="Inter"/>
              </a:rPr>
              <a:t> : « </a:t>
            </a:r>
            <a:r>
              <a:rPr sz="1300" b="0" i="0" dirty="0" err="1">
                <a:solidFill>
                  <a:srgbClr val="F7F6F2"/>
                </a:solidFill>
                <a:latin typeface="Inter"/>
              </a:rPr>
              <a:t>voici</a:t>
            </a:r>
            <a:r>
              <a:rPr sz="1300" b="0" i="0" dirty="0">
                <a:solidFill>
                  <a:srgbClr val="F7F6F2"/>
                </a:solidFill>
                <a:latin typeface="Inter"/>
              </a:rPr>
              <a:t> la </a:t>
            </a:r>
            <a:r>
              <a:rPr sz="1300" b="0" i="0" dirty="0" err="1">
                <a:solidFill>
                  <a:srgbClr val="F7F6F2"/>
                </a:solidFill>
                <a:latin typeface="Inter"/>
              </a:rPr>
              <a:t>qualité</a:t>
            </a:r>
            <a:r>
              <a:rPr sz="1300" b="0" i="0" dirty="0">
                <a:solidFill>
                  <a:srgbClr val="F7F6F2"/>
                </a:solidFill>
                <a:latin typeface="Inter"/>
              </a:rPr>
              <a:t> de </a:t>
            </a:r>
            <a:r>
              <a:rPr sz="1300" b="0" i="0" dirty="0" err="1">
                <a:solidFill>
                  <a:srgbClr val="F7F6F2"/>
                </a:solidFill>
                <a:latin typeface="Inter"/>
              </a:rPr>
              <a:t>ce</a:t>
            </a:r>
            <a:r>
              <a:rPr sz="1300" b="0" i="0" dirty="0">
                <a:solidFill>
                  <a:srgbClr val="F7F6F2"/>
                </a:solidFill>
                <a:latin typeface="Inter"/>
              </a:rPr>
              <a:t> qui nous est </a:t>
            </a:r>
            <a:r>
              <a:rPr sz="1300" b="0" i="0" dirty="0" err="1">
                <a:solidFill>
                  <a:srgbClr val="F7F6F2"/>
                </a:solidFill>
                <a:latin typeface="Inter"/>
              </a:rPr>
              <a:t>livré</a:t>
            </a:r>
            <a:r>
              <a:rPr sz="1300" b="0" i="0" dirty="0">
                <a:solidFill>
                  <a:srgbClr val="F7F6F2"/>
                </a:solidFill>
                <a:latin typeface="Inter"/>
              </a:rPr>
              <a:t> ».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82723612"/>
              </p:ext>
            </p:extLst>
          </p:nvPr>
        </p:nvGraphicFramePr>
        <p:xfrm>
          <a:off x="640080" y="2340251"/>
          <a:ext cx="10908792" cy="1490472"/>
        </p:xfrm>
        <a:graphic>
          <a:graphicData uri="http://schemas.openxmlformats.org/drawingml/2006/table">
            <a:tbl>
              <a:tblPr/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404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49631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01752">
                <a:tc>
                  <a:txBody>
                    <a:bodyPr/>
                    <a:lstStyle/>
                    <a:p>
                      <a:r>
                        <a:rPr sz="1000" b="1" i="0" spc="60" dirty="0">
                          <a:solidFill>
                            <a:srgbClr val="F5A623"/>
                          </a:solidFill>
                          <a:latin typeface="Inter"/>
                        </a:rPr>
                        <a:t>Date de </a:t>
                      </a:r>
                      <a:r>
                        <a:rPr sz="1000" b="1" i="0" spc="60" dirty="0" err="1">
                          <a:solidFill>
                            <a:srgbClr val="F5A623"/>
                          </a:solidFill>
                          <a:latin typeface="Inter"/>
                        </a:rPr>
                        <a:t>référence</a:t>
                      </a:r>
                      <a:endParaRPr sz="1000" b="1" i="0" spc="6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 dirty="0" err="1">
                          <a:solidFill>
                            <a:srgbClr val="F5A623"/>
                          </a:solidFill>
                          <a:latin typeface="Inter"/>
                        </a:rPr>
                        <a:t>Définition</a:t>
                      </a:r>
                      <a:r>
                        <a:rPr sz="1000" b="1" i="0" spc="60" dirty="0">
                          <a:solidFill>
                            <a:srgbClr val="F5A623"/>
                          </a:solidFill>
                          <a:latin typeface="Inter"/>
                        </a:rPr>
                        <a:t> de </a:t>
                      </a:r>
                      <a:r>
                        <a:rPr sz="1000" b="1" i="0" spc="60" dirty="0" err="1">
                          <a:solidFill>
                            <a:srgbClr val="F5A623"/>
                          </a:solidFill>
                          <a:latin typeface="Inter"/>
                        </a:rPr>
                        <a:t>l'âge</a:t>
                      </a:r>
                      <a:endParaRPr sz="1000" b="1" i="0" spc="6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Lignes en échec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Preuve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Date de début du contrat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+mn-lt"/>
                        </a:rPr>
                        <a:t>Âge révolu du souscripteur le jour de la signature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fr-MA" sz="1100" b="0" i="0" dirty="0">
                          <a:solidFill>
                            <a:srgbClr val="F5A623"/>
                          </a:solidFill>
                          <a:latin typeface="+mn-lt"/>
                        </a:rPr>
                        <a:t>301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+mn-lt"/>
                        </a:rPr>
                        <a:t>Contrats CT0000387 (A-22244, né le 1996-09-28, signé le 2014-09-01 à 17 ans)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Date du jour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+mn-lt"/>
                        </a:rPr>
                        <a:t>Âge calculé à la date de référence de l'audit (2026-10-01) au lieu de la date d'effet du contrat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MA" sz="1100" b="0" i="0" dirty="0">
                          <a:solidFill>
                            <a:srgbClr val="F5A623"/>
                          </a:solidFill>
                          <a:latin typeface="+mn-lt"/>
                        </a:rPr>
                        <a:t>157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+mn-lt"/>
                        </a:rPr>
                        <a:t>ex. CT0000387 affiche 30 ans au 2026-10-01 et passe à tort pour conforme alors qu'il a été signé à 17 ans.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34" name="Table 3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75541830"/>
              </p:ext>
            </p:extLst>
          </p:nvPr>
        </p:nvGraphicFramePr>
        <p:xfrm>
          <a:off x="640080" y="3941007"/>
          <a:ext cx="10908792" cy="2679192"/>
        </p:xfrm>
        <a:graphic>
          <a:graphicData uri="http://schemas.openxmlformats.org/drawingml/2006/table">
            <a:tbl>
              <a:tblPr/>
              <a:tblGrid>
                <a:gridCol w="1151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5367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7239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95351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01752">
                <a:tc>
                  <a:txBody>
                    <a:bodyPr/>
                    <a:lstStyle/>
                    <a:p>
                      <a:r>
                        <a:rPr sz="1000" b="1" i="0" spc="60" dirty="0">
                          <a:solidFill>
                            <a:srgbClr val="F5A623"/>
                          </a:solidFill>
                          <a:latin typeface="Inter"/>
                        </a:rPr>
                        <a:t>Dimension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 dirty="0" err="1">
                          <a:solidFill>
                            <a:srgbClr val="F5A623"/>
                          </a:solidFill>
                          <a:latin typeface="Inter"/>
                        </a:rPr>
                        <a:t>Règles</a:t>
                      </a:r>
                      <a:endParaRPr sz="1000" b="1" i="0" spc="6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Taux moyen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Règle la plus faible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 dirty="0">
                          <a:solidFill>
                            <a:srgbClr val="F5A623"/>
                          </a:solidFill>
                          <a:latin typeface="Inter"/>
                        </a:rPr>
                        <a:t>Constat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Unicité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+mn-lt"/>
                        </a:rPr>
                        <a:t>RQ-020 (4 tables : CRM &amp; CIF)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MA" sz="1100" b="0" i="0" dirty="0">
                          <a:solidFill>
                            <a:srgbClr val="F5A623"/>
                          </a:solidFill>
                          <a:latin typeface="+mn-lt"/>
                        </a:rPr>
                        <a:t>100,00 %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+mn-lt"/>
                        </a:rPr>
                        <a:t>Aucune (RQ-020 à 100 %, 0 échec)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+mn-lt"/>
                        </a:rPr>
                        <a:t>Les clés primaires techniques sont uniques et sans NULL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Complétude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+mn-lt"/>
                        </a:rPr>
                        <a:t>RQ-003 (+ RQ-021 réconciliation à 100 %)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MA" sz="1100" b="0" i="0" dirty="0">
                          <a:solidFill>
                            <a:srgbClr val="F5A623"/>
                          </a:solidFill>
                          <a:latin typeface="+mn-lt"/>
                        </a:rPr>
                        <a:t>88,00 % (100 % sur RQ-021)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+mn-lt"/>
                        </a:rPr>
                        <a:t>RQ-003 (87,998 %) — 5 989 échecs / 49 898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+mn-lt"/>
                        </a:rPr>
                        <a:t>2 % des souscripteurs CRM n'ont pas de téléphone exploitable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Validité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+mn-lt"/>
                        </a:rPr>
                        <a:t>RQ-002 (métier), RQ-005 (format), RQ-009, RQ-010 (domaine), RQ-007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+mn-lt"/>
                        </a:rPr>
                        <a:t>99,47 % (format 99,24 %, domaine 99,60 %, métier 99,70 %)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+mn-lt"/>
                        </a:rPr>
                        <a:t>RQ-005 (98,474 %) — 1 456 CP FR (ou RQ-007 à 96,950 %, 3 050 pays)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+mn-lt"/>
                        </a:rPr>
                        <a:t>1 456 codes postaux FR à 4 chiffres, 600 durées hors barème (RQ-010), 301 mineurs (RQ-002), 200 type personne invalides (RQ-009) et 3 050 pays non ISO (RQ-007)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Cohérence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+mn-lt"/>
                        </a:rPr>
                        <a:t>RQ-001 (+ RQ-015, RQ-016 statut, RQ-017 inter-tables)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+mn-lt"/>
                        </a:rPr>
                        <a:t>99,20 % (88,90 % à 98,80 % avec statut et inter-tables)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+mn-lt"/>
                        </a:rPr>
                        <a:t>RQ-001 (99,200 %) — 800 contrats (et RQ-016 à 98,086 % / RQ-017 à 98,800 %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+mn-lt"/>
                        </a:rPr>
                        <a:t>800 contrats ont </a:t>
                      </a:r>
                      <a:r>
                        <a:rPr lang="fr-FR" sz="1100" b="0" i="0" dirty="0" err="1">
                          <a:solidFill>
                            <a:srgbClr val="F5A623"/>
                          </a:solidFill>
                          <a:latin typeface="+mn-lt"/>
                        </a:rPr>
                        <a:t>date_fin</a:t>
                      </a:r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+mn-lt"/>
                        </a:rPr>
                        <a:t> &lt;= </a:t>
                      </a:r>
                      <a:r>
                        <a:rPr lang="fr-FR" sz="1100" b="0" i="0" dirty="0" err="1">
                          <a:solidFill>
                            <a:srgbClr val="F5A623"/>
                          </a:solidFill>
                          <a:latin typeface="+mn-lt"/>
                        </a:rPr>
                        <a:t>date_debut</a:t>
                      </a:r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+mn-lt"/>
                        </a:rPr>
                        <a:t>, 479 prospects ont un contrat (RQ-015), 955 souscripteurs n'en ont aucun (RQ-016) et 1 200 sinistres sont hors garantie (RQ-017)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AC78CB-25EC-72BE-F35C-23A9F0660A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6A0975-F1F7-F42E-2475-3768986977C1}"/>
              </a:ext>
            </a:extLst>
          </p:cNvPr>
          <p:cNvSpPr>
            <a:spLocks noGrp="1"/>
          </p:cNvSpPr>
          <p:nvPr>
            <p:ph type="title" idx="100"/>
          </p:nvPr>
        </p:nvSpPr>
        <p:spPr>
          <a:xfrm>
            <a:off x="640080" y="350827"/>
            <a:ext cx="10908792" cy="731520"/>
          </a:xfrm>
        </p:spPr>
        <p:txBody>
          <a:bodyPr lIns="0" tIns="0" rIns="0" bIns="0"/>
          <a:lstStyle/>
          <a:p>
            <a:r>
              <a:rPr sz="2800"/>
              <a:t>Âge à la bonne date et mesure de référence sur bronze</a:t>
            </a:r>
          </a:p>
        </p:txBody>
      </p:sp>
      <p:sp>
        <p:nvSpPr>
          <p:cNvPr id="25" name="Slide Number Placeholder 0">
            <a:extLst>
              <a:ext uri="{FF2B5EF4-FFF2-40B4-BE49-F238E27FC236}">
                <a16:creationId xmlns:a16="http://schemas.microsoft.com/office/drawing/2014/main" id="{8BDFBCBF-14D3-FF74-5DD5-AF622F356DFD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355805" y="6518748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18</a:t>
            </a:fld>
            <a:endParaRPr lang="en-US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E39D31F-CC8C-885A-5C37-FC2F7436E511}"/>
              </a:ext>
            </a:extLst>
          </p:cNvPr>
          <p:cNvSpPr txBox="1"/>
          <p:nvPr/>
        </p:nvSpPr>
        <p:spPr>
          <a:xfrm>
            <a:off x="640080" y="103939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 dirty="0">
                <a:solidFill>
                  <a:srgbClr val="F5A623"/>
                </a:solidFill>
                <a:latin typeface="Inter"/>
              </a:rPr>
              <a:t>S2 · US-13, 15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3249CE49-403A-6534-4F7A-4C9254AF5D90}"/>
              </a:ext>
            </a:extLst>
          </p:cNvPr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RÈGLES ET TESTS · 20 %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7985784-5C1E-0EB2-2B90-1FD8C80CDF92}"/>
              </a:ext>
            </a:extLst>
          </p:cNvPr>
          <p:cNvSpPr txBox="1"/>
          <p:nvPr/>
        </p:nvSpPr>
        <p:spPr>
          <a:xfrm>
            <a:off x="640080" y="1082347"/>
            <a:ext cx="1090879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 dirty="0">
                <a:solidFill>
                  <a:srgbClr val="F5A623"/>
                </a:solidFill>
                <a:latin typeface="Inter"/>
              </a:rPr>
              <a:t>PHRASE DE SYNTHÈSE</a:t>
            </a:r>
          </a:p>
        </p:txBody>
      </p:sp>
      <p:sp>
        <p:nvSpPr>
          <p:cNvPr id="36" name="Zone à rédiger">
            <a:extLst>
              <a:ext uri="{FF2B5EF4-FFF2-40B4-BE49-F238E27FC236}">
                <a16:creationId xmlns:a16="http://schemas.microsoft.com/office/drawing/2014/main" id="{D1C5D678-E5FB-0BA1-4C7F-1807C009E3E6}"/>
              </a:ext>
            </a:extLst>
          </p:cNvPr>
          <p:cNvSpPr/>
          <p:nvPr/>
        </p:nvSpPr>
        <p:spPr>
          <a:xfrm>
            <a:off x="640080" y="1521558"/>
            <a:ext cx="10908792" cy="1323136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r>
              <a:rPr lang="fr-FR" sz="1200" i="1" dirty="0">
                <a:solidFill>
                  <a:srgbClr val="8E99A4"/>
                </a:solidFill>
              </a:rPr>
              <a:t>sur le lot L-2026-10-01 ingéré sans perte en couche Bronze (RQ-020, RQ-021 et RQ-022 à 100 %), la donnée brute est impropre à une migration directe car 9 règles bloquantes échouent — totalisant 3 050 pays non conformes (RQ-007), 1 500 clés étrangères de contrats orphelines (RQ-011/012/013), 1 200 sinistres hors période de garantie (RQ-017), 800 contrats à dates incohérentes (RQ-001), 600 durées hors catalogue (RQ-010), 479 prospects titulaires d'un contrat (RQ-015), 301 souscripteurs mineurs à la signature (RQ-002) et 200 statuts hors domaine (RQ-009) — auxquels s'ajoutent 5 989 souscripteurs sans téléphone (RQ-003, 88,0 %) et 1 456 codes postaux français tronqués (RQ-005), rendant indispensable le passage par la standardisation et la quarantaine en couche Silver.</a:t>
            </a:r>
            <a:endParaRPr sz="1200" i="1" dirty="0">
              <a:solidFill>
                <a:srgbClr val="8E99A4"/>
              </a:solidFill>
              <a:latin typeface="Inter"/>
            </a:endParaRPr>
          </a:p>
        </p:txBody>
      </p:sp>
    </p:spTree>
    <p:extLst>
      <p:ext uri="{BB962C8B-B14F-4D97-AF65-F5344CB8AC3E}">
        <p14:creationId xmlns:p14="http://schemas.microsoft.com/office/powerpoint/2010/main" val="34139076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Bilan de S2 : critères de fin et difficultés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19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S2 · BILAN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RÈGLES ET TESTS · 20 %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071067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071067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5681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Chaque critère coché est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démontré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par une page de ce livrable ou par un fichier du dépôt.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Les difficultés sont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chiffrées en temps perdu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; un point de reprise utilisé est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déclaré</a:t>
            </a:r>
            <a:r>
              <a:rPr sz="1300" b="0" i="0">
                <a:solidFill>
                  <a:srgbClr val="F7F6F2"/>
                </a:solidFill>
                <a:latin typeface="Inter"/>
              </a:rPr>
              <a:t>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" y="2579827"/>
            <a:ext cx="5120640" cy="3546652"/>
          </a:xfrm>
          <a:prstGeom prst="rect">
            <a:avLst/>
          </a:prstGeom>
          <a:solidFill>
            <a:srgbClr val="1C2E3D"/>
          </a:solidFill>
          <a:ln w="9525">
            <a:solidFill>
              <a:srgbClr val="2A41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4" name="Icône ok" descr="Icône ok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2735275"/>
            <a:ext cx="310896" cy="310896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1289304" y="2753563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300" b="1" i="0" spc="120">
                <a:solidFill>
                  <a:srgbClr val="F7F6F2"/>
                </a:solidFill>
                <a:latin typeface="Inter"/>
              </a:rPr>
              <a:t>CRITÈRES DE FIN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68680" y="3219907"/>
            <a:ext cx="4663440" cy="28151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5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250" b="0" i="0">
                <a:solidFill>
                  <a:srgbClr val="F7F6F2"/>
                </a:solidFill>
                <a:latin typeface="Inter"/>
              </a:rPr>
              <a:t> Chaque expectation porte l'identifiant de sa règle.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5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250" b="0" i="0">
                <a:solidFill>
                  <a:srgbClr val="F7F6F2"/>
                </a:solidFill>
                <a:latin typeface="Inter"/>
              </a:rPr>
              <a:t> La même suite se relance sur une autre base ou table sans modification de code.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5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250" b="0" i="0">
                <a:solidFill>
                  <a:srgbClr val="F7F6F2"/>
                </a:solidFill>
                <a:latin typeface="Inter"/>
              </a:rPr>
              <a:t> La mesure de référence est dans dq.dq_history (lot, couche, testées, échecs).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5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250" b="0" i="0">
                <a:solidFill>
                  <a:srgbClr val="F7F6F2"/>
                </a:solidFill>
                <a:latin typeface="Inter"/>
              </a:rPr>
              <a:t> Les règles s'exécutent d'un seul geste (notebook relançable de bout en bout).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" y="5852160"/>
            <a:ext cx="1090879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0" i="1">
                <a:solidFill>
                  <a:srgbClr val="8E99A4"/>
                </a:solidFill>
                <a:latin typeface="Inter"/>
              </a:rPr>
              <a:t>Remplacez [ ] par [x] une fois le critère démontré.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943600" y="2579827"/>
            <a:ext cx="560527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DIFFICULTÉS RENCONTRÉES ET TEMPS PERDU</a:t>
            </a:r>
          </a:p>
        </p:txBody>
      </p:sp>
      <p:sp>
        <p:nvSpPr>
          <p:cNvPr id="39" name="Zone à rédiger"/>
          <p:cNvSpPr/>
          <p:nvPr/>
        </p:nvSpPr>
        <p:spPr>
          <a:xfrm>
            <a:off x="5943600" y="2872435"/>
            <a:ext cx="5605272" cy="1170432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[Rédigez ici]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943600" y="4180027"/>
            <a:ext cx="560527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POINT DE REPRISE UTILISÉ (OUI / NON, LEQUEL)</a:t>
            </a:r>
          </a:p>
        </p:txBody>
      </p:sp>
      <p:sp>
        <p:nvSpPr>
          <p:cNvPr id="41" name="Zone à rédiger"/>
          <p:cNvSpPr/>
          <p:nvPr/>
        </p:nvSpPr>
        <p:spPr>
          <a:xfrm>
            <a:off x="5943600" y="4472635"/>
            <a:ext cx="5605272" cy="621792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[Rédigez ici]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943600" y="5231587"/>
            <a:ext cx="560527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CE QUE NOUS FERIONS AUTREMENT</a:t>
            </a:r>
          </a:p>
        </p:txBody>
      </p:sp>
      <p:sp>
        <p:nvSpPr>
          <p:cNvPr id="43" name="Zone à rédiger"/>
          <p:cNvSpPr/>
          <p:nvPr/>
        </p:nvSpPr>
        <p:spPr>
          <a:xfrm>
            <a:off x="5943600" y="5524195"/>
            <a:ext cx="5605272" cy="602284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[Rédigez ici]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r>
              <a:t>03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3"/>
          </p:nvPr>
        </p:nvSpPr>
        <p:spPr/>
        <p:txBody>
          <a:bodyPr/>
          <a:lstStyle/>
          <a:p>
            <a:r>
              <a:t>Intégrité et portes en SodaCL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20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4892040"/>
            <a:ext cx="640080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600" b="0" i="0">
                <a:solidFill>
                  <a:srgbClr val="B8C0C8"/>
                </a:solidFill>
                <a:latin typeface="Inter"/>
              </a:rPr>
              <a:t>Séance 3 · Soda Core · US-12, 14, 16 à 20. Mêmes contrôles en SodaCL, code retour qui peut fermer une porte, intégrité entre tables.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Checks Soda : une source de données par couche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21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S3 · US-12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RÈGLES ET TESTS · 20 %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071067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071067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5681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Chaque contrôle porte l'identifiant de sa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règle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et la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couche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mesurée.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code retour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du scan : à quelle condition devient-il non nul ? Distinguez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avertissement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et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échec</a:t>
            </a:r>
            <a:r>
              <a:rPr sz="1300" b="0" i="0">
                <a:solidFill>
                  <a:srgbClr val="F7F6F2"/>
                </a:solidFill>
                <a:latin typeface="Inter"/>
              </a:rPr>
              <a:t>.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640080" y="2534107"/>
          <a:ext cx="10908791" cy="2084832"/>
        </p:xfrm>
        <a:graphic>
          <a:graphicData uri="http://schemas.openxmlformats.org/drawingml/2006/table">
            <a:tbl>
              <a:tblPr/>
              <a:tblGrid>
                <a:gridCol w="1005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85623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Règle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Fichier de checks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Couche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Résultat (PASSED, WARN, FAILED)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Valeur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Code retour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640080" y="4756099"/>
            <a:ext cx="534924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CODE RETOUR ET AVERTISSEMENTS</a:t>
            </a:r>
          </a:p>
        </p:txBody>
      </p:sp>
      <p:sp>
        <p:nvSpPr>
          <p:cNvPr id="35" name="Zone à rédiger"/>
          <p:cNvSpPr/>
          <p:nvPr/>
        </p:nvSpPr>
        <p:spPr>
          <a:xfrm>
            <a:off x="640080" y="5048707"/>
            <a:ext cx="5349240" cy="1077772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[Rédigez ici]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199632" y="4756099"/>
            <a:ext cx="534924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COHÉRENCE AVEC GREAT EXPECTATIONS (S2)</a:t>
            </a:r>
          </a:p>
        </p:txBody>
      </p:sp>
      <p:sp>
        <p:nvSpPr>
          <p:cNvPr id="37" name="Zone à rédiger"/>
          <p:cNvSpPr/>
          <p:nvPr/>
        </p:nvSpPr>
        <p:spPr>
          <a:xfrm>
            <a:off x="6199632" y="5048707"/>
            <a:ext cx="5349240" cy="1077772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[Écarts et explication]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Bilan d'intégrité et valeur sentinelle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22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S3 · US-16, 17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RÈGLES ET TESTS · 20 %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071067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071067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5681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nombre d'orphelins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par relation, avec une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conclusion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pour chacune (anomalie, sentinelle, normal).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La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valeur sentinelle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de assure_id : contrôle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avant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et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après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, écart chiffré,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convention écrite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.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640080" y="2534107"/>
          <a:ext cx="10908792" cy="1508760"/>
        </p:xfrm>
        <a:graphic>
          <a:graphicData uri="http://schemas.openxmlformats.org/drawingml/2006/table">
            <a:tbl>
              <a:tblPr/>
              <a:tblGrid>
                <a:gridCol w="3657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13639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01752"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Relation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Testées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Orphelins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Taux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Conclusion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contrat.souscripteur_id → client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contrat.assure_id → client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contrat.code_type → type_contrat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sinistre.contrat_id → contrat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640080" y="4152595"/>
          <a:ext cx="10908792" cy="905256"/>
        </p:xfrm>
        <a:graphic>
          <a:graphicData uri="http://schemas.openxmlformats.org/drawingml/2006/table">
            <a:tbl>
              <a:tblPr/>
              <a:tblGrid>
                <a:gridCol w="4572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14223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01752"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Contrôle sur assure_id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Orphelins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Preuve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Avant traitement de la sentinelle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Après traitement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35" name="TextBox 34"/>
          <p:cNvSpPr txBox="1"/>
          <p:nvPr/>
        </p:nvSpPr>
        <p:spPr>
          <a:xfrm>
            <a:off x="640080" y="5167579"/>
            <a:ext cx="1090879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CONVENTION (QUI TRAITE LA SENTINELLE, DANS QUELLE COUCHE) ET POURQUOI LE PREMIER CONTRÔLE EST TROMPEUR</a:t>
            </a:r>
          </a:p>
        </p:txBody>
      </p:sp>
      <p:sp>
        <p:nvSpPr>
          <p:cNvPr id="36" name="Zone à rédiger"/>
          <p:cNvSpPr/>
          <p:nvPr/>
        </p:nvSpPr>
        <p:spPr>
          <a:xfrm>
            <a:off x="640080" y="5460187"/>
            <a:ext cx="10908792" cy="666292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[Rédigez ici]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Statuts, garantie et définition unique du client actif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23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S3 · US-18, 19, 14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RÈGLES ET TESTS · 20 %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285036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285036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7821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1" i="0">
                <a:solidFill>
                  <a:srgbClr val="F5A623"/>
                </a:solidFill>
                <a:latin typeface="Inter"/>
              </a:rPr>
              <a:t>RQ-015, 016, 017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mesurées, avec une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règle de correction du statut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proposée au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Data Owner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(reportée au journal des décisions).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La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requête unique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du client actif : les trois directions obtiennent le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même chiffre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.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640080" y="2748076"/>
          <a:ext cx="10908792" cy="1389888"/>
        </p:xfrm>
        <a:graphic>
          <a:graphicData uri="http://schemas.openxmlformats.org/drawingml/2006/table">
            <a:tbl>
              <a:tblPr/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13055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Règle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Couche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Testées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Échecs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Taux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RQ-015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RQ-016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RQ-017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640080" y="4275124"/>
          <a:ext cx="5669280" cy="1389888"/>
        </p:xfrm>
        <a:graphic>
          <a:graphicData uri="http://schemas.openxmlformats.org/drawingml/2006/table">
            <a:tbl>
              <a:tblPr/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26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Direction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Chiffre avec la requête unique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Commerciale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Sinistres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Risques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5" name="TextBox 34"/>
          <p:cNvSpPr txBox="1"/>
          <p:nvPr/>
        </p:nvSpPr>
        <p:spPr>
          <a:xfrm>
            <a:off x="6583680" y="4275124"/>
            <a:ext cx="496519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RÈGLE DE CORRECTION DU STATUT PROPOSÉE</a:t>
            </a:r>
          </a:p>
        </p:txBody>
      </p:sp>
      <p:sp>
        <p:nvSpPr>
          <p:cNvPr id="36" name="Zone à rédiger"/>
          <p:cNvSpPr/>
          <p:nvPr/>
        </p:nvSpPr>
        <p:spPr>
          <a:xfrm>
            <a:off x="6583680" y="4567732"/>
            <a:ext cx="4965192" cy="1558747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[Texte, rôle destinataire, date]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" y="5738164"/>
            <a:ext cx="1090879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0" i="1">
                <a:solidFill>
                  <a:srgbClr val="8E99A4"/>
                </a:solidFill>
                <a:latin typeface="Inter"/>
              </a:rPr>
              <a:t>Chemin de la requête du client actif et contrôle RQ-018 : à indiquer dans le dépôt.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Bilan de S3 : critères de fin et difficultés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24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S3 · BILAN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RÈGLES ET TESTS · 20 %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071067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071067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5681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Chaque critère coché est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démontré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par une page de ce livrable ou par un fichier du dépôt.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Les difficultés sont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chiffrées en temps perdu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; un point de reprise utilisé est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déclaré</a:t>
            </a:r>
            <a:r>
              <a:rPr sz="1300" b="0" i="0">
                <a:solidFill>
                  <a:srgbClr val="F7F6F2"/>
                </a:solidFill>
                <a:latin typeface="Inter"/>
              </a:rPr>
              <a:t>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" y="2579827"/>
            <a:ext cx="5120640" cy="3546652"/>
          </a:xfrm>
          <a:prstGeom prst="rect">
            <a:avLst/>
          </a:prstGeom>
          <a:solidFill>
            <a:srgbClr val="1C2E3D"/>
          </a:solidFill>
          <a:ln w="9525">
            <a:solidFill>
              <a:srgbClr val="2A41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4" name="Icône ok" descr="Icône ok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2735275"/>
            <a:ext cx="310896" cy="310896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1289304" y="2753563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300" b="1" i="0" spc="120">
                <a:solidFill>
                  <a:srgbClr val="F7F6F2"/>
                </a:solidFill>
                <a:latin typeface="Inter"/>
              </a:rPr>
              <a:t>CRITÈRES DE FIN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68680" y="3219907"/>
            <a:ext cx="4663440" cy="28151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5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250" b="0" i="0">
                <a:solidFill>
                  <a:srgbClr val="F7F6F2"/>
                </a:solidFill>
                <a:latin typeface="Inter"/>
              </a:rPr>
              <a:t> Un scan renvoie un code retour non nul quand une règle bloquante échoue.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5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250" b="0" i="0">
                <a:solidFill>
                  <a:srgbClr val="F7F6F2"/>
                </a:solidFill>
                <a:latin typeface="Inter"/>
              </a:rPr>
              <a:t> Chaque contrôle porte l'identifiant de sa règle et la couche mesurée.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5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250" b="0" i="0">
                <a:solidFill>
                  <a:srgbClr val="F7F6F2"/>
                </a:solidFill>
                <a:latin typeface="Inter"/>
              </a:rPr>
              <a:t> Les trois directions obtiennent le même chiffre avec la requête unique.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5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250" b="0" i="0">
                <a:solidFill>
                  <a:srgbClr val="F7F6F2"/>
                </a:solidFill>
                <a:latin typeface="Inter"/>
              </a:rPr>
              <a:t> La valeur sentinelle est expliquée et traitée.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" y="5852160"/>
            <a:ext cx="1090879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0" i="1">
                <a:solidFill>
                  <a:srgbClr val="8E99A4"/>
                </a:solidFill>
                <a:latin typeface="Inter"/>
              </a:rPr>
              <a:t>Remplacez [ ] par [x] une fois le critère démontré.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943600" y="2579827"/>
            <a:ext cx="560527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DIFFICULTÉS RENCONTRÉES ET TEMPS PERDU</a:t>
            </a:r>
          </a:p>
        </p:txBody>
      </p:sp>
      <p:sp>
        <p:nvSpPr>
          <p:cNvPr id="39" name="Zone à rédiger"/>
          <p:cNvSpPr/>
          <p:nvPr/>
        </p:nvSpPr>
        <p:spPr>
          <a:xfrm>
            <a:off x="5943600" y="2872435"/>
            <a:ext cx="5605272" cy="1170432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[Rédigez ici]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943600" y="4180027"/>
            <a:ext cx="560527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POINT DE REPRISE UTILISÉ (OUI / NON, LEQUEL)</a:t>
            </a:r>
          </a:p>
        </p:txBody>
      </p:sp>
      <p:sp>
        <p:nvSpPr>
          <p:cNvPr id="41" name="Zone à rédiger"/>
          <p:cNvSpPr/>
          <p:nvPr/>
        </p:nvSpPr>
        <p:spPr>
          <a:xfrm>
            <a:off x="5943600" y="4472635"/>
            <a:ext cx="5605272" cy="621792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[Rédigez ici]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943600" y="5231587"/>
            <a:ext cx="560527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CE QUE NOUS FERIONS AUTREMENT</a:t>
            </a:r>
          </a:p>
        </p:txBody>
      </p:sp>
      <p:sp>
        <p:nvSpPr>
          <p:cNvPr id="43" name="Zone à rédiger"/>
          <p:cNvSpPr/>
          <p:nvPr/>
        </p:nvSpPr>
        <p:spPr>
          <a:xfrm>
            <a:off x="5943600" y="5524195"/>
            <a:ext cx="5605272" cy="602284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[Rédigez ici]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r>
              <a:t>04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3"/>
          </p:nvPr>
        </p:nvSpPr>
        <p:spPr/>
        <p:txBody>
          <a:bodyPr/>
          <a:lstStyle/>
          <a:p>
            <a:r>
              <a:t>Construire silver puis gold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25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4892040"/>
            <a:ext cx="640080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600" b="0" i="0">
                <a:solidFill>
                  <a:srgbClr val="B8C0C8"/>
                </a:solidFill>
                <a:latin typeface="Inter"/>
              </a:rPr>
              <a:t>Séance 4 · PySpark · US-21 à 28. Standardiser, mettre en quarantaine, re-mesurer, dédoublonner, construire gold, retracer.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Silver : traitements et quarantaine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26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S4 · US-21, 22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SILVER, GOLD ET TRAÇABILITÉ · 25 %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323136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323136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8202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Pour chaque traitement : les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lignes modifiées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et le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garde-fou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(ce qu'il ne doit pas faire).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L'invariant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silver + rejets = bronze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,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table par table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, avec l'écart.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Une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preuve d'idempotence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: le traitement relancé deux fois donne le même résultat.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640080" y="2786176"/>
          <a:ext cx="10908792" cy="1389888"/>
        </p:xfrm>
        <a:graphic>
          <a:graphicData uri="http://schemas.openxmlformats.org/drawingml/2006/table">
            <a:tbl>
              <a:tblPr/>
              <a:tblGrid>
                <a:gridCol w="2926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32511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Traitement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Table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Lignes modifiées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Garde-fou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640080" y="4313224"/>
          <a:ext cx="10908792" cy="1737360"/>
        </p:xfrm>
        <a:graphic>
          <a:graphicData uri="http://schemas.openxmlformats.org/drawingml/2006/table">
            <a:tbl>
              <a:tblPr/>
              <a:tblGrid>
                <a:gridCol w="2926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94767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Table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Lignes bronze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Lignes silver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Lignes rejetées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Écart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client (crm)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client (cif)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contrat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sinistre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35" name="TextBox 34"/>
          <p:cNvSpPr txBox="1"/>
          <p:nvPr/>
        </p:nvSpPr>
        <p:spPr>
          <a:xfrm>
            <a:off x="640080" y="6123736"/>
            <a:ext cx="1090879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0" i="1">
                <a:solidFill>
                  <a:srgbClr val="8E99A4"/>
                </a:solidFill>
                <a:latin typeface="Inter"/>
              </a:rPr>
              <a:t>Preuve d'idempotence et chemins des scripts : à indiquer dans le dépôt.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Rejets par règle et porte S : bronze contre silver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27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S4 · US-22, 23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SILVER, GOLD ET TRAÇABILITÉ · 25 %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323136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323136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8202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Les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rejets par règle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(dq.rejets) avec la raison métier.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Pour chaque règle : taux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bronze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, taux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silver</a:t>
            </a:r>
            <a:r>
              <a:rPr sz="1300" b="0" i="0">
                <a:solidFill>
                  <a:srgbClr val="F7F6F2"/>
                </a:solidFill>
                <a:latin typeface="Inter"/>
              </a:rPr>
              <a:t>, écart, et l'</a:t>
            </a:r>
            <a:r>
              <a:rPr sz="1300" b="1" i="0">
                <a:solidFill>
                  <a:srgbClr val="F5A623"/>
                </a:solidFill>
                <a:latin typeface="Inter"/>
              </a:rPr>
              <a:t>explication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de toute baisse.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Les règles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bloquantes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de la porte S : conformes sur silver, ou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pourquoi pas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.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640080" y="2786176"/>
          <a:ext cx="10908792" cy="987552"/>
        </p:xfrm>
        <a:graphic>
          <a:graphicData uri="http://schemas.openxmlformats.org/drawingml/2006/table">
            <a:tbl>
              <a:tblPr/>
              <a:tblGrid>
                <a:gridCol w="1188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87959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Règle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Table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Lignes rejetées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Raison métier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640080" y="3910888"/>
          <a:ext cx="10908792" cy="1975104"/>
        </p:xfrm>
        <a:graphic>
          <a:graphicData uri="http://schemas.openxmlformats.org/drawingml/2006/table">
            <a:tbl>
              <a:tblPr/>
              <a:tblGrid>
                <a:gridCol w="1097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32511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Règle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Sévérité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Taux bronze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Taux silver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Écart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Explication de l'écart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Dédoublonnage : paramètres et mesures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28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S4 · US-24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SILVER, GOLD ET TRAÇABILITÉ · 25 %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071067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071067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5681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Les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paramètres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retenus (normalisation, clés de blocage, similarité, seuils) avec leur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justification</a:t>
            </a:r>
            <a:r>
              <a:rPr sz="1300" b="0" i="0">
                <a:solidFill>
                  <a:srgbClr val="F7F6F2"/>
                </a:solidFill>
                <a:latin typeface="Inter"/>
              </a:rPr>
              <a:t>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1" i="0">
                <a:solidFill>
                  <a:srgbClr val="F5A623"/>
                </a:solidFill>
                <a:latin typeface="Inter"/>
              </a:rPr>
              <a:t>Précision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et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rappel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mesurés sur les 200 paires étiquetées ; nombre d'</a:t>
            </a:r>
            <a:r>
              <a:rPr sz="1300" b="1" i="0">
                <a:solidFill>
                  <a:srgbClr val="F5A623"/>
                </a:solidFill>
                <a:latin typeface="Inter"/>
              </a:rPr>
              <a:t>identités distinctes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obtenu.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640080" y="2534107"/>
          <a:ext cx="10908792" cy="1755648"/>
        </p:xfrm>
        <a:graphic>
          <a:graphicData uri="http://schemas.openxmlformats.org/drawingml/2006/table">
            <a:tbl>
              <a:tblPr/>
              <a:tblGrid>
                <a:gridCol w="3291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26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69087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Paramètre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Valeur retenue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Justification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Normalisation avant comparaison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Clé(s) de blocage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Mesure de similarité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Seuil de fusion automatique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Seuil de la zone de revue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640080" y="4399483"/>
          <a:ext cx="8229600" cy="1700784"/>
        </p:xfrm>
        <a:graphic>
          <a:graphicData uri="http://schemas.openxmlformats.org/drawingml/2006/table">
            <a:tbl>
              <a:tblPr/>
              <a:tblGrid>
                <a:gridCol w="5486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83464"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Mesure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Valeur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Groupes de doublons trouvés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Paires fusionnées automatiquement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Paires en zone de revue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Précision / rappel sur les 200 paires étiquetées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Identités distinctes obtenues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35" name="TextBox 34"/>
          <p:cNvSpPr txBox="1"/>
          <p:nvPr/>
        </p:nvSpPr>
        <p:spPr>
          <a:xfrm>
            <a:off x="9052560" y="4399483"/>
            <a:ext cx="249631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ZONE DE REVUE</a:t>
            </a:r>
          </a:p>
        </p:txBody>
      </p:sp>
      <p:sp>
        <p:nvSpPr>
          <p:cNvPr id="36" name="Zone à rédiger"/>
          <p:cNvSpPr/>
          <p:nvPr/>
        </p:nvSpPr>
        <p:spPr>
          <a:xfrm>
            <a:off x="9052560" y="4692091"/>
            <a:ext cx="2496312" cy="1434388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[Règle de décision proposée]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Golden record de la Société Meunier et règle de survie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29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S4 · US-25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SILVER, GOLD ET TRAÇABILITÉ · 25 %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071067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071067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5681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1" i="0">
                <a:solidFill>
                  <a:srgbClr val="F5A623"/>
                </a:solidFill>
                <a:latin typeface="Inter"/>
              </a:rPr>
              <a:t>Un seul CLI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pour les quatre identifiants de la Société Meunier.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Une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règle de survie par attribut</a:t>
            </a:r>
            <a:r>
              <a:rPr sz="1300" b="0" i="0">
                <a:solidFill>
                  <a:srgbClr val="F7F6F2"/>
                </a:solidFill>
                <a:latin typeface="Inter"/>
              </a:rPr>
              <a:t>, et un cas où elle se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trompe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.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640080" y="2534107"/>
          <a:ext cx="6949440" cy="1508760"/>
        </p:xfrm>
        <a:graphic>
          <a:graphicData uri="http://schemas.openxmlformats.org/drawingml/2006/table">
            <a:tbl>
              <a:tblPr/>
              <a:tblGrid>
                <a:gridCol w="2926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01752"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Identifiant source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Système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CLI attribué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640080" y="4225747"/>
          <a:ext cx="10908791" cy="1600200"/>
        </p:xfrm>
        <a:graphic>
          <a:graphicData uri="http://schemas.openxmlformats.org/drawingml/2006/table">
            <a:tbl>
              <a:tblPr/>
              <a:tblGrid>
                <a:gridCol w="1645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4903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50215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20040"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Attribut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Source retenue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Règle (priorité, plus récent, non nul)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Cas où la règle se trompe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Nom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Adresse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Téléphone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Courriel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35" name="TextBox 34"/>
          <p:cNvSpPr txBox="1"/>
          <p:nvPr/>
        </p:nvSpPr>
        <p:spPr>
          <a:xfrm>
            <a:off x="640080" y="5897880"/>
            <a:ext cx="1090879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0" i="1">
                <a:solidFill>
                  <a:srgbClr val="8E99A4"/>
                </a:solidFill>
                <a:latin typeface="Inter"/>
              </a:rPr>
              <a:t>Reportez la règle de survie dans le journal des décisions, avec le rôle qui l'a décidée.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Gold : tables cohérentes et client actif unique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30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S4 · US-27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SILVER, GOLD ET TRAÇABILITÉ · 25 %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323136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323136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8202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Les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lignes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de chaque table gold, les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lignes écartées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à la porte G et les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règles responsables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1" i="0">
                <a:solidFill>
                  <a:srgbClr val="F5A623"/>
                </a:solidFill>
                <a:latin typeface="Inter"/>
              </a:rPr>
              <a:t>Aucun orphelin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dans gold ; client actif publié par la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vue unique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v_client_actif.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L'</a:t>
            </a:r>
            <a:r>
              <a:rPr sz="1300" b="1" i="0">
                <a:solidFill>
                  <a:srgbClr val="F5A623"/>
                </a:solidFill>
                <a:latin typeface="Inter"/>
              </a:rPr>
              <a:t>effet de la quarantaine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en aval : un client écarté laisse-t-il des contrats orphelins ?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640080" y="2786176"/>
          <a:ext cx="10908792" cy="1737360"/>
        </p:xfrm>
        <a:graphic>
          <a:graphicData uri="http://schemas.openxmlformats.org/drawingml/2006/table">
            <a:tbl>
              <a:tblPr/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95935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Table gold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Lignes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Lignes écartées (porte G)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Règles responsables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client_unique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xref_identifiants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contrat_certifie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sinistre_certifie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640080" y="4660696"/>
            <a:ext cx="534924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ORPHELINS ET CLIENT ACTIF PUBLIÉ</a:t>
            </a:r>
          </a:p>
        </p:txBody>
      </p:sp>
      <p:sp>
        <p:nvSpPr>
          <p:cNvPr id="35" name="Zone à rédiger"/>
          <p:cNvSpPr/>
          <p:nvPr/>
        </p:nvSpPr>
        <p:spPr>
          <a:xfrm>
            <a:off x="640080" y="4953304"/>
            <a:ext cx="5349240" cy="1173175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[Chiffres, écart avec CD-001]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199632" y="4660696"/>
            <a:ext cx="534924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EFFET DE LA QUARANTAINE SUR L'INTÉGRITÉ EN AVAL</a:t>
            </a:r>
          </a:p>
        </p:txBody>
      </p:sp>
      <p:sp>
        <p:nvSpPr>
          <p:cNvPr id="37" name="Zone à rédiger"/>
          <p:cNvSpPr/>
          <p:nvPr/>
        </p:nvSpPr>
        <p:spPr>
          <a:xfrm>
            <a:off x="6199632" y="4953304"/>
            <a:ext cx="5349240" cy="1173175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[Rédigez ici]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Retracer trois données de gold jusqu'à la source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31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S4 · US-28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SILVER, GOLD ET TRAÇABILITÉ · 25 %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285036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285036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7821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Pour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chacune des trois données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: la valeur dans gold, les identifiants de ligne silver et bronze (avec le lot), la source (table, clé).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La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requête de traçabilité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est dans le dépôt.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640080" y="2793796"/>
          <a:ext cx="10908792" cy="1828800"/>
        </p:xfrm>
        <a:graphic>
          <a:graphicData uri="http://schemas.openxmlformats.org/drawingml/2006/table">
            <a:tbl>
              <a:tblPr/>
              <a:tblGrid>
                <a:gridCol w="2560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94767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Donnée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Gold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Silver (identifiants)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Bronze (identifiants, lot)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Source (table, clé)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Société Meunier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Un code postal à zéro initial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Une adresse de sinistre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640080" y="5852160"/>
            <a:ext cx="10908792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0" i="0">
                <a:solidFill>
                  <a:srgbClr val="B8C0C8"/>
                </a:solidFill>
                <a:latin typeface="Inter"/>
              </a:rPr>
              <a:t>Preuve (chemin du notebook, du fichier ou de la requête dans le dépôt) : </a:t>
            </a:r>
            <a:r>
              <a:rPr sz="1200" b="1" i="0">
                <a:solidFill>
                  <a:srgbClr val="F5A623"/>
                </a:solidFill>
                <a:latin typeface="Inter"/>
              </a:rPr>
              <a:t>…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Bilan de S4 : critères de fin et difficultés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32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S4 · BILAN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SILVER, GOLD ET TRAÇABILITÉ · 25 %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071067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071067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5681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Chaque critère coché est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démontré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par une page de ce livrable ou par un fichier du dépôt.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Les difficultés sont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chiffrées en temps perdu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; un point de reprise utilisé est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déclaré</a:t>
            </a:r>
            <a:r>
              <a:rPr sz="1300" b="0" i="0">
                <a:solidFill>
                  <a:srgbClr val="F7F6F2"/>
                </a:solidFill>
                <a:latin typeface="Inter"/>
              </a:rPr>
              <a:t>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" y="2579827"/>
            <a:ext cx="5120640" cy="3546652"/>
          </a:xfrm>
          <a:prstGeom prst="rect">
            <a:avLst/>
          </a:prstGeom>
          <a:solidFill>
            <a:srgbClr val="1C2E3D"/>
          </a:solidFill>
          <a:ln w="9525">
            <a:solidFill>
              <a:srgbClr val="2A41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4" name="Icône ok" descr="Icône ok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2735275"/>
            <a:ext cx="310896" cy="310896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1289304" y="2753563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300" b="1" i="0" spc="120">
                <a:solidFill>
                  <a:srgbClr val="F7F6F2"/>
                </a:solidFill>
                <a:latin typeface="Inter"/>
              </a:rPr>
              <a:t>CRITÈRES DE FIN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68680" y="3219907"/>
            <a:ext cx="4663440" cy="28151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5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250" b="0" i="0">
                <a:solidFill>
                  <a:srgbClr val="F7F6F2"/>
                </a:solidFill>
                <a:latin typeface="Inter"/>
              </a:rPr>
              <a:t> Pour chaque table, silver + rejets = bronze, sans suppression silencieuse.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5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250" b="0" i="0">
                <a:solidFill>
                  <a:srgbClr val="F7F6F2"/>
                </a:solidFill>
                <a:latin typeface="Inter"/>
              </a:rPr>
              <a:t> Relancer le traitement deux fois donne le même résultat.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5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250" b="0" i="0">
                <a:solidFill>
                  <a:srgbClr val="F7F6F2"/>
                </a:solidFill>
                <a:latin typeface="Inter"/>
              </a:rPr>
              <a:t> Les règles bloquantes de la porte S sont conformes sur silver.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5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250" b="0" i="0">
                <a:solidFill>
                  <a:srgbClr val="F7F6F2"/>
                </a:solidFill>
                <a:latin typeface="Inter"/>
              </a:rPr>
              <a:t> Le gold ne contient aucun orphelin ; le client actif est publié par une seule vue.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5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250" b="0" i="0">
                <a:solidFill>
                  <a:srgbClr val="F7F6F2"/>
                </a:solidFill>
                <a:latin typeface="Inter"/>
              </a:rPr>
              <a:t> Les trois traces remontent du gold à la source avec identifiants de ligne et de lot.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" y="5852160"/>
            <a:ext cx="1090879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0" i="1">
                <a:solidFill>
                  <a:srgbClr val="8E99A4"/>
                </a:solidFill>
                <a:latin typeface="Inter"/>
              </a:rPr>
              <a:t>Remplacez [ ] par [x] une fois le critère démontré.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943600" y="2579827"/>
            <a:ext cx="560527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DIFFICULTÉS RENCONTRÉES ET TEMPS PERDU</a:t>
            </a:r>
          </a:p>
        </p:txBody>
      </p:sp>
      <p:sp>
        <p:nvSpPr>
          <p:cNvPr id="39" name="Zone à rédiger"/>
          <p:cNvSpPr/>
          <p:nvPr/>
        </p:nvSpPr>
        <p:spPr>
          <a:xfrm>
            <a:off x="5943600" y="2872435"/>
            <a:ext cx="5605272" cy="1170432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[Rédigez ici]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943600" y="4180027"/>
            <a:ext cx="560527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POINT DE REPRISE UTILISÉ (OUI / NON, LEQUEL)</a:t>
            </a:r>
          </a:p>
        </p:txBody>
      </p:sp>
      <p:sp>
        <p:nvSpPr>
          <p:cNvPr id="41" name="Zone à rédiger"/>
          <p:cNvSpPr/>
          <p:nvPr/>
        </p:nvSpPr>
        <p:spPr>
          <a:xfrm>
            <a:off x="5943600" y="4472635"/>
            <a:ext cx="5605272" cy="621792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[Rédigez ici]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943600" y="5231587"/>
            <a:ext cx="560527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CE QUE NOUS FERIONS AUTREMENT</a:t>
            </a:r>
          </a:p>
        </p:txBody>
      </p:sp>
      <p:sp>
        <p:nvSpPr>
          <p:cNvPr id="43" name="Zone à rédiger"/>
          <p:cNvSpPr/>
          <p:nvPr/>
        </p:nvSpPr>
        <p:spPr>
          <a:xfrm>
            <a:off x="5943600" y="5524195"/>
            <a:ext cx="5605272" cy="602284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[Rédigez ici]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r>
              <a:t>05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3"/>
          </p:nvPr>
        </p:nvSpPr>
        <p:spPr/>
        <p:txBody>
          <a:bodyPr/>
          <a:lstStyle/>
          <a:p>
            <a:r>
              <a:t>Certifier, publier, gouverner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33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4892040"/>
            <a:ext cx="640080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600" b="0" i="0">
                <a:solidFill>
                  <a:srgbClr val="B8C0C8"/>
                </a:solidFill>
                <a:latin typeface="Inter"/>
              </a:rPr>
              <a:t>Séance 5 · Porte C · US-29 à 35. Historique sur trois couches, certificat, publication refusée puis acceptée, catalogue.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Historique des mesures et courbes d'évolution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34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S5 · US-29, 30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PREUVE ET CERTIFICAT · 20 %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323136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323136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8202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1" i="0">
                <a:solidFill>
                  <a:srgbClr val="F5A623"/>
                </a:solidFill>
                <a:latin typeface="Inter"/>
              </a:rPr>
              <a:t>Une mesure par couche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où la règle s'applique, pour chaque règle ; les couches non applicables sont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justifiées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Toute règle qui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descend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d'une couche à l'autre est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expliquée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(filtre, conversion, effet de la quarantaine).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Une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courbe par dimension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(image insérée ci-dessous).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640080" y="2786176"/>
          <a:ext cx="10908791" cy="1975104"/>
        </p:xfrm>
        <a:graphic>
          <a:graphicData uri="http://schemas.openxmlformats.org/drawingml/2006/table">
            <a:tbl>
              <a:tblPr/>
              <a:tblGrid>
                <a:gridCol w="1005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050791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Règle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Dimension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Bronze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Silver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Gold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Évolution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Explication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640080" y="4898440"/>
            <a:ext cx="1090879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COURBES (INSÉREZ L'IMAGE, CHEMIN DU FICHIER DANS LE DÉPÔT)</a:t>
            </a:r>
          </a:p>
        </p:txBody>
      </p:sp>
      <p:sp>
        <p:nvSpPr>
          <p:cNvPr id="35" name="Zone à rédiger"/>
          <p:cNvSpPr/>
          <p:nvPr/>
        </p:nvSpPr>
        <p:spPr>
          <a:xfrm>
            <a:off x="640080" y="5191048"/>
            <a:ext cx="10908792" cy="935431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[Insérez ici les courbes par dimension et par couche]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Certificat de qualité : GO ou NO_GO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35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S5 · US-31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PREUVE ET CERTIFICAT · 20 %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323136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323136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8202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 certificat est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produit par requête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et lié à une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empreinte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du gold.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L'</a:t>
            </a:r>
            <a:r>
              <a:rPr sz="1300" b="1" i="0">
                <a:solidFill>
                  <a:srgbClr val="F5A623"/>
                </a:solidFill>
                <a:latin typeface="Inter"/>
              </a:rPr>
              <a:t>épreuve du NO_GO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: lot volontairement dégradé, décision obtenue, preuve.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Les règles bloquantes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non mesurées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par votre pipeline, donc non couvertes.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640080" y="2786176"/>
          <a:ext cx="6949440" cy="2340864"/>
        </p:xfrm>
        <a:graphic>
          <a:graphicData uri="http://schemas.openxmlformats.org/drawingml/2006/table">
            <a:tbl>
              <a:tblPr/>
              <a:tblGrid>
                <a:gridCol w="4023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26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Élément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Valeur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Numéro du certificat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Lot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Décision (GO ou NO_GO)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Règles bloquantes testées / conformes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Écarts connus (avertissements)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Empreinte du gold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Signataire (rôle)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7863840" y="2786176"/>
            <a:ext cx="368503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ÉPREUVE DU NO_GO</a:t>
            </a:r>
          </a:p>
        </p:txBody>
      </p:sp>
      <p:sp>
        <p:nvSpPr>
          <p:cNvPr id="35" name="Zone à rédiger"/>
          <p:cNvSpPr/>
          <p:nvPr/>
        </p:nvSpPr>
        <p:spPr>
          <a:xfrm>
            <a:off x="7863840" y="3078784"/>
            <a:ext cx="3685032" cy="2084832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[Comment dégradé, décision, preuve]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0080" y="5218480"/>
            <a:ext cx="1090879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RÈGLES NON COUVERTES PAR LE CERTIFICAT</a:t>
            </a:r>
          </a:p>
        </p:txBody>
      </p:sp>
      <p:sp>
        <p:nvSpPr>
          <p:cNvPr id="37" name="Zone à rédiger"/>
          <p:cNvSpPr/>
          <p:nvPr/>
        </p:nvSpPr>
        <p:spPr>
          <a:xfrm>
            <a:off x="640080" y="5511088"/>
            <a:ext cx="10908792" cy="615391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[Rédigez ici]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Publication vers le CRM : refus, chargement, réconciliation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36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S5 · US-32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PREUVE ET CERTIFICAT · 20 %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323136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323136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8202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Les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quatre scénarios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avec le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message obtenu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: sans certificat, NO_GO, gold modifié, GO.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La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réconciliation RQ-025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après chargement : comptage et somme de contrôle, gold contre CRM cible.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 chargement est-il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tout-ou-rien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? Comment l'avez-vous vérifié ?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640080" y="2786176"/>
          <a:ext cx="10908792" cy="1737360"/>
        </p:xfrm>
        <a:graphic>
          <a:graphicData uri="http://schemas.openxmlformats.org/drawingml/2006/table">
            <a:tbl>
              <a:tblPr/>
              <a:tblGrid>
                <a:gridCol w="31089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233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2199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Scénario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Message obtenu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Chargement ?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Preuve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Sans certificat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Certificat NO_GO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Gold modifié après émission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Certificat GO, gold intact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640080" y="4633264"/>
          <a:ext cx="10908792" cy="1316736"/>
        </p:xfrm>
        <a:graphic>
          <a:graphicData uri="http://schemas.openxmlformats.org/drawingml/2006/table">
            <a:tbl>
              <a:tblPr/>
              <a:tblGrid>
                <a:gridCol w="1737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49047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Table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Lignes gold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Lignes CRM cible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Somme gold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Somme CRM cible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Écart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client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contrat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sinistre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5" name="TextBox 34"/>
          <p:cNvSpPr txBox="1"/>
          <p:nvPr/>
        </p:nvSpPr>
        <p:spPr>
          <a:xfrm>
            <a:off x="640080" y="6023152"/>
            <a:ext cx="1090879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0" i="1">
                <a:solidFill>
                  <a:srgbClr val="8E99A4"/>
                </a:solidFill>
                <a:latin typeface="Inter"/>
              </a:rPr>
              <a:t>Tout-ou-rien : décrivez en une ligne comment vous l'avez vérifié, et le chemin du script de publication.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Gouvernance : catalogue, propriétaires, lineage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37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S5 · US-34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PREUVE ET CERTIFICAT · 20 %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071067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071067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5681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La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fiche de catalogue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de gold.client_unique : propriétaire, steward, définition, règles rattachées.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lineage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de gold.client_unique jusqu'aux sources.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640080" y="2534107"/>
          <a:ext cx="10908792" cy="1920240"/>
        </p:xfrm>
        <a:graphic>
          <a:graphicData uri="http://schemas.openxmlformats.org/drawingml/2006/table">
            <a:tbl>
              <a:tblPr/>
              <a:tblGrid>
                <a:gridCol w="4206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0255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Élément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Valeur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Propriétaire (Data Owner)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Steward (Data Steward)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Définition de « client actif » rattachée à la fiche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Règles RQ rattachées à la table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640080" y="4637227"/>
            <a:ext cx="1090879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LINEAGE DE GOLD.CLIENT_UNIQUE (LISTE OU SCHÉMA)</a:t>
            </a:r>
          </a:p>
        </p:txBody>
      </p:sp>
      <p:sp>
        <p:nvSpPr>
          <p:cNvPr id="35" name="Zone à rédiger"/>
          <p:cNvSpPr/>
          <p:nvPr/>
        </p:nvSpPr>
        <p:spPr>
          <a:xfrm>
            <a:off x="640080" y="4929835"/>
            <a:ext cx="10908792" cy="1196644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[Insérez un schéma ou une liste : sources, bronze, silver, xref, gold]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Bilan de S5 : critères de fin et difficultés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38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S5 · BILAN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PREUVE ET CERTIFICAT · 20 %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071067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071067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5681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Chaque critère coché est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démontré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par une page de ce livrable ou par un fichier du dépôt.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Les difficultés sont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chiffrées en temps perdu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; un point de reprise utilisé est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déclaré</a:t>
            </a:r>
            <a:r>
              <a:rPr sz="1300" b="0" i="0">
                <a:solidFill>
                  <a:srgbClr val="F7F6F2"/>
                </a:solidFill>
                <a:latin typeface="Inter"/>
              </a:rPr>
              <a:t>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" y="2579827"/>
            <a:ext cx="5120640" cy="3546652"/>
          </a:xfrm>
          <a:prstGeom prst="rect">
            <a:avLst/>
          </a:prstGeom>
          <a:solidFill>
            <a:srgbClr val="1C2E3D"/>
          </a:solidFill>
          <a:ln w="9525">
            <a:solidFill>
              <a:srgbClr val="2A41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4" name="Icône ok" descr="Icône ok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2735275"/>
            <a:ext cx="310896" cy="310896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1289304" y="2753563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300" b="1" i="0" spc="120">
                <a:solidFill>
                  <a:srgbClr val="F7F6F2"/>
                </a:solidFill>
                <a:latin typeface="Inter"/>
              </a:rPr>
              <a:t>CRITÈRES DE FIN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68680" y="3219907"/>
            <a:ext cx="4663440" cy="28151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5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250" b="0" i="0">
                <a:solidFill>
                  <a:srgbClr val="F7F6F2"/>
                </a:solidFill>
                <a:latin typeface="Inter"/>
              </a:rPr>
              <a:t> Un lot volontairement dégradé produit un NO_GO, le lot nominal un GO.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5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250" b="0" i="0">
                <a:solidFill>
                  <a:srgbClr val="F7F6F2"/>
                </a:solidFill>
                <a:latin typeface="Inter"/>
              </a:rPr>
              <a:t> La publication refuse sans certificat, avec NO_GO, et quand le gold a changé.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5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250" b="0" i="0">
                <a:solidFill>
                  <a:srgbClr val="F7F6F2"/>
                </a:solidFill>
                <a:latin typeface="Inter"/>
              </a:rPr>
              <a:t> Après chargement, comptage et somme de contrôle sont égaux entre gold et CRM cible.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5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250" b="0" i="0">
                <a:solidFill>
                  <a:srgbClr val="F7F6F2"/>
                </a:solidFill>
                <a:latin typeface="Inter"/>
              </a:rPr>
              <a:t> Chaque décision de seuil ou de sévérité est attribuée à un rôle.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" y="5852160"/>
            <a:ext cx="1090879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0" i="1">
                <a:solidFill>
                  <a:srgbClr val="8E99A4"/>
                </a:solidFill>
                <a:latin typeface="Inter"/>
              </a:rPr>
              <a:t>Remplacez [ ] par [x] une fois le critère démontré.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943600" y="2579827"/>
            <a:ext cx="560527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DIFFICULTÉS RENCONTRÉES ET TEMPS PERDU</a:t>
            </a:r>
          </a:p>
        </p:txBody>
      </p:sp>
      <p:sp>
        <p:nvSpPr>
          <p:cNvPr id="39" name="Zone à rédiger"/>
          <p:cNvSpPr/>
          <p:nvPr/>
        </p:nvSpPr>
        <p:spPr>
          <a:xfrm>
            <a:off x="5943600" y="2872435"/>
            <a:ext cx="5605272" cy="1170432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[Rédigez ici]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943600" y="4180027"/>
            <a:ext cx="560527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POINT DE REPRISE UTILISÉ (OUI / NON, LEQUEL)</a:t>
            </a:r>
          </a:p>
        </p:txBody>
      </p:sp>
      <p:sp>
        <p:nvSpPr>
          <p:cNvPr id="41" name="Zone à rédiger"/>
          <p:cNvSpPr/>
          <p:nvPr/>
        </p:nvSpPr>
        <p:spPr>
          <a:xfrm>
            <a:off x="5943600" y="4472635"/>
            <a:ext cx="5605272" cy="621792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[Rédigez ici]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943600" y="5231587"/>
            <a:ext cx="560527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CE QUE NOUS FERIONS AUTREMENT</a:t>
            </a:r>
          </a:p>
        </p:txBody>
      </p:sp>
      <p:sp>
        <p:nvSpPr>
          <p:cNvPr id="43" name="Zone à rédiger"/>
          <p:cNvSpPr/>
          <p:nvPr/>
        </p:nvSpPr>
        <p:spPr>
          <a:xfrm>
            <a:off x="5943600" y="5524195"/>
            <a:ext cx="5605272" cy="602284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[Rédigez ici]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r>
              <a:t>06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3"/>
          </p:nvPr>
        </p:nvSpPr>
        <p:spPr/>
        <p:txBody>
          <a:bodyPr/>
          <a:lstStyle/>
          <a:p>
            <a:r>
              <a:t>Dossier go/no-go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39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4892040"/>
            <a:ext cx="640080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600" b="0" i="0">
                <a:solidFill>
                  <a:srgbClr val="B8C0C8"/>
                </a:solidFill>
                <a:latin typeface="Inter"/>
              </a:rPr>
              <a:t>Destinataire : la Directrice Générale. Un rapport court, sans jargon, quatre pages au plus hors annexes.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Recommandation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40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DOSSIER · 1 SUR 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GOUVERNANCE ET DÉCISION · 15 %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323136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323136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8202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La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recommandation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: GO, NO-GO ou GO sous conditions, dite en une phrase.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1" i="0">
                <a:solidFill>
                  <a:srgbClr val="F5A623"/>
                </a:solidFill>
                <a:latin typeface="Inter"/>
              </a:rPr>
              <a:t>Trois raisons chiffrées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, chacune avec sa preuve dans le dépôt.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Lisible par une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non-technicienne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: aucun sigle sans définition.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2831896"/>
            <a:ext cx="1090879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RECOMMANDATION</a:t>
            </a:r>
          </a:p>
        </p:txBody>
      </p:sp>
      <p:sp>
        <p:nvSpPr>
          <p:cNvPr id="34" name="Zone à rédiger"/>
          <p:cNvSpPr/>
          <p:nvPr/>
        </p:nvSpPr>
        <p:spPr>
          <a:xfrm>
            <a:off x="640080" y="3124504"/>
            <a:ext cx="10908792" cy="804671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[GO, NO-GO ou GO sous conditions : une phrase]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" y="4066336"/>
            <a:ext cx="3514344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RAISON CHIFFRÉE 1</a:t>
            </a:r>
          </a:p>
        </p:txBody>
      </p:sp>
      <p:sp>
        <p:nvSpPr>
          <p:cNvPr id="36" name="Zone à rédiger"/>
          <p:cNvSpPr/>
          <p:nvPr/>
        </p:nvSpPr>
        <p:spPr>
          <a:xfrm>
            <a:off x="640080" y="4358944"/>
            <a:ext cx="3514344" cy="1767535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[Chiffre, couche, preuve]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337304" y="4066336"/>
            <a:ext cx="3514344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RAISON CHIFFRÉE 2</a:t>
            </a:r>
          </a:p>
        </p:txBody>
      </p:sp>
      <p:sp>
        <p:nvSpPr>
          <p:cNvPr id="38" name="Zone à rédiger"/>
          <p:cNvSpPr/>
          <p:nvPr/>
        </p:nvSpPr>
        <p:spPr>
          <a:xfrm>
            <a:off x="4337304" y="4358944"/>
            <a:ext cx="3514344" cy="1767535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[Chiffre, couche, preuve]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034527" y="4066336"/>
            <a:ext cx="3514344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RAISON CHIFFRÉE 3</a:t>
            </a:r>
          </a:p>
        </p:txBody>
      </p:sp>
      <p:sp>
        <p:nvSpPr>
          <p:cNvPr id="40" name="Zone à rédiger"/>
          <p:cNvSpPr/>
          <p:nvPr/>
        </p:nvSpPr>
        <p:spPr>
          <a:xfrm>
            <a:off x="8034527" y="4358944"/>
            <a:ext cx="3514344" cy="1767535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[Chiffre, couche, preuve]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Les preuves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41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DOSSIER · 2 SUR 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GOUVERNANCE ET DÉCISION · 15 %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071067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071067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5681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La qualité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par dimension et par couche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, face au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seuil visé</a:t>
            </a:r>
            <a:r>
              <a:rPr sz="1300" b="0" i="0">
                <a:solidFill>
                  <a:srgbClr val="F7F6F2"/>
                </a:solidFill>
                <a:latin typeface="Inter"/>
              </a:rPr>
              <a:t>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certificat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joint (numéro, décision, empreinte) et les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trois données retracées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en trois lignes.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640080" y="2534107"/>
          <a:ext cx="10908791" cy="1828800"/>
        </p:xfrm>
        <a:graphic>
          <a:graphicData uri="http://schemas.openxmlformats.org/drawingml/2006/table">
            <a:tbl>
              <a:tblPr/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85623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Dimension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Bronze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Silver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Gold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Seuil visé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Atteint ?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Unicité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Complétude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Validité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Cohérence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640080" y="4500067"/>
            <a:ext cx="534924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CERTIFICAT JOINT</a:t>
            </a:r>
          </a:p>
        </p:txBody>
      </p:sp>
      <p:sp>
        <p:nvSpPr>
          <p:cNvPr id="35" name="Zone à rédiger"/>
          <p:cNvSpPr/>
          <p:nvPr/>
        </p:nvSpPr>
        <p:spPr>
          <a:xfrm>
            <a:off x="640080" y="4792675"/>
            <a:ext cx="5349240" cy="1333804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[Numéro, décision, empreinte]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199632" y="4500067"/>
            <a:ext cx="534924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TROIS DONNÉES RETRACÉES, EN TROIS LIGNES</a:t>
            </a:r>
          </a:p>
        </p:txBody>
      </p:sp>
      <p:sp>
        <p:nvSpPr>
          <p:cNvPr id="37" name="Zone à rédiger"/>
          <p:cNvSpPr/>
          <p:nvPr/>
        </p:nvSpPr>
        <p:spPr>
          <a:xfrm>
            <a:off x="6199632" y="4792675"/>
            <a:ext cx="5349240" cy="1333804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[Rédigez ici]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Les écarts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42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DOSSIER · 3 SUR 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GOUVERNANCE ET DÉCISION · 15 %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071067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071067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5681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Les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anomalies résiduelles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chiffrées, les lignes en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quarantaine par règle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, les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avertissements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restants.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Les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hypothèses à faire valider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par le métier : listées, jamais cachées.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640080" y="2534107"/>
          <a:ext cx="10908792" cy="1828800"/>
        </p:xfrm>
        <a:graphic>
          <a:graphicData uri="http://schemas.openxmlformats.org/drawingml/2006/table">
            <a:tbl>
              <a:tblPr/>
              <a:tblGrid>
                <a:gridCol w="3200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13639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9202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Écart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Chiffre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Règle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Conséquence pour le CRM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Qui doit agir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Anomalies résiduelles dans gold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Lignes en quarantaine, par règle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Avertissements restants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Règles non couvertes par le certificat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640080" y="4500067"/>
            <a:ext cx="1090879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HYPOTHÈSES À FAIRE VALIDER PAR LE MÉTIER</a:t>
            </a:r>
          </a:p>
        </p:txBody>
      </p:sp>
      <p:sp>
        <p:nvSpPr>
          <p:cNvPr id="35" name="Zone à rédiger"/>
          <p:cNvSpPr/>
          <p:nvPr/>
        </p:nvSpPr>
        <p:spPr>
          <a:xfrm>
            <a:off x="640080" y="4792675"/>
            <a:ext cx="10908792" cy="1333804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[Listez-les, une par ligne]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La décision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43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DOSSIER · 4 SUR 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GOUVERNANCE ET DÉCISION · 15 %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323136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323136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8202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Les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seuils retenus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, justifiés devant le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Data Owner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(numéros du journal des décisions).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Les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rôles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: qui décide, qui contrôle, qui exécute ; les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conditions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à lever, avec échéance et responsable.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La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signature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du Data Owner.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2831896"/>
            <a:ext cx="534924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SEUILS RETENUS ET JUSTIFICATION</a:t>
            </a:r>
          </a:p>
        </p:txBody>
      </p:sp>
      <p:sp>
        <p:nvSpPr>
          <p:cNvPr id="34" name="Zone à rédiger"/>
          <p:cNvSpPr/>
          <p:nvPr/>
        </p:nvSpPr>
        <p:spPr>
          <a:xfrm>
            <a:off x="640080" y="3124504"/>
            <a:ext cx="5349240" cy="1078992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[Renvoi au journal, numéros]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199632" y="2831896"/>
            <a:ext cx="534924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RÔLES : DÉCIDE, CONTRÔLE, EXÉCUTE</a:t>
            </a:r>
          </a:p>
        </p:txBody>
      </p:sp>
      <p:sp>
        <p:nvSpPr>
          <p:cNvPr id="36" name="Zone à rédiger"/>
          <p:cNvSpPr/>
          <p:nvPr/>
        </p:nvSpPr>
        <p:spPr>
          <a:xfrm>
            <a:off x="6199632" y="3124504"/>
            <a:ext cx="5349240" cy="1078992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[Rédigez ici]</a:t>
            </a:r>
          </a:p>
        </p:txBody>
      </p:sp>
      <p:graphicFrame>
        <p:nvGraphicFramePr>
          <p:cNvPr id="37" name="Table 36"/>
          <p:cNvGraphicFramePr>
            <a:graphicFrameLocks noGrp="1"/>
          </p:cNvGraphicFramePr>
          <p:nvPr/>
        </p:nvGraphicFramePr>
        <p:xfrm>
          <a:off x="640080" y="4340656"/>
          <a:ext cx="10908792" cy="1042416"/>
        </p:xfrm>
        <a:graphic>
          <a:graphicData uri="http://schemas.openxmlformats.org/drawingml/2006/table">
            <a:tbl>
              <a:tblPr/>
              <a:tblGrid>
                <a:gridCol w="6217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3055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Condition à lever avant migration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Responsable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Échéance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38" name="TextBox 37"/>
          <p:cNvSpPr txBox="1"/>
          <p:nvPr/>
        </p:nvSpPr>
        <p:spPr>
          <a:xfrm>
            <a:off x="640080" y="5520232"/>
            <a:ext cx="1090879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SIGNATURE DU DATA OWNER (NOM, RÔLE, DATE)</a:t>
            </a:r>
          </a:p>
        </p:txBody>
      </p:sp>
      <p:sp>
        <p:nvSpPr>
          <p:cNvPr id="39" name="Zone à rédiger"/>
          <p:cNvSpPr/>
          <p:nvPr/>
        </p:nvSpPr>
        <p:spPr>
          <a:xfrm>
            <a:off x="640080" y="5812840"/>
            <a:ext cx="10908792" cy="313639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[Nom, rôle, date]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r>
              <a:t>07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3"/>
          </p:nvPr>
        </p:nvSpPr>
        <p:spPr/>
        <p:txBody>
          <a:bodyPr/>
          <a:lstStyle/>
          <a:p>
            <a:r>
              <a:t>Annexes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44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4892040"/>
            <a:ext cx="640080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600" b="0" i="0">
                <a:solidFill>
                  <a:srgbClr val="B8C0C8"/>
                </a:solidFill>
                <a:latin typeface="Inter"/>
              </a:rPr>
              <a:t>Journal des décisions, avancement par story, liens vers le dépôt.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Journal des décisions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45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ANNEXE 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GOUVERNANCE ET DÉCISION · 15 %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285036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285036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7821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Chaque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seuil, sévérité, définition ou règle de survie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: date, séance, règle, décision,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justification chiffrée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,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rôle décideur</a:t>
            </a:r>
            <a:r>
              <a:rPr sz="1300" b="0" i="0">
                <a:solidFill>
                  <a:srgbClr val="F7F6F2"/>
                </a:solidFill>
                <a:latin typeface="Inter"/>
              </a:rPr>
              <a:t>, alternative écartée.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Une décision sans rôle ni chiffre n'est pas une décision.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640080" y="2748076"/>
          <a:ext cx="10908792" cy="2432304"/>
        </p:xfrm>
        <a:graphic>
          <a:graphicData uri="http://schemas.openxmlformats.org/drawingml/2006/table">
            <a:tbl>
              <a:tblPr/>
              <a:tblGrid>
                <a:gridCol w="457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67335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r>
                        <a:rPr sz="950" b="1" i="0" spc="60">
                          <a:solidFill>
                            <a:srgbClr val="F5A623"/>
                          </a:solidFill>
                          <a:latin typeface="Inter"/>
                        </a:rPr>
                        <a:t>N°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 i="0" spc="60">
                          <a:solidFill>
                            <a:srgbClr val="F5A623"/>
                          </a:solidFill>
                          <a:latin typeface="Inter"/>
                        </a:rPr>
                        <a:t>Date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 i="0" spc="60">
                          <a:solidFill>
                            <a:srgbClr val="F5A623"/>
                          </a:solidFill>
                          <a:latin typeface="Inter"/>
                        </a:rPr>
                        <a:t>Séance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 i="0" spc="60">
                          <a:solidFill>
                            <a:srgbClr val="F5A623"/>
                          </a:solidFill>
                          <a:latin typeface="Inter"/>
                        </a:rPr>
                        <a:t>Règle ou objet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 i="0" spc="60">
                          <a:solidFill>
                            <a:srgbClr val="F5A623"/>
                          </a:solidFill>
                          <a:latin typeface="Inter"/>
                        </a:rPr>
                        <a:t>Décision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 i="0" spc="60">
                          <a:solidFill>
                            <a:srgbClr val="F5A623"/>
                          </a:solidFill>
                          <a:latin typeface="Inter"/>
                        </a:rPr>
                        <a:t>Justification chiffrée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 i="0" spc="60">
                          <a:solidFill>
                            <a:srgbClr val="F5A623"/>
                          </a:solidFill>
                          <a:latin typeface="Inter"/>
                        </a:rPr>
                        <a:t>Rôle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 i="0" spc="60">
                          <a:solidFill>
                            <a:srgbClr val="F5A623"/>
                          </a:solidFill>
                          <a:latin typeface="Inter"/>
                        </a:rPr>
                        <a:t>Alternative écartée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050" b="1" i="0">
                          <a:solidFill>
                            <a:srgbClr val="F7F6F2"/>
                          </a:solidFill>
                          <a:latin typeface="Inter"/>
                        </a:rPr>
                        <a:t>1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050" b="1" i="0">
                          <a:solidFill>
                            <a:srgbClr val="F7F6F2"/>
                          </a:solidFill>
                          <a:latin typeface="Inter"/>
                        </a:rPr>
                        <a:t>2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050" b="1" i="0">
                          <a:solidFill>
                            <a:srgbClr val="F7F6F2"/>
                          </a:solidFill>
                          <a:latin typeface="Inter"/>
                        </a:rPr>
                        <a:t>3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050" b="1" i="0">
                          <a:solidFill>
                            <a:srgbClr val="F7F6F2"/>
                          </a:solidFill>
                          <a:latin typeface="Inter"/>
                        </a:rPr>
                        <a:t>4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050" b="1" i="0">
                          <a:solidFill>
                            <a:srgbClr val="F7F6F2"/>
                          </a:solidFill>
                          <a:latin typeface="Inter"/>
                        </a:rPr>
                        <a:t>5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050" b="1" i="0">
                          <a:solidFill>
                            <a:srgbClr val="F7F6F2"/>
                          </a:solidFill>
                          <a:latin typeface="Inter"/>
                        </a:rPr>
                        <a:t>6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640080" y="5253532"/>
            <a:ext cx="1090879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0" i="1">
                <a:solidFill>
                  <a:srgbClr val="8E99A4"/>
                </a:solidFill>
                <a:latin typeface="Inter"/>
              </a:rPr>
              <a:t>Ajoutez des lignes si nécessaire. Exemples : sévérité d'une règle, seuil d'avertissement, convention de la sentinelle, seuils de rapprochement, règle de survie, seuil de la porte G.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Avancement par story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46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ANNEXE B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GOUVERNANCE ET DÉCISION · 15 %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032967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032967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5300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Une ligne par story :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statut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(Fait, En cours, Bloqué, À faire) et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preuve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(chemin du dépôt). Pas de preuve, pas de « Fait ».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640080" y="2541727"/>
          <a:ext cx="10908792" cy="2468880"/>
        </p:xfrm>
        <a:graphic>
          <a:graphicData uri="http://schemas.openxmlformats.org/drawingml/2006/table">
            <a:tbl>
              <a:tblPr/>
              <a:tblGrid>
                <a:gridCol w="1097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86791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Séance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Stories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Faites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En cours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Bloquées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Preuves principales (chemins)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S1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7F6F2"/>
                          </a:solidFill>
                          <a:latin typeface="Inter"/>
                        </a:rPr>
                        <a:t>US-01 à 04, 06, 07, 09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S2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7F6F2"/>
                          </a:solidFill>
                          <a:latin typeface="Inter"/>
                        </a:rPr>
                        <a:t>US-10, 11, 13, 15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S3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7F6F2"/>
                          </a:solidFill>
                          <a:latin typeface="Inter"/>
                        </a:rPr>
                        <a:t>US-12, 14, 16 à 19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S4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7F6F2"/>
                          </a:solidFill>
                          <a:latin typeface="Inter"/>
                        </a:rPr>
                        <a:t>US-21 à 25, 27, 28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S5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7F6F2"/>
                          </a:solidFill>
                          <a:latin typeface="Inter"/>
                        </a:rPr>
                        <a:t>US-29 à 32, 34, 35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640080" y="5102047"/>
            <a:ext cx="1090879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0" i="1">
                <a:solidFill>
                  <a:srgbClr val="8E99A4"/>
                </a:solidFill>
                <a:latin typeface="Inter"/>
              </a:rPr>
              <a:t>Le détail story par story est dans AVANCEMENT.md à la racine du dépôt.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Dépôt Git et étiquettes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47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ANNEXE C</a:t>
            </a:r>
          </a:p>
        </p:txBody>
      </p:sp>
      <p:sp>
        <p:nvSpPr>
          <p:cNvPr id="27" name="Attendu"/>
          <p:cNvSpPr/>
          <p:nvPr/>
        </p:nvSpPr>
        <p:spPr>
          <a:xfrm>
            <a:off x="640080" y="1325880"/>
            <a:ext cx="10908792" cy="1071067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Attendu barre"/>
          <p:cNvSpPr/>
          <p:nvPr/>
        </p:nvSpPr>
        <p:spPr>
          <a:xfrm>
            <a:off x="640080" y="1325880"/>
            <a:ext cx="82296" cy="1071067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9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4400" y="1783080"/>
            <a:ext cx="10360152" cy="5681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L'</a:t>
            </a:r>
            <a:r>
              <a:rPr sz="1300" b="1" i="0">
                <a:solidFill>
                  <a:srgbClr val="F5A623"/>
                </a:solidFill>
                <a:latin typeface="Inter"/>
              </a:rPr>
              <a:t>adresse du dépôt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et les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étiquettes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posées : seance-1 à seance-5 et rendu-final.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Aucun fichier interdit dans le dépôt (data/, CSV, sauvegardes, .env).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640080" y="2579827"/>
          <a:ext cx="10908792" cy="2926080"/>
        </p:xfrm>
        <a:graphic>
          <a:graphicData uri="http://schemas.openxmlformats.org/drawingml/2006/table">
            <a:tbl>
              <a:tblPr/>
              <a:tblGrid>
                <a:gridCol w="4023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88543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Élément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Valeur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Adresse du dépôt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Étiquette seance-1 (date)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Étiquette seance-2 (date)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Étiquette seance-3 (date)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Étiquette seance-4 (date)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Étiquette seance-5 (date)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Étiquette rendu-final (date)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Liste de contrôle du rendu final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48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AVANT DE RENDRE</a:t>
            </a:r>
          </a:p>
        </p:txBody>
      </p:sp>
      <p:sp>
        <p:nvSpPr>
          <p:cNvPr id="27" name="Attendu"/>
          <p:cNvSpPr/>
          <p:nvPr/>
        </p:nvSpPr>
        <p:spPr>
          <a:xfrm>
            <a:off x="640080" y="1325880"/>
            <a:ext cx="10908792" cy="1071067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Attendu barre"/>
          <p:cNvSpPr/>
          <p:nvPr/>
        </p:nvSpPr>
        <p:spPr>
          <a:xfrm>
            <a:off x="640080" y="1325880"/>
            <a:ext cx="82296" cy="1071067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9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AVANT LE DÉPÔT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4400" y="1783080"/>
            <a:ext cx="10360152" cy="5681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Chaque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zone ambre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est complétée, ou le manque est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déclaré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dans le bilan de la séance.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Chaque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chiffre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a sa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preuve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dans le dépôt.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" y="2579827"/>
            <a:ext cx="10908792" cy="3546652"/>
          </a:xfrm>
          <a:prstGeom prst="rect">
            <a:avLst/>
          </a:prstGeom>
          <a:solidFill>
            <a:srgbClr val="1C2E3D"/>
          </a:solidFill>
          <a:ln w="9525">
            <a:solidFill>
              <a:srgbClr val="2A41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914400" y="2762707"/>
            <a:ext cx="10332720" cy="3272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40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400" b="0" i="0">
                <a:solidFill>
                  <a:srgbClr val="F7F6F2"/>
                </a:solidFill>
                <a:latin typeface="Inter"/>
              </a:rPr>
              <a:t> Couverture : numéro du groupe, noms, date.</a:t>
            </a:r>
          </a:p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40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400" b="0" i="0">
                <a:solidFill>
                  <a:srgbClr val="F7F6F2"/>
                </a:solidFill>
                <a:latin typeface="Inter"/>
              </a:rPr>
              <a:t> Équipe : rôles par séance et contribution de chaque membre.</a:t>
            </a:r>
          </a:p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40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400" b="0" i="0">
                <a:solidFill>
                  <a:srgbClr val="F7F6F2"/>
                </a:solidFill>
                <a:latin typeface="Inter"/>
              </a:rPr>
              <a:t> Chaque page de séance : chiffres mesurés, preuve citée, conséquence attribuée à un rôle.</a:t>
            </a:r>
          </a:p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40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400" b="0" i="0">
                <a:solidFill>
                  <a:srgbClr val="F7F6F2"/>
                </a:solidFill>
                <a:latin typeface="Inter"/>
              </a:rPr>
              <a:t> Les cinq bilans de séance : critères cochés avec preuve, difficultés chiffrées en temps.</a:t>
            </a:r>
          </a:p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40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400" b="0" i="0">
                <a:solidFill>
                  <a:srgbClr val="F7F6F2"/>
                </a:solidFill>
                <a:latin typeface="Inter"/>
              </a:rPr>
              <a:t> Journal des décisions identique à celui du dépôt.</a:t>
            </a:r>
          </a:p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40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400" b="0" i="0">
                <a:solidFill>
                  <a:srgbClr val="F7F6F2"/>
                </a:solidFill>
                <a:latin typeface="Inter"/>
              </a:rPr>
              <a:t> Dossier go/no-go : recommandation, preuves, écarts, décision signée.</a:t>
            </a:r>
          </a:p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40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400" b="0" i="0">
                <a:solidFill>
                  <a:srgbClr val="F7F6F2"/>
                </a:solidFill>
                <a:latin typeface="Inter"/>
              </a:rPr>
              <a:t> Étiquette rendu-final posée et poussée ; export PDF du livrable joint au dépôt.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Decimal Insights - Sombre">
  <a:themeElements>
    <a:clrScheme name="Decimal Insights - Sombre">
      <a:dk1>
        <a:srgbClr val="F7F6F2"/>
      </a:dk1>
      <a:lt1>
        <a:srgbClr val="0D1B2A"/>
      </a:lt1>
      <a:dk2>
        <a:srgbClr val="B8C0C8"/>
      </a:dk2>
      <a:lt2>
        <a:srgbClr val="1C2E3D"/>
      </a:lt2>
      <a:accent1>
        <a:srgbClr val="F5A623"/>
      </a:accent1>
      <a:accent2>
        <a:srgbClr val="F5A623"/>
      </a:accent2>
      <a:accent3>
        <a:srgbClr val="8E99A4"/>
      </a:accent3>
      <a:accent4>
        <a:srgbClr val="5E6E7C"/>
      </a:accent4>
      <a:accent5>
        <a:srgbClr val="B8C0C8"/>
      </a:accent5>
      <a:accent6>
        <a:srgbClr val="F7F6F2"/>
      </a:accent6>
      <a:hlink>
        <a:srgbClr val="F5A623"/>
      </a:hlink>
      <a:folHlink>
        <a:srgbClr val="8E99A4"/>
      </a:folHlink>
    </a:clrScheme>
    <a:fontScheme name="Decimal Insights - Sombre">
      <a:majorFont>
        <a:latin typeface="Fraunces SemiBol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1505</TotalTime>
  <Words>7921</Words>
  <Application>Microsoft Office PowerPoint</Application>
  <PresentationFormat>Grand écran</PresentationFormat>
  <Paragraphs>1488</Paragraphs>
  <Slides>48</Slides>
  <Notes>48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48</vt:i4>
      </vt:variant>
    </vt:vector>
  </HeadingPairs>
  <TitlesOfParts>
    <vt:vector size="53" baseType="lpstr">
      <vt:lpstr>Arial</vt:lpstr>
      <vt:lpstr>Consolas</vt:lpstr>
      <vt:lpstr>Fraunces SemiBold</vt:lpstr>
      <vt:lpstr>Inter</vt:lpstr>
      <vt:lpstr>Decimal Insights - Sombre</vt:lpstr>
      <vt:lpstr>Livrable de groupe</vt:lpstr>
      <vt:lpstr>Comment remplir ce modèle</vt:lpstr>
      <vt:lpstr>Où se trouve quoi, et ce que pèse chaque critère</vt:lpstr>
      <vt:lpstr>Membres, rôles par séance et contribution</vt:lpstr>
      <vt:lpstr>Notre compréhension du mandat</vt:lpstr>
      <vt:lpstr>Stack, profilage, bronze</vt:lpstr>
      <vt:lpstr>Inventaire des sources</vt:lpstr>
      <vt:lpstr>Bronze et porte B : la copie est-elle fidèle ?</vt:lpstr>
      <vt:lpstr>Épreuves de la porte B et méthode d'ingestion</vt:lpstr>
      <vt:lpstr>Profil de crm.client et motifs</vt:lpstr>
      <vt:lpstr>Dictionnaire du CIF : dix colonnes anonymes</vt:lpstr>
      <vt:lpstr>Trois directions, trois définitions du « client actif »</vt:lpstr>
      <vt:lpstr>Bilan de S1 : critères de fin et difficultés</vt:lpstr>
      <vt:lpstr>Règles en tests automatisés</vt:lpstr>
      <vt:lpstr>Règles en tests : une expectation par règle</vt:lpstr>
      <vt:lpstr>Pièges rencontrés et lignes en échec</vt:lpstr>
      <vt:lpstr>Âge à la bonne date et mesure de référence sur bronze</vt:lpstr>
      <vt:lpstr>Âge à la bonne date et mesure de référence sur bronze</vt:lpstr>
      <vt:lpstr>Bilan de S2 : critères de fin et difficultés</vt:lpstr>
      <vt:lpstr>Intégrité et portes en SodaCL</vt:lpstr>
      <vt:lpstr>Checks Soda : une source de données par couche</vt:lpstr>
      <vt:lpstr>Bilan d'intégrité et valeur sentinelle</vt:lpstr>
      <vt:lpstr>Statuts, garantie et définition unique du client actif</vt:lpstr>
      <vt:lpstr>Bilan de S3 : critères de fin et difficultés</vt:lpstr>
      <vt:lpstr>Construire silver puis gold</vt:lpstr>
      <vt:lpstr>Silver : traitements et quarantaine</vt:lpstr>
      <vt:lpstr>Rejets par règle et porte S : bronze contre silver</vt:lpstr>
      <vt:lpstr>Dédoublonnage : paramètres et mesures</vt:lpstr>
      <vt:lpstr>Golden record de la Société Meunier et règle de survie</vt:lpstr>
      <vt:lpstr>Gold : tables cohérentes et client actif unique</vt:lpstr>
      <vt:lpstr>Retracer trois données de gold jusqu'à la source</vt:lpstr>
      <vt:lpstr>Bilan de S4 : critères de fin et difficultés</vt:lpstr>
      <vt:lpstr>Certifier, publier, gouverner</vt:lpstr>
      <vt:lpstr>Historique des mesures et courbes d'évolution</vt:lpstr>
      <vt:lpstr>Certificat de qualité : GO ou NO_GO</vt:lpstr>
      <vt:lpstr>Publication vers le CRM : refus, chargement, réconciliation</vt:lpstr>
      <vt:lpstr>Gouvernance : catalogue, propriétaires, lineage</vt:lpstr>
      <vt:lpstr>Bilan de S5 : critères de fin et difficultés</vt:lpstr>
      <vt:lpstr>Dossier go/no-go</vt:lpstr>
      <vt:lpstr>Recommandation</vt:lpstr>
      <vt:lpstr>Les preuves</vt:lpstr>
      <vt:lpstr>Les écarts</vt:lpstr>
      <vt:lpstr>La décision</vt:lpstr>
      <vt:lpstr>Annexes</vt:lpstr>
      <vt:lpstr>Journal des décisions</vt:lpstr>
      <vt:lpstr>Avancement par story</vt:lpstr>
      <vt:lpstr>Dépôt Git et étiquettes</vt:lpstr>
      <vt:lpstr>Liste de contrôle du rendu final</vt:lpstr>
    </vt:vector>
  </TitlesOfParts>
  <Company>Decimal Insights Consulting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Livrable de groupe : TD AssurConnect</dc:title>
  <dc:subject>Gouvernance, profilage et qualité des données</dc:subject>
  <dc:creator>Decimal Insights Consulting</dc:creator>
  <cp:lastModifiedBy>Sami Ramzi Rezig</cp:lastModifiedBy>
  <cp:revision>10</cp:revision>
  <dcterms:created xsi:type="dcterms:W3CDTF">2026-10-12T11:18:29Z</dcterms:created>
  <dcterms:modified xsi:type="dcterms:W3CDTF">2026-10-22T11:57:39Z</dcterms:modified>
</cp:coreProperties>
</file>