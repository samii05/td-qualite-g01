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311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380" dt="2026-10-22T15:56:35.9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48" y="-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22T15:56:35.962" v="1867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10:51.824" v="720" actId="20577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10:51.824" v="720" actId="20577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7:54:59.622" v="534" actId="1076"/>
          <ac:graphicFrameMkLst>
            <pc:docMk/>
            <pc:sldMk cId="0" sldId="270"/>
            <ac:graphicFrameMk id="33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7:54:35.895" v="533" actId="1076"/>
          <ac:picMkLst>
            <pc:docMk/>
            <pc:sldMk cId="0" sldId="270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15T19:13:08.192" v="626" actId="20577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5T19:13:08.192" v="626" actId="20577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09:35:54.172" v="436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9:13:14.768" v="627" actId="20577"/>
        <pc:sldMkLst>
          <pc:docMk/>
          <pc:sldMk cId="0" sldId="272"/>
        </pc:sldMkLst>
        <pc:spChg chg="mod">
          <ac:chgData name="Sami Ramzi Rezig" userId="572d1711-ff67-49fd-9a5d-76c488e55421" providerId="ADAL" clId="{F0B34570-08E3-456C-A539-DC5BE340AC6A}" dt="2026-10-15T10:04:31.124" v="514" actId="1076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0:06:39.986" v="525" actId="113"/>
          <ac:spMkLst>
            <pc:docMk/>
            <pc:sldMk cId="0" sldId="272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3:14.768" v="627" actId="20577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09:48.073" v="719" actId="20577"/>
        <pc:sldMkLst>
          <pc:docMk/>
          <pc:sldMk cId="0" sldId="273"/>
        </pc:sldMkLst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09:48.073" v="719" actId="20577"/>
          <ac:spMkLst>
            <pc:docMk/>
            <pc:sldMk cId="0" sldId="273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2:16.190" v="619"/>
          <ac:graphicFrameMkLst>
            <pc:docMk/>
            <pc:sldMk cId="0" sldId="273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16T09:09:23.471" v="708" actId="1076"/>
          <ac:graphicFrameMkLst>
            <pc:docMk/>
            <pc:sldMk cId="0" sldId="273"/>
            <ac:graphicFrameMk id="34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9:10:26.569" v="587" actId="1076"/>
          <ac:picMkLst>
            <pc:docMk/>
            <pc:sldMk cId="0" sldId="273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21T12:31:51.397" v="1269" actId="20577"/>
        <pc:sldMkLst>
          <pc:docMk/>
          <pc:sldMk cId="0" sldId="274"/>
        </pc:sldMkLst>
        <pc:graphicFrameChg chg="mod modGraphic">
          <ac:chgData name="Sami Ramzi Rezig" userId="572d1711-ff67-49fd-9a5d-76c488e55421" providerId="ADAL" clId="{F0B34570-08E3-456C-A539-DC5BE340AC6A}" dt="2026-10-21T12:31:51.397" v="1269" actId="20577"/>
          <ac:graphicFrameMkLst>
            <pc:docMk/>
            <pc:sldMk cId="0" sldId="274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08:08:51.197" v="1266"/>
        <pc:sldMkLst>
          <pc:docMk/>
          <pc:sldMk cId="0" sldId="275"/>
        </pc:sldMkLst>
        <pc:spChg chg="mod">
          <ac:chgData name="Sami Ramzi Rezig" userId="572d1711-ff67-49fd-9a5d-76c488e55421" providerId="ADAL" clId="{F0B34570-08E3-456C-A539-DC5BE340AC6A}" dt="2026-10-21T08:08:51.197" v="1266"/>
          <ac:spMkLst>
            <pc:docMk/>
            <pc:sldMk cId="0" sldId="275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08:04:58.430" v="1251"/>
          <ac:graphicFrameMkLst>
            <pc:docMk/>
            <pc:sldMk cId="0" sldId="275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2T11:57:31.933" v="1693" actId="20577"/>
        <pc:sldMkLst>
          <pc:docMk/>
          <pc:sldMk cId="0" sldId="278"/>
        </pc:sldMkLst>
        <pc:graphicFrameChg chg="mod modGraphic">
          <ac:chgData name="Sami Ramzi Rezig" userId="572d1711-ff67-49fd-9a5d-76c488e55421" providerId="ADAL" clId="{F0B34570-08E3-456C-A539-DC5BE340AC6A}" dt="2026-10-22T11:57:31.933" v="1693" actId="20577"/>
          <ac:graphicFrameMkLst>
            <pc:docMk/>
            <pc:sldMk cId="0" sldId="278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18:24:38.223" v="1671" actId="1076"/>
        <pc:sldMkLst>
          <pc:docMk/>
          <pc:sldMk cId="0" sldId="279"/>
        </pc:sldMkLst>
        <pc:spChg chg="mod">
          <ac:chgData name="Sami Ramzi Rezig" userId="572d1711-ff67-49fd-9a5d-76c488e55421" providerId="ADAL" clId="{F0B34570-08E3-456C-A539-DC5BE340AC6A}" dt="2026-10-21T18:24:38.223" v="1671" actId="1076"/>
          <ac:spMkLst>
            <pc:docMk/>
            <pc:sldMk cId="0" sldId="279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18:02:58.708" v="1488" actId="108"/>
          <ac:graphicFrameMkLst>
            <pc:docMk/>
            <pc:sldMk cId="0" sldId="279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21T18:22:06.121" v="1670"/>
          <ac:graphicFrameMkLst>
            <pc:docMk/>
            <pc:sldMk cId="0" sldId="279"/>
            <ac:graphicFrameMk id="34" creationId="{00000000-0000-0000-0000-000000000000}"/>
          </ac:graphicFrameMkLst>
        </pc:graphicFrameChg>
      </pc:sldChg>
      <pc:sldChg chg="addSp delSp modSp mod">
        <pc:chgData name="Sami Ramzi Rezig" userId="572d1711-ff67-49fd-9a5d-76c488e55421" providerId="ADAL" clId="{F0B34570-08E3-456C-A539-DC5BE340AC6A}" dt="2026-10-22T15:53:27.490" v="1865" actId="2165"/>
        <pc:sldMkLst>
          <pc:docMk/>
          <pc:sldMk cId="0" sldId="280"/>
        </pc:sldMkLst>
        <pc:graphicFrameChg chg="mod modGraphic">
          <ac:chgData name="Sami Ramzi Rezig" userId="572d1711-ff67-49fd-9a5d-76c488e55421" providerId="ADAL" clId="{F0B34570-08E3-456C-A539-DC5BE340AC6A}" dt="2026-10-22T15:06:27.187" v="1702"/>
          <ac:graphicFrameMkLst>
            <pc:docMk/>
            <pc:sldMk cId="0" sldId="280"/>
            <ac:graphicFrameMk id="33" creationId="{00000000-0000-0000-0000-000000000000}"/>
          </ac:graphicFrameMkLst>
        </pc:graphicFrameChg>
        <pc:graphicFrameChg chg="add del mod modGraphic">
          <ac:chgData name="Sami Ramzi Rezig" userId="572d1711-ff67-49fd-9a5d-76c488e55421" providerId="ADAL" clId="{F0B34570-08E3-456C-A539-DC5BE340AC6A}" dt="2026-10-22T15:53:27.490" v="1865" actId="2165"/>
          <ac:graphicFrameMkLst>
            <pc:docMk/>
            <pc:sldMk cId="0" sldId="280"/>
            <ac:graphicFrameMk id="34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2T15:56:35.962" v="1867"/>
        <pc:sldMkLst>
          <pc:docMk/>
          <pc:sldMk cId="341390768" sldId="311"/>
        </pc:sldMkLst>
        <pc:spChg chg="mod">
          <ac:chgData name="Sami Ramzi Rezig" userId="572d1711-ff67-49fd-9a5d-76c488e55421" providerId="ADAL" clId="{F0B34570-08E3-456C-A539-DC5BE340AC6A}" dt="2026-10-22T15:56:35.962" v="1867"/>
          <ac:spMkLst>
            <pc:docMk/>
            <pc:sldMk cId="341390768" sldId="311"/>
            <ac:spMk id="36" creationId="{D1C5D678-E5FB-0BA1-4C7F-1807C009E3E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21855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28673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21818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76592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228310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8116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3346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51157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7372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44401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22494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2226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012339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220142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084268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92128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604390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91DB3-8BC3-76FB-264E-2642CAF0F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F7CA4-26A5-FE49-56D0-063FE334B8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C66D0A-A5A3-00C1-405D-342F7FDC2B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CAD60-7F77-67E9-872D-326311D97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177328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85445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90898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403749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095837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75143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759057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841050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682677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697203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43274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456284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28957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5642807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134397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958981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717247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302784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447681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698220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03021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21502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7613517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63857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2054347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1324419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4375665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7492450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518678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1052473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37682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18872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18872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29844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340485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645920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262253"/>
              </p:ext>
            </p:extLst>
          </p:nvPr>
        </p:nvGraphicFramePr>
        <p:xfrm>
          <a:off x="640080" y="2309190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Clé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primaire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81228" y="603533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200" dirty="0">
                <a:solidFill>
                  <a:srgbClr val="B8C0C8"/>
                </a:solidFill>
              </a:rPr>
              <a:t>Preuve (chemin du notebook, du fichier ou de la requête dans le dépôt) : notebooks/S1_01.ipynb, US-01 cellule 7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66001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US-02 cellule 5 + US-03 cellule 3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013622"/>
              </p:ext>
            </p:extLst>
          </p:nvPr>
        </p:nvGraphicFramePr>
        <p:xfrm>
          <a:off x="640080" y="2579827"/>
          <a:ext cx="10908792" cy="24688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Écart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introduit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volontairement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sur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copie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: la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porte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échoue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-t-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elle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OUI, la porte échoue pour chaque type de modification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Un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problème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de conversion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rencontré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(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décimales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, NULL, accents) et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sa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9 912 montants sur 100 000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prime_annuelle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) perdent leur zéro final (184.10 → 184.1). Corrigé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coerce_float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=False : écart de somme = 0.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US-03 cellule 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09442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350460"/>
            <a:ext cx="10908792" cy="91270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Lecture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les 7 tables sources sont lues avec le compte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reader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qui n’a que le droit de lecture, et copiées dans bronze sans aucune correction.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Conversion et métadonnées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tout est gardé en texte (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coerce_float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=False pour ne pas perdre les décimales), et chaque ligne reçoit son lot, sa source, son horodatage et son empreinte.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Relance du lot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on supprime d’abord les lignes du lot, puis on les réinsère, donc relancer ne crée aucun doublon.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045159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045159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154886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196924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502359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46236"/>
              </p:ext>
            </p:extLst>
          </p:nvPr>
        </p:nvGraphicFramePr>
        <p:xfrm>
          <a:off x="640080" y="2224582"/>
          <a:ext cx="10908792" cy="231343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Indicateur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(nulls, vides,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distincts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Valeur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mesurée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client_id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distincts, 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 distincts / 100 000, 0 nul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Clé unique, fiable pour les jointures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nom /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4 277 / 95 723, jamais les deux vides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Manques normaux (entreprises / particuliers)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telephone</a:t>
                      </a:r>
                      <a:endParaRPr lang="fr-FR" sz="115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 + vides + blancs</a:t>
                      </a: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5 999 + 2 000 + 2 000 = 9 999 (10 %)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4 000 manques cachés, pas comptés comme NULL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19 365 (19,4 %)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client sur 5 sans 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type_personne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 valeurs au lieu de 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Libellés à normaliser avant silver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84863"/>
              </p:ext>
            </p:extLst>
          </p:nvPr>
        </p:nvGraphicFramePr>
        <p:xfrm>
          <a:off x="640080" y="4561002"/>
          <a:ext cx="10908792" cy="15422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Motif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testé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Exemple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non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conforme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 dirty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[0-9]{5} (adresses FR)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93 981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7110 (Ardèche, au lieu de 07110) : anomalie A01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(?:0|\+33 ?|0033 ?)[1-9](?:[ .-]?[0-9]{2}){4} ou + international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89 115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0362O07301 (lettre O au lieu du zéro)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Code présent dans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silver.ref_pays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96 950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3050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Frnace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1120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cellules US-06 + US-07 ; reports/ydata_profiling_client.html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879362"/>
              </p:ext>
            </p:extLst>
          </p:nvPr>
        </p:nvGraphicFramePr>
        <p:xfrm>
          <a:off x="642823" y="2395423"/>
          <a:ext cx="10908792" cy="383212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91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id_cif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40 000 distincts / 40 000, 0 nul ; motif K + 6 chiffres à 100 % ; retrouvé à 100 % dans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cif_compte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→ clé primaire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nom_ou_raison_sociale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nul, 731 distincts, 3 à 31 car., 100 % majuscules ; contient des SARL/SA → nom ou entreprise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column2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prenom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645 nuls, sur les mêmes lignes que column3 (entreprises) ; 180 distincts, 3 à 10 car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column3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date_naissance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DATE (JJ/MM/AAAA)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motif 99/99/9999 ; 39 355 dates valides (1938 à 2026) ; 645 nuls = entreprises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column4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adresse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9 811 distincts, 11 à 31 car. ; numéro + type de voie (35 avenue des Platanes)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column5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code_postal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99,1 % au motif 99999 ; 188 </a:t>
                      </a:r>
                      <a:r>
                        <a:rPr lang="fr-FR" sz="1100" b="0" i="0">
                          <a:solidFill>
                            <a:srgbClr val="F5A623"/>
                          </a:solidFill>
                          <a:latin typeface="+mn-lt"/>
                        </a:rPr>
                        <a:t>distincts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column6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ville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172 distincts, 3 à 24 car., en majuscules (LARGENTIERE, ANTIBES)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CHAR(2)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2, motif AA à 100 %, 9 valeurs ; FR = 98,5 % → code ISO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telephone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VARCHAR(25)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0 + 9 chiffres sur 100 % des valeurs renseignées ; 6 324 nuls</a:t>
                      </a:r>
                    </a:p>
                    <a:p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758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column9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100 % des 21 128 valeurs renseignées contiennent @ ; 18 872 nuls (47 %)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774884"/>
              </p:ext>
            </p:extLst>
          </p:nvPr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au moins un contrat en cours, ou terminé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50508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12 459 (32,7 %)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un contrat en cours au 01/10/2026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44116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6 067 (15,9 %)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contrat en cours ET cotisation payée depuis le 01/07/2026 (= CD-001)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38049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(définition de référence)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i="1" dirty="0">
                <a:solidFill>
                  <a:srgbClr val="8E99A4"/>
                </a:solidFill>
                <a:latin typeface="Inter"/>
              </a:rPr>
              <a:t>Selon la direction, le nombre de clients actifs varie de 38 049 à 50 508, soit jusqu’à 33 % d’écart pour le même indicateur. Chaque direction utilise sa propre définition, donc leurs chiffres ne peuvent pas être comparés. Il faut adopter une seule définition, celle de la fiche CD-001 validée par la Data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Owner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et corriger les contrats sans date de cotisation, qui faussent le calcul.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78709"/>
              </p:ext>
            </p:extLst>
          </p:nvPr>
        </p:nvGraphicFramePr>
        <p:xfrm>
          <a:off x="640080" y="2793796"/>
          <a:ext cx="10908792" cy="347472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9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En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échec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column_pair_values_A_to_be_greater_than_B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date_fin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&gt;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date_debut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800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99,200 %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column_values_to_be_between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age_debut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≥ 18)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92996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301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99,676 %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match_regex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\S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souscripteurs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49 898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5989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87,998 %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Avertissement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cif_client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column_values_to_match_regex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^\d{5}$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adresses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FR)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95437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39401</a:t>
                      </a:r>
                      <a:endParaRPr lang="en-US"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1456</a:t>
                      </a:r>
                    </a:p>
                    <a:p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98,474 %</a:t>
                      </a:r>
                    </a:p>
                    <a:p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100,00%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Avertissement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(prospect,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souscripteur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assure)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99,800 %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(12, 24, 36, 60)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600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99,400 %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cif_client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crm_sinister</a:t>
                      </a:r>
                      <a:endParaRPr lang="en-US"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to_be_unique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clé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100000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100,000 %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313970"/>
              </p:ext>
            </p:extLst>
          </p:nvPr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nul, vide et blanc : tester seulement NULL</a:t>
                      </a:r>
                    </a:p>
                  </a:txBody>
                  <a:tcPr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5989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US-010 cellule 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RQ-005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adresses étrangères (CRM) : filtre pays = FR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2317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1456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US-10 cellule 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RQ-009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comparaison exacte (casse) vs insensible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120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200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US-10 cellule 9</a:t>
                      </a: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0402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598244"/>
              </p:ext>
            </p:extLst>
          </p:nvPr>
        </p:nvGraphicFramePr>
        <p:xfrm>
          <a:off x="640080" y="4185239"/>
          <a:ext cx="10908792" cy="1848612"/>
        </p:xfrm>
        <a:graphic>
          <a:graphicData uri="http://schemas.openxmlformats.org/drawingml/2006/table">
            <a:tbl>
              <a:tblPr/>
              <a:tblGrid>
                <a:gridCol w="1045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83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Famille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d'erreur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RQ-001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Durée nulle (fin = début) et dates inversées (fin avant début)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4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Dates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saisies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à la main, 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sans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contrôle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de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cohérance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Équipe contrats : corriger les dates ; Data Steward : ajouter un contrôle à la saisie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RQ-002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Souscripteur de 16 ou 17 ans au début du contrat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Contrats jeunes conducteurs souscrits par un mineur, ou date de naissance erronée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Data </a:t>
                      </a:r>
                      <a:r>
                        <a:rPr lang="fr-FR" sz="1150" b="0" i="0" kern="1200" dirty="0" err="1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Owner</a:t>
                      </a: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 : décider si un mineur peut souscrire (avec garant ?)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Téléphone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NULL,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chaine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vide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ou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espaces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seuls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Champ téléphone facultatif dans le CRM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Équipe CRM : rendre le téléphone obligatoire pour un souscripteur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89233"/>
            <a:ext cx="10908792" cy="1744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100" b="0" i="1" dirty="0">
                <a:solidFill>
                  <a:srgbClr val="8E99A4"/>
                </a:solidFill>
                <a:latin typeface="Inter"/>
              </a:rPr>
              <a:t>export complet reports/</a:t>
            </a:r>
            <a:r>
              <a:rPr lang="fr-FR" sz="1100" b="0" i="1" dirty="0" err="1">
                <a:solidFill>
                  <a:srgbClr val="8E99A4"/>
                </a:solidFill>
                <a:latin typeface="Inter"/>
              </a:rPr>
              <a:t>ge</a:t>
            </a:r>
            <a:r>
              <a:rPr lang="fr-FR" sz="1100" b="0" i="1" dirty="0">
                <a:solidFill>
                  <a:srgbClr val="8E99A4"/>
                </a:solidFill>
                <a:latin typeface="Inter"/>
              </a:rPr>
              <a:t>/us11_lignes_en_echec.csv ; échantillon commenté reports/</a:t>
            </a:r>
            <a:r>
              <a:rPr lang="fr-FR" sz="1100" b="0" i="1" dirty="0" err="1">
                <a:solidFill>
                  <a:srgbClr val="8E99A4"/>
                </a:solidFill>
                <a:latin typeface="Inter"/>
              </a:rPr>
              <a:t>ge</a:t>
            </a:r>
            <a:r>
              <a:rPr lang="fr-FR" sz="1100" b="0" i="1" dirty="0">
                <a:solidFill>
                  <a:srgbClr val="8E99A4"/>
                </a:solidFill>
                <a:latin typeface="Inter"/>
              </a:rPr>
              <a:t>/us11_echantillon_20_lignes_commentees.csv</a:t>
            </a:r>
            <a:endParaRPr sz="1100" b="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350827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5805" y="6518748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640080" y="103939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843991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843991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53718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962863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301191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documentée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avec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sa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date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référence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, et un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cas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où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« à la date du jour »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donne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un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autre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résultat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mesure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référence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écrite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dans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dq.dq_history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(couche BRONZE), avec la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synthèse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phrase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synthèse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chiffrée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: «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voici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la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qualité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qui nous est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livré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7159041"/>
              </p:ext>
            </p:extLst>
          </p:nvPr>
        </p:nvGraphicFramePr>
        <p:xfrm>
          <a:off x="640080" y="2340251"/>
          <a:ext cx="10908792" cy="1030224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Date de </a:t>
                      </a:r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référence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Définition</a:t>
                      </a:r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de </a:t>
                      </a:r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l'âge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Âge révolu du souscripteur le jour de la signature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301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US-13 cellule 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Âge calculé à la date de référence de l'audit (2026-10-01) au lieu de la date d'effet du contrat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157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US-13 cellule 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3040541"/>
              </p:ext>
            </p:extLst>
          </p:nvPr>
        </p:nvGraphicFramePr>
        <p:xfrm>
          <a:off x="640080" y="3487526"/>
          <a:ext cx="10908792" cy="2478024"/>
        </p:xfrm>
        <a:graphic>
          <a:graphicData uri="http://schemas.openxmlformats.org/drawingml/2006/table">
            <a:tbl>
              <a:tblPr/>
              <a:tblGrid>
                <a:gridCol w="1151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3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23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  <a:endParaRPr sz="11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RQ-020 (4 tables : CRM &amp; CIF)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100,00 %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aucune (0 échec)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Les clés primaires sont uniques et jamais nulles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 (+ RQ-021 réconciliation à 100 %)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88,00 % (100 % sur RQ-021)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 (87,998 %) — 5 989 échecs / 49 898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12 % des souscripteurs CRM n’ont pas de téléphone exploitable (NULL, vide ou blanc)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RQ-005(format), RQ-009(domaine), RQ-010(domaine), RQ-002(métier)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format 99,24 %, domaine 99,60 %, métier 99,68 %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RQ-005 (98,474 %) : 1 456 CP FR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 CP FR à 4 chiffres (zéro perdu), 600 durées hors catalogue, 200 types de personne invalides, 301 souscripteurs mineurs au début du contrat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  <a:endParaRPr sz="11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99,20 %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RQ-001 (99,200 %) : 800 contrats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800 contrats ont une date de fin égale ou antérieure à la date de début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fr-FR" sz="1100" b="1" i="0" dirty="0">
                          <a:solidFill>
                            <a:srgbClr val="F7F6F2"/>
                          </a:solidFill>
                          <a:latin typeface="+mn-lt"/>
                        </a:rPr>
                        <a:t>Intégrité référentielle</a:t>
                      </a:r>
                      <a:endParaRPr sz="11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98,48 %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RQ-007 sur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crm_client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(96,950 %)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3 050 pays du CRM hors référentiel ISO ; CIF 100 % conforme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732217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78CB-25EC-72BE-F35C-23A9F0660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A0975-F1F7-F42E-2475-3768986977C1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640080" y="350827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BDFBCBF-14D3-FF74-5DD5-AF622F356D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355805" y="6518748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39D31F-CC8C-885A-5C37-FC2F7436E511}"/>
              </a:ext>
            </a:extLst>
          </p:cNvPr>
          <p:cNvSpPr txBox="1"/>
          <p:nvPr/>
        </p:nvSpPr>
        <p:spPr>
          <a:xfrm>
            <a:off x="640080" y="103939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49CE49-403A-6534-4F7A-4C9254AF5D90}"/>
              </a:ext>
            </a:extLst>
          </p:cNvPr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985784-5C1E-0EB2-2B90-1FD8C80CDF92}"/>
              </a:ext>
            </a:extLst>
          </p:cNvPr>
          <p:cNvSpPr txBox="1"/>
          <p:nvPr/>
        </p:nvSpPr>
        <p:spPr>
          <a:xfrm>
            <a:off x="640080" y="108234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>
            <a:extLst>
              <a:ext uri="{FF2B5EF4-FFF2-40B4-BE49-F238E27FC236}">
                <a16:creationId xmlns:a16="http://schemas.microsoft.com/office/drawing/2014/main" id="{D1C5D678-E5FB-0BA1-4C7F-1807C009E3E6}"/>
              </a:ext>
            </a:extLst>
          </p:cNvPr>
          <p:cNvSpPr/>
          <p:nvPr/>
        </p:nvSpPr>
        <p:spPr>
          <a:xfrm>
            <a:off x="640080" y="1521558"/>
            <a:ext cx="10908792" cy="1323136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r>
              <a:rPr lang="fr-FR" sz="1200" i="1" dirty="0">
                <a:solidFill>
                  <a:srgbClr val="8E99A4"/>
                </a:solidFill>
              </a:rPr>
              <a:t>Sur le lot L-2026-10-01, ingéré sans perte en bronze (RQ-020, RQ-021 et RQ-022 à 100 %), la donnée brute n’est pas </a:t>
            </a:r>
            <a:r>
              <a:rPr lang="fr-FR" sz="1200" i="1" dirty="0" err="1">
                <a:solidFill>
                  <a:srgbClr val="8E99A4"/>
                </a:solidFill>
              </a:rPr>
              <a:t>migrable</a:t>
            </a:r>
            <a:r>
              <a:rPr lang="fr-FR" sz="1200" i="1" dirty="0">
                <a:solidFill>
                  <a:srgbClr val="8E99A4"/>
                </a:solidFill>
              </a:rPr>
              <a:t> en l’état : 5 règles bloquantes sont sous leur seuil, avec 3 050 pays hors référentiel (RQ-007), 800 contrats aux dates incohérentes (RQ-001), 600 durées hors catalogue (RQ-010), 301 souscripteurs mineurs à la signature (RQ-002) et 200 statuts hors domaine (RQ-009). S’y ajoutent 5 989 souscripteurs sans téléphone exploitable (RQ-003, 88,0 %) et 1 456 codes postaux français tronqués (RQ-005). L’âge étant calculé à la date de début du contrat, et non à la date du jour (qui n’en trouverait que 157), le passage par la standardisation et la quarantaine en silver est indispensable.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41390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1558</TotalTime>
  <Words>7853</Words>
  <Application>Microsoft Office PowerPoint</Application>
  <PresentationFormat>Grand écran</PresentationFormat>
  <Paragraphs>1493</Paragraphs>
  <Slides>48</Slides>
  <Notes>48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48</vt:i4>
      </vt:variant>
    </vt:vector>
  </HeadingPairs>
  <TitlesOfParts>
    <vt:vector size="53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Sami Ramzi Rezig</cp:lastModifiedBy>
  <cp:revision>10</cp:revision>
  <dcterms:created xsi:type="dcterms:W3CDTF">2026-10-12T11:18:29Z</dcterms:created>
  <dcterms:modified xsi:type="dcterms:W3CDTF">2026-10-22T15:56:42Z</dcterms:modified>
</cp:coreProperties>
</file>