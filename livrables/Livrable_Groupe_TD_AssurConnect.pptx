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235" dt="2026-10-21T08:08:51.1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51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21T12:31:51.397" v="1269" actId="20577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1T12:31:51.397" v="1269" actId="20577"/>
        <pc:sldMkLst>
          <pc:docMk/>
          <pc:sldMk cId="0" sldId="274"/>
        </pc:sldMkLst>
        <pc:graphicFrameChg chg="mod modGraphic">
          <ac:chgData name="Sami Ramzi Rezig" userId="572d1711-ff67-49fd-9a5d-76c488e55421" providerId="ADAL" clId="{F0B34570-08E3-456C-A539-DC5BE340AC6A}" dt="2026-10-21T12:31:51.397" v="1269" actId="20577"/>
          <ac:graphicFrameMkLst>
            <pc:docMk/>
            <pc:sldMk cId="0" sldId="274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08:08:51.197" v="1266"/>
        <pc:sldMkLst>
          <pc:docMk/>
          <pc:sldMk cId="0" sldId="275"/>
        </pc:sldMkLst>
        <pc:spChg chg="mod">
          <ac:chgData name="Sami Ramzi Rezig" userId="572d1711-ff67-49fd-9a5d-76c488e55421" providerId="ADAL" clId="{F0B34570-08E3-456C-A539-DC5BE340AC6A}" dt="2026-10-21T08:08:51.197" v="1266"/>
          <ac:spMkLst>
            <pc:docMk/>
            <pc:sldMk cId="0" sldId="275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08:04:58.430" v="1251"/>
          <ac:graphicFrameMkLst>
            <pc:docMk/>
            <pc:sldMk cId="0" sldId="275"/>
            <ac:graphicFrameMk id="3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1855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28673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1818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76592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22831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8116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3346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1157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737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44401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2249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2226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012339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20142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084268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92128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604390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85445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90898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403749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095837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5143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759057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841050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82677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97203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3274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456284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28957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564280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34397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95898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717247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302784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447681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698220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03021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21502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761351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63857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2054347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1324419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37566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492450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518678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1052473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7682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879362"/>
              </p:ext>
            </p:extLst>
          </p:nvPr>
        </p:nvGraphicFramePr>
        <p:xfrm>
          <a:off x="642823" y="2395423"/>
          <a:ext cx="10908792" cy="383212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29691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id_cif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40 000 distincts / 40 000, 0 nul ; motif K + 6 chiffres à 100 % ; retrouvé à 100 % dans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cif_compte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→ clé primaire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nom_ou_raison_sociale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nul, 731 distincts, 3 à 31 car., 100 % majuscules ; contient des SARL/SA → nom ou entreprise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column2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prenom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645 nuls, sur les mêmes lignes que column3 (entreprises) ; 180 distincts, 3 à 10 car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column3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date_naissance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DATE (JJ/MM/AAAA)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motif 99/99/9999 ; 39 355 dates valides (1938 à 2026) ; 645 nuls = entreprises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column4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adresse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9 811 distincts, 11 à 31 car. ; numéro + type de voie (35 avenue des Platanes)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column5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code_postal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99,1 % au motif 99999 ; 188 </a:t>
                      </a:r>
                      <a:r>
                        <a:rPr lang="fr-FR" sz="1100" b="0" i="0">
                          <a:solidFill>
                            <a:srgbClr val="F5A623"/>
                          </a:solidFill>
                          <a:latin typeface="+mn-lt"/>
                        </a:rPr>
                        <a:t>distincts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column6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ville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172 distincts, 3 à 24 car., en majuscules (LARGENTIERE, ANTIBES)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CHAR(2)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2, motif AA à 100 %, 9 valeurs ; FR = 98,5 % → code ISO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VARCHAR(25)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0 + 9 chiffres sur 100 % des valeurs renseignées ; 6 324 nuls</a:t>
                      </a:r>
                    </a:p>
                    <a:p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343758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column9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100 % des 21 128 valeurs renseignées contiennent @ ; 18 872 nuls (47 %)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74884"/>
              </p:ext>
            </p:extLst>
          </p:nvPr>
        </p:nvGraphicFramePr>
        <p:xfrm>
          <a:off x="640080" y="2579827"/>
          <a:ext cx="10908792" cy="160934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au moins un contrat en cours, ou terminé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50508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12 459 (32,7 %)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un contrat en cours au 01/10/2026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44116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6 067 (15,9 %)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 en cours ET cotisation payée depuis le 01/07/2026 (= CD-001)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38049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(définition de référence)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Selon la direction, le nombre de clients actifs varie de 38 049 à 50 508, soit jusqu’à 33 % d’écart pour le même indicateur. Chaque direction utilise sa propre définition, donc leurs chiffres ne peuvent pas être comparés. Il faut adopter une seule définition, celle de la fiche CD-001 validée par la Data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Owner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et corriger les contrats sans date de cotisation, qui faussent le calcul.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136318"/>
              </p:ext>
            </p:extLst>
          </p:nvPr>
        </p:nvGraphicFramePr>
        <p:xfrm>
          <a:off x="640080" y="2793796"/>
          <a:ext cx="10908792" cy="39928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109472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En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échec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crm_contrat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column_pair_values_A_to_be_greater_than_B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date_fin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&gt; </a:t>
                      </a:r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date_debut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100 000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800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99,200 %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Bloquante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crm_contrat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column_values_to_be_between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age_debut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≥ 18)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100 000</a:t>
                      </a:r>
                      <a:endParaRPr lang="en-US" sz="1200" b="0" i="0" dirty="0" smtClean="0">
                        <a:solidFill>
                          <a:srgbClr val="F5A623"/>
                        </a:solidFill>
                        <a:latin typeface="+mn-lt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301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99,699 %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Bloquante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crm_client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match_regex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\S (</a:t>
                      </a:r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souscripteurs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49 898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5989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87,998 %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Avertissement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crm_client</a:t>
                      </a:r>
                      <a:r>
                        <a:rPr lang="en-US" sz="1200" dirty="0" smtClean="0"/>
                        <a:t>, </a:t>
                      </a:r>
                      <a:r>
                        <a:rPr lang="en-US" sz="1200" dirty="0" err="1" smtClean="0"/>
                        <a:t>cif_client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column_values_to_match_regex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^\d{5}$ (</a:t>
                      </a:r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adresses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FR)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95 437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1456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98,474 %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Avertissement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smtClean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crm_client</a:t>
                      </a:r>
                      <a:r>
                        <a:rPr lang="en-US" sz="120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,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(prospect, </a:t>
                      </a:r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souscripteur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assure)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100 000</a:t>
                      </a:r>
                      <a:endParaRPr lang="en-US" sz="120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200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99,800 %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Bloquante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crm_contrat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(12, 24, 36, 60)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100 000</a:t>
                      </a:r>
                      <a:endParaRPr lang="en-US" sz="120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600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99,400 %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Bloquante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cif_client</a:t>
                      </a:r>
                      <a:r>
                        <a:rPr lang="en-US" sz="1200" dirty="0" err="1" smtClean="0"/>
                        <a:t>,crm_client</a:t>
                      </a:r>
                      <a:r>
                        <a:rPr lang="en-US" sz="1200" dirty="0" smtClean="0"/>
                        <a:t>, </a:t>
                      </a:r>
                      <a:r>
                        <a:rPr lang="en-US" sz="1200" dirty="0" err="1" smtClean="0"/>
                        <a:t>crm_contrat</a:t>
                      </a:r>
                      <a:r>
                        <a:rPr lang="en-US" sz="1200" dirty="0" smtClean="0"/>
                        <a:t>, </a:t>
                      </a:r>
                      <a:r>
                        <a:rPr lang="en-US" sz="1200" dirty="0" err="1" smtClean="0"/>
                        <a:t>crm_sinistre</a:t>
                      </a:r>
                      <a:endParaRPr lang="en-US" sz="1200" b="0" i="0" dirty="0" smtClean="0">
                        <a:solidFill>
                          <a:srgbClr val="F5A623"/>
                        </a:solidFill>
                        <a:latin typeface="+mn-lt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to_be_unique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1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clé</a:t>
                      </a:r>
                      <a:r>
                        <a:rPr lang="en-US" sz="11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340 000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100,000 %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Bloquante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5956339"/>
              </p:ext>
            </p:extLst>
          </p:nvPr>
        </p:nvGraphicFramePr>
        <p:xfrm>
          <a:off x="640080" y="2748076"/>
          <a:ext cx="10908792" cy="1261872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RQ-001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 smtClean="0"/>
                        <a:t>Date de fin antérieure ou égale à la date de début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800 </a:t>
                      </a:r>
                      <a:r>
                        <a:rPr lang="en-US" sz="1200" dirty="0" err="1" smtClean="0"/>
                        <a:t>échecs</a:t>
                      </a:r>
                      <a:r>
                        <a:rPr lang="en-US" sz="1200" dirty="0" smtClean="0"/>
                        <a:t> </a:t>
                      </a:r>
                      <a:r>
                        <a:rPr lang="en-US" sz="1200" dirty="0" err="1" smtClean="0"/>
                        <a:t>détectés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 smtClean="0"/>
                        <a:t>À mesurer après correction des données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Export US-11 : RQ-001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 smtClean="0"/>
                        <a:t>Téléphone nul, vide ou composé d’espaces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5 989 </a:t>
                      </a:r>
                      <a:r>
                        <a:rPr lang="en-US" sz="1200" dirty="0" err="1" smtClean="0"/>
                        <a:t>échecs</a:t>
                      </a:r>
                      <a:r>
                        <a:rPr lang="en-US" sz="1200" dirty="0" smtClean="0"/>
                        <a:t> </a:t>
                      </a:r>
                      <a:r>
                        <a:rPr lang="en-US" sz="1200" dirty="0" err="1" smtClean="0"/>
                        <a:t>détectés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 smtClean="0"/>
                        <a:t>À mesurer après correction des données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Export US-11 : 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478358"/>
              </p:ext>
            </p:extLst>
          </p:nvPr>
        </p:nvGraphicFramePr>
        <p:xfrm>
          <a:off x="640080" y="4073348"/>
          <a:ext cx="10908792" cy="1719072"/>
        </p:xfrm>
        <a:graphic>
          <a:graphicData uri="http://schemas.openxmlformats.org/drawingml/2006/table">
            <a:tbl>
              <a:tblPr/>
              <a:tblGrid>
                <a:gridCol w="1045029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978331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RQ-001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Cohérence</a:t>
                      </a:r>
                      <a:r>
                        <a:rPr lang="en-US" sz="1200" dirty="0" smtClean="0"/>
                        <a:t> des dates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Dates du </a:t>
                      </a:r>
                      <a:r>
                        <a:rPr lang="en-US" sz="1200" dirty="0" err="1" smtClean="0"/>
                        <a:t>contrat</a:t>
                      </a:r>
                      <a:r>
                        <a:rPr lang="en-US" sz="1200" dirty="0" smtClean="0"/>
                        <a:t> </a:t>
                      </a:r>
                      <a:r>
                        <a:rPr lang="en-US" sz="1200" dirty="0" err="1" smtClean="0"/>
                        <a:t>incohérentes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 smtClean="0"/>
                        <a:t>Vérifier les dates avec l’équipe contrats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RQ-002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Âge</a:t>
                      </a:r>
                      <a:r>
                        <a:rPr lang="en-US" sz="1200" dirty="0" smtClean="0"/>
                        <a:t> du </a:t>
                      </a:r>
                      <a:r>
                        <a:rPr lang="en-US" sz="1200" dirty="0" err="1" smtClean="0"/>
                        <a:t>souscripteur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 smtClean="0"/>
                        <a:t>Souscripteur mineur au début du contrat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 smtClean="0"/>
                        <a:t>Vérifier la date de naissance et la date de début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Complétude</a:t>
                      </a:r>
                      <a:r>
                        <a:rPr lang="en-US" sz="1200" dirty="0" smtClean="0"/>
                        <a:t> du </a:t>
                      </a:r>
                      <a:r>
                        <a:rPr lang="en-US" sz="1200" dirty="0" err="1" smtClean="0"/>
                        <a:t>téléphone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dirty="0" smtClean="0">
                          <a:solidFill>
                            <a:srgbClr val="F5A623"/>
                          </a:solidFill>
                          <a:latin typeface="Inter"/>
                        </a:rPr>
                        <a:t>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err="1" smtClean="0"/>
                        <a:t>Téléphone</a:t>
                      </a:r>
                      <a:r>
                        <a:rPr lang="en-US" sz="1200" dirty="0" smtClean="0"/>
                        <a:t> absent </a:t>
                      </a:r>
                      <a:r>
                        <a:rPr lang="en-US" sz="1200" dirty="0" err="1" smtClean="0"/>
                        <a:t>ou</a:t>
                      </a:r>
                      <a:r>
                        <a:rPr lang="en-US" sz="1200" dirty="0" smtClean="0"/>
                        <a:t> vide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dirty="0" smtClean="0"/>
                        <a:t>Demander une vérification à l’équipe CRM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 dirty="0">
                <a:solidFill>
                  <a:srgbClr val="8E99A4"/>
                </a:solidFill>
                <a:latin typeface="Inter"/>
              </a:rPr>
              <a:t>Chemins : export </a:t>
            </a:r>
            <a:r>
              <a:rPr sz="1100" b="0" i="1" dirty="0" err="1">
                <a:solidFill>
                  <a:srgbClr val="8E99A4"/>
                </a:solidFill>
                <a:latin typeface="Inter"/>
              </a:rPr>
              <a:t>complet</a:t>
            </a:r>
            <a:r>
              <a:rPr sz="1100" b="0" i="1" dirty="0">
                <a:solidFill>
                  <a:srgbClr val="8E99A4"/>
                </a:solidFill>
                <a:latin typeface="Inter"/>
              </a:rPr>
              <a:t> des </a:t>
            </a:r>
            <a:r>
              <a:rPr sz="1100" b="0" i="1" dirty="0" err="1">
                <a:solidFill>
                  <a:srgbClr val="8E99A4"/>
                </a:solidFill>
                <a:latin typeface="Inter"/>
              </a:rPr>
              <a:t>lignes</a:t>
            </a:r>
            <a:r>
              <a:rPr sz="1100" b="0" i="1" dirty="0">
                <a:solidFill>
                  <a:srgbClr val="8E99A4"/>
                </a:solidFill>
                <a:latin typeface="Inter"/>
              </a:rPr>
              <a:t> </a:t>
            </a:r>
            <a:r>
              <a:rPr sz="1100" b="0" i="1" dirty="0" err="1">
                <a:solidFill>
                  <a:srgbClr val="8E99A4"/>
                </a:solidFill>
                <a:latin typeface="Inter"/>
              </a:rPr>
              <a:t>en</a:t>
            </a:r>
            <a:r>
              <a:rPr sz="1100" b="0" i="1" dirty="0">
                <a:solidFill>
                  <a:srgbClr val="8E99A4"/>
                </a:solidFill>
                <a:latin typeface="Inter"/>
              </a:rPr>
              <a:t> </a:t>
            </a:r>
            <a:r>
              <a:rPr sz="1100" b="0" i="1" dirty="0" err="1">
                <a:solidFill>
                  <a:srgbClr val="8E99A4"/>
                </a:solidFill>
                <a:latin typeface="Inter"/>
              </a:rPr>
              <a:t>échec</a:t>
            </a:r>
            <a:r>
              <a:rPr sz="1100" b="0" i="1" dirty="0">
                <a:solidFill>
                  <a:srgbClr val="8E99A4"/>
                </a:solidFill>
                <a:latin typeface="Inter"/>
              </a:rPr>
              <a:t> ; </a:t>
            </a:r>
            <a:r>
              <a:rPr sz="1100" b="0" i="1" dirty="0" err="1">
                <a:solidFill>
                  <a:srgbClr val="8E99A4"/>
                </a:solidFill>
                <a:latin typeface="Inter"/>
              </a:rPr>
              <a:t>échantillon</a:t>
            </a:r>
            <a:r>
              <a:rPr sz="1100" b="0" i="1" dirty="0">
                <a:solidFill>
                  <a:srgbClr val="8E99A4"/>
                </a:solidFill>
                <a:latin typeface="Inter"/>
              </a:rPr>
              <a:t> </a:t>
            </a:r>
            <a:r>
              <a:rPr sz="1100" b="0" i="1" dirty="0" err="1">
                <a:solidFill>
                  <a:srgbClr val="8E99A4"/>
                </a:solidFill>
                <a:latin typeface="Inter"/>
              </a:rPr>
              <a:t>commenté</a:t>
            </a:r>
            <a:r>
              <a:rPr sz="1100" b="0" i="1" dirty="0">
                <a:solidFill>
                  <a:srgbClr val="8E99A4"/>
                </a:solidFill>
                <a:latin typeface="Inter"/>
              </a:rPr>
              <a:t> de 20 </a:t>
            </a:r>
            <a:r>
              <a:rPr sz="1100" b="0" i="1" dirty="0" err="1">
                <a:solidFill>
                  <a:srgbClr val="8E99A4"/>
                </a:solidFill>
                <a:latin typeface="Inter"/>
              </a:rPr>
              <a:t>lignes</a:t>
            </a:r>
            <a:r>
              <a:rPr sz="1100" b="0" i="1" dirty="0">
                <a:solidFill>
                  <a:srgbClr val="8E99A4"/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=""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1451</TotalTime>
  <Words>7028</Words>
  <Application>Microsoft Office PowerPoint</Application>
  <PresentationFormat>Widescreen</PresentationFormat>
  <Paragraphs>1474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Aptos</vt:lpstr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hp</cp:lastModifiedBy>
  <cp:revision>9</cp:revision>
  <dcterms:created xsi:type="dcterms:W3CDTF">2026-10-12T11:18:29Z</dcterms:created>
  <dcterms:modified xsi:type="dcterms:W3CDTF">2026-10-21T16:18:06Z</dcterms:modified>
</cp:coreProperties>
</file>